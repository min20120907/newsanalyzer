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開場先定義 NewsAnalyzer 的定位：它不是把更大的語言模型當成真理裁判，而是把可追溯的事實查核證據、metadata 訊號與本機語言模型組成一個可稽核的 credibility triage。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這一頁不要把 LLM 描繪成沒有價值，而是說明 standalone LLM 作為唯一裁判時的四個結構性盲區。新聞場景需要的是 evidence-aware system。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這是整個簡報最重要的一頁。NewsAnalyzer 的 novelty 不是把 LLM 接到瀏覽器，而是把 LLM 降級成受約束的輔助元件，讓證據檢索與安全錨定成為主決策骨架。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用架構圖解釋資料流。前端只處理貼文擷取與 UI，gateway 才是多訊號融合核心。三個分支最後產生可解釋的 score、rating 與 source links。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這頁先解釋 corpus composition，因為 88.4% MISLEADING 會直接影響 accuracy 解讀。特別強調 cluster-level split：把相似謠言整簇放在同一 fold，避免近重複造成的樂觀偏差。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這頁要主動避免誤導觀眾：95.3% selective accuracy 不是全部資料的 accuracy，因此旁邊一定要放 coverage。cluster-level 90.8% @ 36.1% coverage 是更保守的數字。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這頁說明公式背後的設計意圖：evidence hit 時 LLM 權重降低，no evidence 時才提高；當有已知反證時，final score 受 evidence-specific upper bound 約束。這避免純生成式模型的語氣主導。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defense slide 的關鍵數字。必須說清楚 baseline 使用同一個 Qwen3.8-27B，避免把差異歸因給模型大小。再指出 credible-class recall 的差異：零樣本基線在像真的內容上容易放行。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這頁要誠實解讀 ablation：evidence-only 略高於 full system，不代表 metadata 沒用，而是在已索引、類別高度偏斜的 probe 上，metadata 的邊際訊號有限；真正明顯的是移除 safety clamp 後 accuracy 掉 2.8 個百分點。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這頁要主動分開兩個 latency：1.48 ms 是向量檢索 microbenchmark，7.13 秒是完整 client round trip。隱私也不能說 zero egress，因為查核與搜尋會收到 title 和最多 300 字元前綴。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這頁是展示 fallback：沒有高相似 Cofacts 證據時，系統不是假裝確定，而是用 metadata 與 local LLM 做保守 warning。要說清楚這是 single case，不把 15.9 當成整體 accuracy。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不要迴避限制。這一頁反而讓研究定位更可信：分類不平衡、否定與實體替換、跨區域轉移、使用者信任都還需要下一階段研究。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結尾重申三個 takeaway：evidence first、conservative by design、local but honest。不要再新增數字，讓 Q&amp;A 聚焦研究定位與部署邊界。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686800" y="502920"/>
            <a:ext cx="1005840" cy="64008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692640" y="685800"/>
            <a:ext cx="1097280" cy="4572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789920" y="685800"/>
            <a:ext cx="685800" cy="9144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9052560" y="1143000"/>
            <a:ext cx="640080" cy="11430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52560" y="2286000"/>
            <a:ext cx="1325880" cy="2743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78440" y="2560320"/>
            <a:ext cx="1005840" cy="5486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549640" y="2286000"/>
            <a:ext cx="502920" cy="155448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3840480"/>
            <a:ext cx="1325880" cy="3200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4160520"/>
            <a:ext cx="1188720" cy="5486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840480"/>
            <a:ext cx="502920" cy="18745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5715000"/>
            <a:ext cx="1325880" cy="2743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4160520"/>
            <a:ext cx="502920" cy="18288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875520" y="2560320"/>
            <a:ext cx="502920" cy="16002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636508" y="45262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42348" y="1092708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9628" y="6355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25428" y="15499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2268" y="22357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28148" y="2510027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33988" y="305866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99348" y="379018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5228" y="4110228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13948" y="465886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02268" y="56647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28148" y="593902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" y="566928"/>
            <a:ext cx="2331720" cy="256032"/>
          </a:xfrm>
          <a:prstGeom prst="roundRect">
            <a:avLst/>
          </a:prstGeom>
          <a:solidFill>
            <a:srgbClr val="12304A"/>
          </a:solidFill>
          <a:ln w="10160">
            <a:solidFill>
              <a:srgbClr val="1C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71500"/>
            <a:ext cx="233172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UBI-MEDIA 2027 · PROJECT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1133856"/>
            <a:ext cx="6995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Noto Sans CJK TC"/>
              </a:rPr>
              <a:t>NewsAnalyzer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084831"/>
            <a:ext cx="6583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8F0F8"/>
                </a:solidFill>
                <a:latin typeface="Noto Sans CJK TC"/>
              </a:rPr>
              <a:t>把社群媒體假新聞判斷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8F0F8"/>
                </a:solidFill>
                <a:latin typeface="Noto Sans CJK TC"/>
              </a:rPr>
              <a:t>變成可追溯的證據分流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3063240"/>
            <a:ext cx="6172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C7D9"/>
                </a:solidFill>
                <a:latin typeface="Noto Sans CJK TC"/>
              </a:rPr>
              <a:t>Evidence retrieval · multi-signal metadata · local auxiliary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886200"/>
            <a:ext cx="594360" cy="54864"/>
          </a:xfrm>
          <a:prstGeom prst="rect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06908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Tsangyu Lin · Hui Lin · Sheng-Chih Chen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416552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1C5"/>
                </a:solidFill>
                <a:latin typeface="Noto Sans CJK TC"/>
              </a:rPr>
              <a:t>Tamkang University · National Chengchi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92531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研究重點：先證據、再融合、最後安全錨定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AB8CA"/>
                </a:solidFill>
                <a:latin typeface="Noto Sans CJK TC"/>
              </a:rPr>
              <a:t>01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1143000"/>
            <a:ext cx="3520440" cy="4526280"/>
          </a:xfrm>
          <a:prstGeom prst="roundRect">
            <a:avLst/>
          </a:prstGeom>
          <a:solidFill>
            <a:srgbClr val="10253A"/>
          </a:solidFill>
          <a:ln w="10160">
            <a:solidFill>
              <a:srgbClr val="214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148132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THE DECISION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1874519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Noto Sans CJK TC"/>
              </a:rPr>
              <a:t>證據優先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Noto Sans CJK TC"/>
              </a:rPr>
              <a:t>LLM 輔助</a:t>
            </a:r>
          </a:p>
        </p:txBody>
      </p:sp>
      <p:sp>
        <p:nvSpPr>
          <p:cNvPr id="40" name="Oval 39"/>
          <p:cNvSpPr/>
          <p:nvPr/>
        </p:nvSpPr>
        <p:spPr>
          <a:xfrm>
            <a:off x="8211312" y="2834640"/>
            <a:ext cx="713232" cy="7132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285292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2,292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claims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42832" y="3191256"/>
            <a:ext cx="201168" cy="0"/>
          </a:xfrm>
          <a:prstGeom prst="line">
            <a:avLst/>
          </a:prstGeom>
          <a:ln w="16510">
            <a:solidFill>
              <a:srgbClr val="6E8B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Triangle 42"/>
          <p:cNvSpPr/>
          <p:nvPr/>
        </p:nvSpPr>
        <p:spPr>
          <a:xfrm rot="5400000">
            <a:off x="9098280" y="3136392"/>
            <a:ext cx="82296" cy="109728"/>
          </a:xfrm>
          <a:prstGeom prst="rtTriangl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62288" y="2834640"/>
            <a:ext cx="713232" cy="713232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285292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SBERT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retrieval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893808" y="3191256"/>
            <a:ext cx="201168" cy="0"/>
          </a:xfrm>
          <a:prstGeom prst="line">
            <a:avLst/>
          </a:prstGeom>
          <a:ln w="16510">
            <a:solidFill>
              <a:srgbClr val="6E8B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ight Triangle 46"/>
          <p:cNvSpPr/>
          <p:nvPr/>
        </p:nvSpPr>
        <p:spPr>
          <a:xfrm rot="5400000">
            <a:off x="10049256" y="3136392"/>
            <a:ext cx="82296" cy="109728"/>
          </a:xfrm>
          <a:prstGeom prst="rtTriangl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13264" y="2834640"/>
            <a:ext cx="713232" cy="713232"/>
          </a:xfrm>
          <a:prstGeom prst="ellipse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13264" y="285292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safe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verdict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3977639"/>
            <a:ext cx="2944368" cy="585216"/>
          </a:xfrm>
          <a:prstGeom prst="roundRect">
            <a:avLst/>
          </a:prstGeom>
          <a:solidFill>
            <a:srgbClr val="1C4056"/>
          </a:solidFill>
          <a:ln w="10160">
            <a:solidFill>
              <a:srgbClr val="1C4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3336" y="4032503"/>
            <a:ext cx="250545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FF6E2"/>
                </a:solidFill>
                <a:latin typeface="Noto Sans CJK TC"/>
              </a:rPr>
              <a:t>Evidence before eloquence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4800600"/>
            <a:ext cx="28163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不是要讓模型變成真理裁判，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而是讓每次判斷都有出處。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為什麼不能只讓 LLM 判真假？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純生成式判斷缺少四個關鍵條件：時效、語氣反制、出處與隱私邊界。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230368" cy="123444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168249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824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664208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Temporal blindness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993392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模型權重有知識截止日；新近爆發的在地謠言不一定在訓練資料中。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481328"/>
            <a:ext cx="5230368" cy="1234440"/>
          </a:xfrm>
          <a:prstGeom prst="roundRect">
            <a:avLst/>
          </a:prstGeom>
          <a:solidFill>
            <a:srgbClr val="FFF0F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1682496"/>
            <a:ext cx="402336" cy="402336"/>
          </a:xfrm>
          <a:prstGeom prst="ellipse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6824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1664208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Stylistic deception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1993392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生成式假訊息可以寫得正式、順暢、像新聞；語氣漂亮不等於內容可信。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54096"/>
            <a:ext cx="5230368" cy="1234440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255264"/>
            <a:ext cx="402336" cy="40233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2552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3236976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No auditable 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3566160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只輸出一個分數，使用者無法追溯：這個判斷依據了哪一個證據？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3054096"/>
            <a:ext cx="5230368" cy="1234440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3255264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2552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236976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Privacy +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3566160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把瀏覽內容交給雲端 API，會增加延遲，也把使用者的閱讀脈絡帶離裝置。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800600"/>
            <a:ext cx="10972800" cy="658368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855464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TC"/>
              </a:rPr>
              <a:t>核心問題不是「LLM 會不會寫字？」而是「它有沒有足夠證據在正確的時間做出保守判斷？」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15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NewsAnalyzer 的設計選擇：讓 empirical evidence 主導 verdict，讓 local LLM 負責 context 與 viewpoint extraction。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686800" y="502920"/>
            <a:ext cx="1005840" cy="64008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692640" y="685800"/>
            <a:ext cx="1097280" cy="4572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789920" y="685800"/>
            <a:ext cx="685800" cy="9144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9052560" y="1143000"/>
            <a:ext cx="640080" cy="11430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52560" y="2286000"/>
            <a:ext cx="1325880" cy="2743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78440" y="2560320"/>
            <a:ext cx="1005840" cy="5486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549640" y="2286000"/>
            <a:ext cx="502920" cy="155448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3840480"/>
            <a:ext cx="1325880" cy="3200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4160520"/>
            <a:ext cx="1188720" cy="5486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840480"/>
            <a:ext cx="502920" cy="18745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5715000"/>
            <a:ext cx="1325880" cy="2743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4160520"/>
            <a:ext cx="502920" cy="18288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875520" y="2560320"/>
            <a:ext cx="502920" cy="16002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636508" y="45262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42348" y="1092708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9628" y="6355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25428" y="15499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2268" y="22357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28148" y="2510027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33988" y="305866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99348" y="379018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5228" y="4110228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13948" y="465886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02268" y="56647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28148" y="593902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02 /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TC"/>
              </a:rPr>
              <a:t>NewsAnalyzer 的核心不是更大的模型，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TC"/>
              </a:rPr>
              <a:t>而是更可靠的決策順序。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4D6"/>
                </a:solidFill>
                <a:latin typeface="Noto Sans CJK TC"/>
              </a:rPr>
              <a:t>The system is deliberately asymmetric: empirical evidence can override a fluent generation.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31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AB8CA"/>
                </a:solidFill>
                <a:latin typeface="Noto Sans CJK TC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1572768"/>
            <a:ext cx="3246120" cy="3035808"/>
          </a:xfrm>
          <a:prstGeom prst="roundRect">
            <a:avLst/>
          </a:prstGeom>
          <a:solidFill>
            <a:srgbClr val="10253A"/>
          </a:solidFill>
          <a:ln w="10160">
            <a:solidFill>
              <a:srgbClr val="23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978407" y="1874519"/>
            <a:ext cx="2788920" cy="566928"/>
          </a:xfrm>
          <a:prstGeom prst="chevron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" y="1929384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220"/>
                </a:solidFill>
                <a:latin typeface="Noto Sans CJK TC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2670048"/>
            <a:ext cx="2724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CJK TC"/>
              </a:rPr>
              <a:t>先查證據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3246120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SBERT semantic retrieval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在 2,292 筆查核語料中尋找證據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1572768"/>
            <a:ext cx="3246120" cy="3035808"/>
          </a:xfrm>
          <a:prstGeom prst="roundRect">
            <a:avLst/>
          </a:prstGeom>
          <a:solidFill>
            <a:srgbClr val="10253A"/>
          </a:solidFill>
          <a:ln w="10160">
            <a:solidFill>
              <a:srgbClr val="23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evron 38"/>
          <p:cNvSpPr/>
          <p:nvPr/>
        </p:nvSpPr>
        <p:spPr>
          <a:xfrm>
            <a:off x="4754880" y="1874519"/>
            <a:ext cx="2788920" cy="566928"/>
          </a:xfrm>
          <a:prstGeom prst="chevron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1929384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220"/>
                </a:solidFill>
                <a:latin typeface="Noto Sans CJK TC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82312" y="2670048"/>
            <a:ext cx="2724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CJK TC"/>
              </a:rPr>
              <a:t>再融合訊號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7176" y="3246120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domain / sentiment / recency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與 evidence 共同形成分數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2752" y="1572768"/>
            <a:ext cx="3246120" cy="3035808"/>
          </a:xfrm>
          <a:prstGeom prst="roundRect">
            <a:avLst/>
          </a:prstGeom>
          <a:solidFill>
            <a:srgbClr val="10253A"/>
          </a:solidFill>
          <a:ln w="10160">
            <a:solidFill>
              <a:srgbClr val="23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8531352" y="1874519"/>
            <a:ext cx="2788920" cy="566928"/>
          </a:xfrm>
          <a:prstGeom prst="chevron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2792" y="1929384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220"/>
                </a:solidFill>
                <a:latin typeface="Noto Sans CJK TC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58784" y="2670048"/>
            <a:ext cx="2724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CJK TC"/>
              </a:rPr>
              <a:t>最後安全錨定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13648" y="3246120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已知不實證據優先，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限制生成式模型翻案</a:t>
            </a:r>
          </a:p>
        </p:txBody>
      </p:sp>
      <p:sp>
        <p:nvSpPr>
          <p:cNvPr id="48" name="Right Triangle 47"/>
          <p:cNvSpPr/>
          <p:nvPr/>
        </p:nvSpPr>
        <p:spPr>
          <a:xfrm rot="5400000">
            <a:off x="4041648" y="2852928"/>
            <a:ext cx="164592" cy="237744"/>
          </a:xfrm>
          <a:prstGeom prst="rtTriangl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Triangle 48"/>
          <p:cNvSpPr/>
          <p:nvPr/>
        </p:nvSpPr>
        <p:spPr>
          <a:xfrm rot="5400000">
            <a:off x="7818120" y="2852928"/>
            <a:ext cx="164592" cy="237744"/>
          </a:xfrm>
          <a:prstGeom prst="rtTriangl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0120" y="5138928"/>
            <a:ext cx="10241280" cy="621792"/>
          </a:xfrm>
          <a:prstGeom prst="roundRect">
            <a:avLst/>
          </a:prstGeom>
          <a:solidFill>
            <a:srgbClr val="1C4056"/>
          </a:solidFill>
          <a:ln w="10160">
            <a:solidFill>
              <a:srgbClr val="1C4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9576" y="5193792"/>
            <a:ext cx="98023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2F5E3"/>
                </a:solidFill>
                <a:latin typeface="Noto Sans CJK TC"/>
              </a:rPr>
              <a:t>LLM = auxiliary perspective extractor   ·   retrieval + provenance = primary verdict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03 /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從瀏覽器貼文到可追溯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Chrome MV3 client → local gateway → parallel evidence / metadata / local LLM → grounded verdict.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26464"/>
            <a:ext cx="10771632" cy="658368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1036929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TC"/>
              </a:rPr>
              <a:t>Client Tier · Chrome Extension (Manifest V3)   —   DOM MutationObserver · post extraction · floating rating badge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084831"/>
            <a:ext cx="0" cy="292609"/>
          </a:xfrm>
          <a:prstGeom prst="line">
            <a:avLst/>
          </a:prstGeom>
          <a:ln w="2286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Triangle 10"/>
          <p:cNvSpPr/>
          <p:nvPr/>
        </p:nvSpPr>
        <p:spPr>
          <a:xfrm rot="10800000">
            <a:off x="6035040" y="2304288"/>
            <a:ext cx="128016" cy="146304"/>
          </a:xfrm>
          <a:prstGeom prst="rtTriangl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450592"/>
            <a:ext cx="10771632" cy="841248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78608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TC"/>
              </a:rPr>
              <a:t>Gateway Tier · POST /judge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8712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parallel branches: fact-check retrieval · metadata features · local auxiliary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57600"/>
            <a:ext cx="3383280" cy="107899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3054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563EB"/>
                </a:solidFill>
                <a:latin typeface="Noto Sans CJK TC"/>
              </a:rPr>
              <a:t>01  Fact-check census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2,292 Cofacts records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SBERT MiniLM-L12 · θ = 0.72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4872" y="3291840"/>
            <a:ext cx="0" cy="292608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07408" y="3657600"/>
            <a:ext cx="3383280" cy="1078992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13048"/>
            <a:ext cx="3054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7706"/>
                </a:solidFill>
                <a:latin typeface="Noto Sans CJK TC"/>
              </a:rPr>
              <a:t>02  Multi-signal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16052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domain · sentiment · recency · crowd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bounded risk indicators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3291840"/>
            <a:ext cx="0" cy="292608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1583" y="3657600"/>
            <a:ext cx="3383280" cy="1078992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3813048"/>
            <a:ext cx="3054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3AED"/>
                </a:solidFill>
                <a:latin typeface="Noto Sans CJK TC"/>
              </a:rPr>
              <a:t>03  Local auxiliary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416052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Qwen3.8-27B · JSON / no-think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perspective + key points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93224" y="3291840"/>
            <a:ext cx="0" cy="292608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04872" y="4736592"/>
            <a:ext cx="0" cy="292608"/>
          </a:xfrm>
          <a:prstGeom prst="line">
            <a:avLst/>
          </a:prstGeom>
          <a:ln w="13970">
            <a:solidFill>
              <a:srgbClr val="738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4736592"/>
            <a:ext cx="0" cy="292608"/>
          </a:xfrm>
          <a:prstGeom prst="line">
            <a:avLst/>
          </a:prstGeom>
          <a:ln w="13970">
            <a:solidFill>
              <a:srgbClr val="738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93224" y="4736592"/>
            <a:ext cx="0" cy="292608"/>
          </a:xfrm>
          <a:prstGeom prst="line">
            <a:avLst/>
          </a:prstGeom>
          <a:ln w="13970">
            <a:solidFill>
              <a:srgbClr val="738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04872" y="5029200"/>
            <a:ext cx="7388352" cy="0"/>
          </a:xfrm>
          <a:prstGeom prst="line">
            <a:avLst/>
          </a:prstGeom>
          <a:ln w="13970">
            <a:solidFill>
              <a:srgbClr val="738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9048" y="5029200"/>
            <a:ext cx="0" cy="146304"/>
          </a:xfrm>
          <a:prstGeom prst="line">
            <a:avLst/>
          </a:prstGeom>
          <a:ln w="13970">
            <a:solidFill>
              <a:srgbClr val="738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847088" y="5175504"/>
            <a:ext cx="8485632" cy="621792"/>
          </a:xfrm>
          <a:prstGeom prst="roundRect">
            <a:avLst/>
          </a:prstGeom>
          <a:solidFill>
            <a:srgbClr val="E8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9968" y="5285232"/>
            <a:ext cx="81198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Noto Sans CJK TC"/>
              </a:rPr>
              <a:t>Evidence + metadata + local analysis  →  final score + rating + source links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53328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設計重點：parallel branches 可重疊；final score 的解釋欄位可回看每個訊號。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04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先建立一個可重現的「事實查核大盤普查」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The evaluation starts from a frozen Cofacts snapshot; retrieval and labels are fixed before comparing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44752"/>
            <a:ext cx="224028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44752"/>
            <a:ext cx="73152" cy="1444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59105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63EB"/>
                </a:solidFill>
                <a:latin typeface="Noto Sans CJK TC"/>
              </a:rPr>
              <a:t>2,292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57984"/>
            <a:ext cx="1892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eligible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32304"/>
            <a:ext cx="18928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freeze date 2026-09-24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seed 42 · length(text) &gt; 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444752"/>
            <a:ext cx="2240280" cy="1444752"/>
          </a:xfrm>
          <a:prstGeom prst="roundRect">
            <a:avLst/>
          </a:prstGeom>
          <a:solidFill>
            <a:srgbClr val="FFF0F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444752"/>
            <a:ext cx="73152" cy="1444752"/>
          </a:xfrm>
          <a:prstGeom prst="rect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59105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45769"/>
                </a:solidFill>
                <a:latin typeface="Noto Sans CJK TC"/>
              </a:rPr>
              <a:t>2,025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57984"/>
            <a:ext cx="1892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MISLEADING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32304"/>
            <a:ext cx="18928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88.4% of the frozen corpus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inaccurate + partial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4688" y="1444752"/>
            <a:ext cx="2240280" cy="1444752"/>
          </a:xfrm>
          <a:prstGeom prst="roundRect">
            <a:avLst/>
          </a:prstGeom>
          <a:solidFill>
            <a:srgbClr val="EAF8E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4688" y="1444752"/>
            <a:ext cx="73152" cy="1444752"/>
          </a:xfrm>
          <a:prstGeom prst="rect">
            <a:avLst/>
          </a:prstGeom>
          <a:solidFill>
            <a:srgbClr val="168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59105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6803C"/>
                </a:solidFill>
                <a:latin typeface="Noto Sans CJK TC"/>
              </a:rPr>
              <a:t>267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157984"/>
            <a:ext cx="1892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CREDIBLE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432304"/>
            <a:ext cx="18928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11.6% of the frozen corpus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accurate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6" y="1444752"/>
            <a:ext cx="3621024" cy="1444752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0416" y="1444752"/>
            <a:ext cx="73152" cy="14447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1591056"/>
            <a:ext cx="3300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7706"/>
                </a:solidFill>
                <a:latin typeface="Noto Sans CJK TC"/>
              </a:rPr>
              <a:t>1,612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157984"/>
            <a:ext cx="32735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rumor clusters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2432304"/>
            <a:ext cx="32735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cosine ≥ 0.80 · max cluster 102 · 1,400 singletons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246120"/>
            <a:ext cx="532180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345643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Frozen corpus composition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3968496"/>
            <a:ext cx="4023240" cy="512064"/>
          </a:xfrm>
          <a:prstGeom prst="rect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74216" y="3968496"/>
            <a:ext cx="530471" cy="512064"/>
          </a:xfrm>
          <a:prstGeom prst="rect">
            <a:avLst/>
          </a:prstGeom>
          <a:solidFill>
            <a:srgbClr val="168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45537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69"/>
                </a:solidFill>
                <a:latin typeface="Noto Sans CJK TC"/>
              </a:rPr>
              <a:t>MISLEADING  88.4%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55371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803C"/>
                </a:solidFill>
                <a:latin typeface="Noto Sans CJK TC"/>
              </a:rPr>
              <a:t>CREDIBLE  11.6%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864608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The class imbalance is real;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therefore accuracy alone is not the main signal.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3246120"/>
            <a:ext cx="5193792" cy="2240280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45643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Why the split matters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803904"/>
            <a:ext cx="4663440" cy="658368"/>
          </a:xfrm>
          <a:prstGeom prst="roundRect">
            <a:avLst/>
          </a:prstGeom>
          <a:solidFill>
            <a:srgbClr val="172A4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84848" y="4005072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400507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3488" y="3986784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Record-level 5-fold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4315968"/>
            <a:ext cx="3730752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tests held-out records, but siblings may remain in the index.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553712"/>
            <a:ext cx="4663440" cy="658368"/>
          </a:xfrm>
          <a:prstGeom prst="roundRect">
            <a:avLst/>
          </a:prstGeom>
          <a:solidFill>
            <a:srgbClr val="172A4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784848" y="4754880"/>
            <a:ext cx="402336" cy="402336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475488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4736592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Cluster-level 5-fold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33488" y="5065776"/>
            <a:ext cx="3730752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keeps every near-duplicate rumor family in one fold.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5285232"/>
            <a:ext cx="4526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Cluster-level = conservative retrieval lower bound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05 /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嚴格切分後，檢索仍保留可用訊號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θsim = 0.72 · verbatim query · Coverage 與 Selective Accuracy 必須一起讀。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5157216" cy="199339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4592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Noto Sans CJK TC"/>
              </a:rPr>
              <a:t>Record-level 5-fold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93852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2563EB"/>
                </a:solidFill>
                <a:latin typeface="Noto Sans CJK TC"/>
              </a:rPr>
              <a:t>95.3%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0116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selective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3408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Coverage  55.9%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6609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CAA  53.2%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417320"/>
            <a:ext cx="5193792" cy="1993392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6459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7706"/>
                </a:solidFill>
                <a:latin typeface="Noto Sans CJK TC"/>
              </a:rPr>
              <a:t>Cluster-level 5-fold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93852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D97706"/>
                </a:solidFill>
                <a:latin typeface="Noto Sans CJK TC"/>
              </a:rPr>
              <a:t>90.8%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0116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selective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408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Coverage  36.1%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609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CAA  32.7%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3232" y="3703320"/>
          <a:ext cx="74797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17320"/>
                <a:gridCol w="1417320"/>
                <a:gridCol w="1508760"/>
                <a:gridCol w="1536192"/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TC"/>
                        </a:rPr>
                        <a:t>Perturbation</a:t>
                      </a:r>
                    </a:p>
                  </a:txBody>
                  <a:tcPr marL="64008" marR="64008" marT="27432" marB="27432" anchor="ctr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TC"/>
                        </a:rPr>
                        <a:t>Record Cov</a:t>
                      </a:r>
                    </a:p>
                  </a:txBody>
                  <a:tcPr marL="64008" marR="64008" marT="27432" marB="27432" anchor="ctr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TC"/>
                        </a:rPr>
                        <a:t>Record Sel</a:t>
                      </a:r>
                    </a:p>
                  </a:txBody>
                  <a:tcPr marL="64008" marR="64008" marT="27432" marB="27432" anchor="ctr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TC"/>
                        </a:rPr>
                        <a:t>Cluster Cov</a:t>
                      </a:r>
                    </a:p>
                  </a:txBody>
                  <a:tcPr marL="64008" marR="64008" marT="27432" marB="27432" anchor="ctr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TC"/>
                        </a:rPr>
                        <a:t>Cluster Sel</a:t>
                      </a:r>
                    </a:p>
                  </a:txBody>
                  <a:tcPr marL="64008" marR="64008" marT="27432" marB="27432" anchor="ctr">
                    <a:solidFill>
                      <a:srgbClr val="1722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Verbatim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55.9%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95.3%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36.1%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90.8%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Mild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55.3%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94.3%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36.4%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90.9%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50.6%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95.6%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28.4%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91.9%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Heavy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40.0%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93.9%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22.6%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72033"/>
                          </a:solidFill>
                          <a:latin typeface="Noto Sans CJK TC"/>
                        </a:rPr>
                        <a:t>90.6%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8467344" y="3703320"/>
            <a:ext cx="3054096" cy="1664208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3931920"/>
            <a:ext cx="2505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3D95B"/>
                </a:solidFill>
                <a:latin typeface="Noto Sans CJK TC"/>
              </a:rPr>
              <a:t>讀法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315968"/>
            <a:ext cx="2487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Noto Sans CJK TC"/>
              </a:rPr>
              <a:t>95.3% 不是全集 accuracy；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Noto Sans CJK TC"/>
              </a:rPr>
              <a:t>它是在已檢索到證據的 claims 上的 selective accuracy。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7607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保守解讀：cluster split 的 selective accuracy 只下降約 4–5 個百分點，但 coverage 明顯下降；這是近重複移除後的 lower bound。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06 /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把「LLM 分數」放回可解釋的決策規則裡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Evidence hit → lower LLM weight; known counter-evidence → asymmetric upper bound.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4983480" cy="3456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Dynamic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535424" cy="2267712"/>
          </a:xfrm>
          <a:prstGeom prst="roundRect">
            <a:avLst/>
          </a:prstGeom>
          <a:solidFill>
            <a:srgbClr val="E8F7F4"/>
          </a:solidFill>
          <a:ln w="1016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_large_4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31739"/>
            <a:ext cx="4535424" cy="195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43159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同樣是 Qwen3.8-27B，差異來自 grounding、fusion 與 safety clamp。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5468112" cy="3456432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4592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Asymmetric safety anchor</a:t>
            </a:r>
          </a:p>
        </p:txBody>
      </p:sp>
      <p:sp>
        <p:nvSpPr>
          <p:cNvPr id="15" name="Oval 14"/>
          <p:cNvSpPr/>
          <p:nvPr/>
        </p:nvSpPr>
        <p:spPr>
          <a:xfrm>
            <a:off x="6345936" y="2084831"/>
            <a:ext cx="347472" cy="34747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08483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075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Evidence hit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07568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91B2"/>
                </a:solidFill>
                <a:latin typeface="Noto Sans CJK TC"/>
              </a:rPr>
              <a:t>wfusion = 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2340863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retrieved evidence dominates</a:t>
            </a:r>
          </a:p>
        </p:txBody>
      </p:sp>
      <p:sp>
        <p:nvSpPr>
          <p:cNvPr id="20" name="Oval 19"/>
          <p:cNvSpPr/>
          <p:nvPr/>
        </p:nvSpPr>
        <p:spPr>
          <a:xfrm>
            <a:off x="6345936" y="2871215"/>
            <a:ext cx="347472" cy="347472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7121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8620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No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86207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wfusion = 0.60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12724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local LLM can fill context</a:t>
            </a:r>
          </a:p>
        </p:txBody>
      </p:sp>
      <p:sp>
        <p:nvSpPr>
          <p:cNvPr id="25" name="Oval 24"/>
          <p:cNvSpPr/>
          <p:nvPr/>
        </p:nvSpPr>
        <p:spPr>
          <a:xfrm>
            <a:off x="6345936" y="3657600"/>
            <a:ext cx="347472" cy="347472"/>
          </a:xfrm>
          <a:prstGeom prst="ellipse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6576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6484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Known counter-evidence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64845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69"/>
                </a:solidFill>
                <a:latin typeface="Noto Sans CJK TC"/>
              </a:rPr>
              <a:t>Sfinal ≤ τevidence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39136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do not let fluent text overturn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230368"/>
            <a:ext cx="10808208" cy="621792"/>
          </a:xfrm>
          <a:prstGeom prst="round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85231"/>
            <a:ext cx="103692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Safety clamp 的價值：讓已知反證限制高分，而不是把所有不確定案例都判成假。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07 /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同模型比較：優勢來自架構，不是參數量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同一個 500-claim probe、同一個 cutoff 60、同一個 Qwen3.8-27B 引擎。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2267712" cy="1508760"/>
          </a:xfrm>
          <a:prstGeom prst="roundRect">
            <a:avLst/>
          </a:prstGeom>
          <a:solidFill>
            <a:srgbClr val="E8F7F4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1732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563624"/>
            <a:ext cx="19476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0F766E"/>
                </a:solidFill>
                <a:latin typeface="Noto Sans CJK TC"/>
              </a:rPr>
              <a:t>99.0%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NewsAnalyzer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F1 0.994 · credible recall 98.1%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2" y="1417320"/>
            <a:ext cx="2267712" cy="1508760"/>
          </a:xfrm>
          <a:prstGeom prst="roundRect">
            <a:avLst/>
          </a:prstGeom>
          <a:solidFill>
            <a:srgbClr val="EDF2F7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417320"/>
            <a:ext cx="73152" cy="1508760"/>
          </a:xfrm>
          <a:prstGeom prst="rect">
            <a:avLst/>
          </a:prstGeom>
          <a:solidFill>
            <a:srgbClr val="17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63624"/>
            <a:ext cx="19476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72235"/>
                </a:solidFill>
                <a:latin typeface="Noto Sans CJK TC"/>
              </a:rPr>
              <a:t>88.1%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13055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Zero-shot Qwen3.8-27B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40487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F1 0.932 · credible recall 60.0%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1417320"/>
            <a:ext cx="2267712" cy="1508760"/>
          </a:xfrm>
          <a:prstGeom prst="roundRect">
            <a:avLst/>
          </a:prstGeom>
          <a:solidFill>
            <a:srgbClr val="A3D95B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417320"/>
            <a:ext cx="73152" cy="1508760"/>
          </a:xfrm>
          <a:prstGeom prst="rect">
            <a:avLst/>
          </a:prstGeom>
          <a:solidFill>
            <a:srgbClr val="168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563624"/>
            <a:ext cx="19476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6803C"/>
                </a:solidFill>
                <a:latin typeface="Noto Sans CJK TC"/>
              </a:rPr>
              <a:t>+10.85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213055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percentage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40487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paired difference · 95% CI [8.03, 13.65] 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1417320"/>
            <a:ext cx="3401568" cy="1508760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1417320"/>
            <a:ext cx="73152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1563624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7706"/>
                </a:solidFill>
                <a:latin typeface="Noto Sans CJK TC"/>
              </a:rPr>
              <a:t>498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130552"/>
            <a:ext cx="30540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paired valid claims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2404872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2 invalid zero-shot outputs excluded · McNemar b=56, c=2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291840"/>
            <a:ext cx="65379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352044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Paired accuracy · same model, same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385876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NewsAnalyzer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17880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hybrid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4233672"/>
            <a:ext cx="35204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42032" y="4233672"/>
            <a:ext cx="3344418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4178808"/>
            <a:ext cx="5120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99.0%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69087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235"/>
                </a:solidFill>
                <a:latin typeface="Noto Sans CJK TC"/>
              </a:rPr>
              <a:t>Zero-shot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5010912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prompt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5065776"/>
            <a:ext cx="35204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5065776"/>
            <a:ext cx="1434579" cy="256032"/>
          </a:xfrm>
          <a:prstGeom prst="rect">
            <a:avLst/>
          </a:prstGeom>
          <a:solidFill>
            <a:srgbClr val="17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79" y="5010912"/>
            <a:ext cx="5120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235"/>
                </a:solidFill>
                <a:latin typeface="Noto Sans CJK TC"/>
              </a:rPr>
              <a:t>88.1%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528523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Axis starts at 80% to make the paired gap visible; labels show exact values.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16368" y="3291840"/>
            <a:ext cx="4005072" cy="2240280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0688" y="35204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3D95B"/>
                </a:solidFill>
                <a:latin typeface="Noto Sans CJK TC"/>
              </a:rPr>
              <a:t>CREDIBLE-class recall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38862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Noto Sans CJK TC"/>
              </a:rPr>
              <a:t>98.1%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9959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D95B"/>
                </a:solidFill>
                <a:latin typeface="Noto Sans CJK TC"/>
              </a:rPr>
              <a:t>hybrid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0688" y="455371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B7C7D9"/>
                </a:solidFill>
                <a:latin typeface="Noto Sans CJK TC"/>
              </a:rPr>
              <a:t>60.0%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64515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zero-shot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0688" y="4983480"/>
            <a:ext cx="3337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Grounding matters most on plausible claims.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08 /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安全錨定是可量測的保護層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在 cutoff 60 的同一 500 筆 evaluation set 上，移除 safety clamp 的成本最大。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2103120" cy="1444752"/>
          </a:xfrm>
          <a:prstGeom prst="roundRect">
            <a:avLst/>
          </a:prstGeom>
          <a:solidFill>
            <a:srgbClr val="FFF0F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17320"/>
            <a:ext cx="73152" cy="1444752"/>
          </a:xfrm>
          <a:prstGeom prst="rect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563624"/>
            <a:ext cx="1783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45769"/>
                </a:solidFill>
                <a:latin typeface="Noto Sans CJK TC"/>
              </a:rPr>
              <a:t>−2.8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remove safety clamp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98.6% → 95.8%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417320"/>
            <a:ext cx="2103120" cy="144475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417320"/>
            <a:ext cx="73152" cy="1444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1563624"/>
            <a:ext cx="1783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563EB"/>
                </a:solidFill>
                <a:latin typeface="Noto Sans CJK TC"/>
              </a:rPr>
              <a:t>98.8%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30552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evidence-only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04872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fact-check + feedback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1417320"/>
            <a:ext cx="2103120" cy="1444752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1808" y="1417320"/>
            <a:ext cx="73152" cy="14447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563624"/>
            <a:ext cx="1783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D97706"/>
                </a:solidFill>
                <a:latin typeface="Noto Sans CJK TC"/>
              </a:rPr>
              <a:t>98.2%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8" y="2130552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metadata-only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8" y="2404872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four metadata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6096" y="1417320"/>
            <a:ext cx="3895344" cy="1444752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164592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3D95B"/>
                </a:solidFill>
                <a:latin typeface="Noto Sans CJK TC"/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196596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Noto Sans CJK TC"/>
              </a:rPr>
              <a:t>在已索引 claims 上，metadata 的邊際貢獻較小；clamp 仍能攔下高分 false negative。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246120"/>
            <a:ext cx="7424927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49300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Component ablation · accuracy (n = 500)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387705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Full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3931920"/>
            <a:ext cx="4343400" cy="16459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42032" y="3931920"/>
            <a:ext cx="3329939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877056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98.6%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424281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Evidence-only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42032" y="4297680"/>
            <a:ext cx="4343400" cy="16459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42032" y="4297680"/>
            <a:ext cx="347471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242816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Noto Sans CJK TC"/>
              </a:rPr>
              <a:t>98.8%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46085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Metadata-only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4663440"/>
            <a:ext cx="4343400" cy="16459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4663440"/>
            <a:ext cx="3040380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608576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06"/>
                </a:solidFill>
                <a:latin typeface="Noto Sans CJK TC"/>
              </a:rPr>
              <a:t>98.2%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497433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w/o clamp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42032" y="5029200"/>
            <a:ext cx="4343400" cy="16459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42032" y="5029200"/>
            <a:ext cx="1303019" cy="164592"/>
          </a:xfrm>
          <a:prstGeom prst="rect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4974336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69"/>
                </a:solidFill>
                <a:latin typeface="Noto Sans CJK TC"/>
              </a:rPr>
              <a:t>95.8%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" y="529437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Axis 94–100% exposes small but meaningful differences; exact labels are shown.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30768" y="3246120"/>
            <a:ext cx="3090672" cy="2212848"/>
          </a:xfrm>
          <a:prstGeom prst="roundRect">
            <a:avLst/>
          </a:prstGeom>
          <a:solidFill>
            <a:srgbClr val="E8F7F4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05088" y="349300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Noto Sans CJK TC"/>
              </a:rPr>
              <a:t>Why this matters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3858768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The clamp is not a cosmetic post-processing step. It changes the error profile when evidence contradicts a fluent high-confidence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09 /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快取快、完整管線慢；隱私邊界也要說清楚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Two different latency numbers are not interchangeable: retrieval fast path vs full /judge round trip.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5632704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66420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Latency profile · median by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09397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sentiment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2148839"/>
            <a:ext cx="2743199" cy="182879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2032" y="2148839"/>
            <a:ext cx="42903" cy="18287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09397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91B2"/>
                </a:solidFill>
                <a:latin typeface="Noto Sans CJK TC"/>
              </a:rPr>
              <a:t>0.08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4871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similarity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2542032"/>
            <a:ext cx="2743199" cy="182879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2542032"/>
            <a:ext cx="52340" cy="18287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487168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Noto Sans CJK TC"/>
              </a:rPr>
              <a:t>0.10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2880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fact-check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2032" y="2935223"/>
            <a:ext cx="2743199" cy="182879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42032" y="2935223"/>
            <a:ext cx="879305" cy="1828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880360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06"/>
                </a:solidFill>
                <a:latin typeface="Noto Sans CJK TC"/>
              </a:rPr>
              <a:t>1.60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27355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web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2032" y="3328415"/>
            <a:ext cx="2743199" cy="182879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42032" y="3328415"/>
            <a:ext cx="1477432" cy="182879"/>
          </a:xfrm>
          <a:prstGeom prst="rect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273552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69"/>
                </a:solidFill>
                <a:latin typeface="Noto Sans CJK TC"/>
              </a:rPr>
              <a:t>2.69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36667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Noto Sans CJK TC"/>
              </a:rPr>
              <a:t>deep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42032" y="3721607"/>
            <a:ext cx="2743199" cy="182879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42032" y="3721607"/>
            <a:ext cx="2381042" cy="1828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666744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3AED"/>
                </a:solidFill>
                <a:latin typeface="Noto Sans CJK TC"/>
              </a:rPr>
              <a:t>4.34 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224528"/>
            <a:ext cx="5074920" cy="566928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576" y="4279392"/>
            <a:ext cx="46360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CJK TC"/>
              </a:rPr>
              <a:t>Full /judge median  7.13s  ·  P95  14.89s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4937760"/>
            <a:ext cx="4846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Census vector fast path: 1.48 ms 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stage medians are concurrent, so they are not additive.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1417320"/>
            <a:ext cx="4864608" cy="4160520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16642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Privacy boundary · bounded lookups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2011680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ON-DEVICE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1152" y="2340864"/>
            <a:ext cx="1874519" cy="256032"/>
          </a:xfrm>
          <a:prstGeom prst="roundRect">
            <a:avLst/>
          </a:prstGeom>
          <a:solidFill>
            <a:srgbClr val="1B3B50"/>
          </a:solidFill>
          <a:ln w="10160">
            <a:solidFill>
              <a:srgbClr val="2C6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2345436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3F3E9"/>
                </a:solidFill>
                <a:latin typeface="Noto Sans CJK TC"/>
              </a:rPr>
              <a:t>article body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31152" y="2752344"/>
            <a:ext cx="1874519" cy="256032"/>
          </a:xfrm>
          <a:prstGeom prst="roundRect">
            <a:avLst/>
          </a:prstGeom>
          <a:solidFill>
            <a:srgbClr val="1B3B50"/>
          </a:solidFill>
          <a:ln w="10160">
            <a:solidFill>
              <a:srgbClr val="2C6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31152" y="2756916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3F3E9"/>
                </a:solidFill>
                <a:latin typeface="Noto Sans CJK TC"/>
              </a:rPr>
              <a:t>auxiliary LLM 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31152" y="3163824"/>
            <a:ext cx="1874519" cy="256032"/>
          </a:xfrm>
          <a:prstGeom prst="roundRect">
            <a:avLst/>
          </a:prstGeom>
          <a:solidFill>
            <a:srgbClr val="1B3B50"/>
          </a:solidFill>
          <a:ln w="10160">
            <a:solidFill>
              <a:srgbClr val="2C6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3168396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3F3E9"/>
                </a:solidFill>
                <a:latin typeface="Noto Sans CJK TC"/>
              </a:rPr>
              <a:t>scoring + final verdict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20116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58A"/>
                </a:solidFill>
                <a:latin typeface="Noto Sans CJK TC"/>
              </a:rPr>
              <a:t>BOUNDED OUTBOUND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2340864"/>
            <a:ext cx="1965960" cy="256032"/>
          </a:xfrm>
          <a:prstGeom prst="roundRect">
            <a:avLst/>
          </a:prstGeom>
          <a:solidFill>
            <a:srgbClr val="3A2E20"/>
          </a:solidFill>
          <a:ln w="10160">
            <a:solidFill>
              <a:srgbClr val="6D4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2345436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1A6"/>
                </a:solidFill>
                <a:latin typeface="Noto Sans CJK TC"/>
              </a:rPr>
              <a:t>title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2752344"/>
            <a:ext cx="1965960" cy="256032"/>
          </a:xfrm>
          <a:prstGeom prst="roundRect">
            <a:avLst/>
          </a:prstGeom>
          <a:solidFill>
            <a:srgbClr val="3A2E20"/>
          </a:solidFill>
          <a:ln w="10160">
            <a:solidFill>
              <a:srgbClr val="6D4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2756916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1A6"/>
                </a:solidFill>
                <a:latin typeface="Noto Sans CJK TC"/>
              </a:rPr>
              <a:t>≤300-char claim prefix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3163824"/>
            <a:ext cx="1965960" cy="256032"/>
          </a:xfrm>
          <a:prstGeom prst="roundRect">
            <a:avLst/>
          </a:prstGeom>
          <a:solidFill>
            <a:srgbClr val="3A2E20"/>
          </a:solidFill>
          <a:ln w="10160">
            <a:solidFill>
              <a:srgbClr val="6D4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3168396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1A6"/>
                </a:solidFill>
                <a:latin typeface="Noto Sans CJK TC"/>
              </a:rPr>
              <a:t>public fact-check / search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851392" y="2560320"/>
            <a:ext cx="182880" cy="0"/>
          </a:xfrm>
          <a:prstGeom prst="line">
            <a:avLst/>
          </a:prstGeom>
          <a:ln w="15240">
            <a:solidFill>
              <a:srgbClr val="B5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ight Triangle 49"/>
          <p:cNvSpPr/>
          <p:nvPr/>
        </p:nvSpPr>
        <p:spPr>
          <a:xfrm rot="5400000">
            <a:off x="8942832" y="2496312"/>
            <a:ext cx="91440" cy="128016"/>
          </a:xfrm>
          <a:prstGeom prst="rtTriangle">
            <a:avLst/>
          </a:prstGeom>
          <a:solidFill>
            <a:srgbClr val="FFD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4133087"/>
            <a:ext cx="4133087" cy="585216"/>
          </a:xfrm>
          <a:prstGeom prst="roundRect">
            <a:avLst/>
          </a:prstGeom>
          <a:solidFill>
            <a:srgbClr val="1C4056"/>
          </a:solidFill>
          <a:ln w="10160">
            <a:solidFill>
              <a:srgbClr val="1C4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50608" y="4187951"/>
            <a:ext cx="369417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FF6E2"/>
                </a:solidFill>
                <a:latin typeface="Noto Sans CJK TC"/>
              </a:rPr>
              <a:t>No account identity · no full article 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1152" y="4956048"/>
            <a:ext cx="40965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這不是 zero egress；是 full text on-device + bounded lookup queries。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10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沒有查核命中時，系統仍能保守分流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One live content-farm example demonstrates the fallback path; it is illustrative, not a quantitative claim.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470916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1700784"/>
            <a:ext cx="1572768" cy="256032"/>
          </a:xfrm>
          <a:prstGeom prst="roundRect">
            <a:avLst/>
          </a:prstGeom>
          <a:solidFill>
            <a:srgbClr val="FFF0F2"/>
          </a:solidFill>
          <a:ln w="10160">
            <a:solidFill>
              <a:srgbClr val="FF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5356"/>
            <a:ext cx="157276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69"/>
                </a:solidFill>
                <a:latin typeface="Noto Sans CJK TC"/>
              </a:rPr>
              <a:t>UNINDEXED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84831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Noto Sans CJK TC"/>
              </a:rPr>
              <a:t>Live content-farm URL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724912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715768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Cofacts match?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990088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sim &lt; 0.72 → not_found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9576" y="3090672"/>
            <a:ext cx="0" cy="411480"/>
          </a:xfrm>
          <a:prstGeom prst="line">
            <a:avLst/>
          </a:prstGeom>
          <a:ln w="12700">
            <a:solidFill>
              <a:srgbClr val="9AA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05840" y="3584448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575304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Metadata + local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849624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domain · HTTP · sentiment · 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79576" y="3950208"/>
            <a:ext cx="0" cy="411480"/>
          </a:xfrm>
          <a:prstGeom prst="line">
            <a:avLst/>
          </a:prstGeom>
          <a:ln w="12700">
            <a:solidFill>
              <a:srgbClr val="9AA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05840" y="4443983"/>
            <a:ext cx="347472" cy="347472"/>
          </a:xfrm>
          <a:prstGeom prst="ellipse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4398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43484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033"/>
                </a:solidFill>
                <a:latin typeface="Noto Sans CJK TC"/>
              </a:rPr>
              <a:t>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709159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score 15.9 · Suspected Fake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" y="5358384"/>
            <a:ext cx="4160520" cy="365760"/>
          </a:xfrm>
          <a:prstGeom prst="round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413248"/>
            <a:ext cx="37216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TC"/>
              </a:rPr>
              <a:t>Fallback is a feature, not a hole in the method.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42432" y="1417320"/>
            <a:ext cx="577900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166420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Live NewsAnalyzer interface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6752" y="1993392"/>
            <a:ext cx="5230368" cy="3611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pp_parsing_resul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790" y="1993392"/>
            <a:ext cx="3302290" cy="3611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16752" y="5541264"/>
            <a:ext cx="5074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Figure: web-based interface with live extraction, scoring, and local-LLM viewpoint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Noto Sans CJK TC"/>
              </a:rPr>
              <a:t>11 /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Noto Sans CJK TC"/>
              </a:rPr>
              <a:t>這個系統還不知道什麼？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A credible triage system should make its deployment boundary as visible as its accuracy.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8"/>
                </a:solidFill>
                <a:latin typeface="Noto Sans CJK T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5230368" cy="1234440"/>
          </a:xfrm>
          <a:prstGeom prst="roundRect">
            <a:avLst/>
          </a:prstGeom>
          <a:solidFill>
            <a:srgbClr val="FFF0F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82496"/>
            <a:ext cx="402336" cy="402336"/>
          </a:xfrm>
          <a:prstGeom prst="ellipse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824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64208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Class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93392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2,025 / 2,292 claims are MISLEADING; accuracy alone is not enough.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81328"/>
            <a:ext cx="5230368" cy="1234440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1682496"/>
            <a:ext cx="402336" cy="40233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6824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664208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Negation +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993392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cosine similarity can miss contradiction and entity substitution.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054096"/>
            <a:ext cx="5230368" cy="123444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25526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552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36976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Regional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66160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Taiwan-centric index reaches only 55.3% retrieval accuracy on WSDM 2019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054096"/>
            <a:ext cx="5230368" cy="1234440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3255264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2552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236976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TC"/>
              </a:rPr>
              <a:t>Human 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566160"/>
            <a:ext cx="42976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No formal user study; usability, trust, and reliance remain open questions.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800600"/>
            <a:ext cx="10972800" cy="658368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17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855464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CJK TC"/>
              </a:rPr>
              <a:t>NewsAnalyzer is a triage aid, not an omniscient truth arbiter.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70585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77A"/>
                </a:solidFill>
                <a:latin typeface="Noto Sans CJK TC"/>
              </a:rPr>
              <a:t>The research contribution is a more auditable decision boundary: evidence when available, transparent abstention when 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686800" y="502920"/>
            <a:ext cx="1005840" cy="64008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692640" y="685800"/>
            <a:ext cx="1097280" cy="4572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789920" y="685800"/>
            <a:ext cx="685800" cy="9144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9052560" y="1143000"/>
            <a:ext cx="640080" cy="11430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52560" y="2286000"/>
            <a:ext cx="1325880" cy="2743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78440" y="2560320"/>
            <a:ext cx="1005840" cy="5486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549640" y="2286000"/>
            <a:ext cx="502920" cy="155448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3840480"/>
            <a:ext cx="1325880" cy="3200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4160520"/>
            <a:ext cx="1188720" cy="54864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840480"/>
            <a:ext cx="502920" cy="18745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5715000"/>
            <a:ext cx="1325880" cy="27432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4160520"/>
            <a:ext cx="502920" cy="18288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875520" y="2560320"/>
            <a:ext cx="502920" cy="1600200"/>
          </a:xfrm>
          <a:prstGeom prst="line">
            <a:avLst/>
          </a:prstGeom>
          <a:ln w="10160">
            <a:solidFill>
              <a:srgbClr val="1D4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636508" y="45262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42348" y="1092708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9628" y="6355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25428" y="15499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2268" y="22357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28148" y="2510027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33988" y="305866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99348" y="379018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5228" y="4110228"/>
            <a:ext cx="100584" cy="10058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13948" y="465886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02268" y="566470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28148" y="5939028"/>
            <a:ext cx="100584" cy="1005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103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12 /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89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TC"/>
              </a:rPr>
              <a:t>三個帶走的事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89611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4D6"/>
                </a:solidFill>
                <a:latin typeface="Noto Sans CJK TC"/>
              </a:rPr>
              <a:t>NewsAnalyzer: evidence before eloquence, with uncertainty kept visible.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1143000"/>
            <a:ext cx="11045952" cy="13716"/>
          </a:xfrm>
          <a:prstGeom prst="rect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31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18520" y="6537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AB8CA"/>
                </a:solidFill>
                <a:latin typeface="Noto Sans CJK TC"/>
              </a:rPr>
              <a:t>13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1481328"/>
            <a:ext cx="512064" cy="5120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148132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14630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CJK TC"/>
              </a:rPr>
              <a:t>Evidence first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1801368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2,292 frozen claims + SBERT retrieval make the verdict auditable.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2596896"/>
            <a:ext cx="512064" cy="512064"/>
          </a:xfrm>
          <a:prstGeom prst="ellipse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259689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257860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CJK TC"/>
              </a:rPr>
              <a:t>Conservative by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2916936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Record-level 95.3% selective accuracy becomes 90.8% under cluster-level split.</a:t>
            </a:r>
          </a:p>
        </p:txBody>
      </p:sp>
      <p:sp>
        <p:nvSpPr>
          <p:cNvPr id="41" name="Oval 40"/>
          <p:cNvSpPr/>
          <p:nvPr/>
        </p:nvSpPr>
        <p:spPr>
          <a:xfrm>
            <a:off x="822960" y="3712464"/>
            <a:ext cx="512064" cy="512064"/>
          </a:xfrm>
          <a:prstGeom prst="ellipse">
            <a:avLst/>
          </a:prstGeom>
          <a:solidFill>
            <a:srgbClr val="E45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712464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Noto Sans CJK TC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36941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CJK TC"/>
              </a:rPr>
              <a:t>Local, but honest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40325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Full text and analysis stay on-device; only bounded lookups leave the device.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1481328"/>
            <a:ext cx="3794760" cy="3886200"/>
          </a:xfrm>
          <a:prstGeom prst="roundRect">
            <a:avLst/>
          </a:prstGeom>
          <a:solidFill>
            <a:srgbClr val="10253A"/>
          </a:solidFill>
          <a:ln w="10160">
            <a:solidFill>
              <a:srgbClr val="23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18288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3D95B"/>
                </a:solidFill>
                <a:latin typeface="Noto Sans CJK TC"/>
              </a:rPr>
              <a:t>PROJECT SIGNAL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2221992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TC"/>
              </a:rPr>
              <a:t>2,292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TC"/>
              </a:rPr>
              <a:t>→ 90.8%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TC"/>
              </a:rPr>
              <a:t>→ 99.0%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456432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evidence corpus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cluster-level lower bound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D9"/>
                </a:solidFill>
                <a:latin typeface="Noto Sans CJK TC"/>
              </a:rPr>
              <a:t>paired hybrid accuracy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352544"/>
            <a:ext cx="2697480" cy="45720"/>
          </a:xfrm>
          <a:prstGeom prst="rect">
            <a:avLst/>
          </a:prstGeom>
          <a:solidFill>
            <a:srgbClr val="A3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4517136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FF6E2"/>
                </a:solidFill>
                <a:latin typeface="Noto Sans CJK TC"/>
              </a:rPr>
              <a:t>github.com/min20120907/NewsAnalyzer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212080"/>
            <a:ext cx="6400800" cy="585216"/>
          </a:xfrm>
          <a:prstGeom prst="roundRect">
            <a:avLst/>
          </a:prstGeom>
          <a:solidFill>
            <a:srgbClr val="1C4056"/>
          </a:solidFill>
          <a:ln w="10160">
            <a:solidFill>
              <a:srgbClr val="1C4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6" y="5266944"/>
            <a:ext cx="5961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2F5E3"/>
                </a:solidFill>
                <a:latin typeface="Noto Sans CJK TC"/>
              </a:rPr>
              <a:t>Questions?  ·  Evidence, uncertainty, and privacy can coexist.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NewsAnalyzer — Evidence-Grounded Credibility Triage</dc:title>
  <dc:subject>Ubi-Media 2027 project presentation</dc:subject>
  <dc:creator>Tsangyu Lin, Hui Lin, Sheng-Chih Chen</dc:creator>
  <cp:keywords>NewsAnalyzer, fake news, fact-checking, SBERT, edge AI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