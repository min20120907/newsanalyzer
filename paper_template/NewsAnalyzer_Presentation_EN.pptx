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48640"/>
            <a:ext cx="11094415" cy="5760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" y="914400"/>
            <a:ext cx="3840480" cy="347472"/>
          </a:xfrm>
          <a:prstGeom prst="roundRect">
            <a:avLst/>
          </a:prstGeom>
          <a:solidFill>
            <a:srgbClr val="0C4A6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38BDF8"/>
                </a:solidFill>
              </a:defRPr>
            </a:pPr>
            <a:r>
              <a:rPr lang="en-US" dirty="0"/>
              <a:t>ACADEMIC PRESENTATION · UBI-MEDIA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1018001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NewsAnalyzer: Real-Time Fake-News Protection via</a:t>
            </a:r>
            <a:br/>
            <a:r>
              <a:rPr lang="en-US" dirty="0"/>
              <a:t>Macro Fact-Checking Census &amp; Multi-Signal Metadata Fusion</a:t>
            </a:r>
          </a:p>
          <a:p>
            <a:pPr>
              <a:spcBef>
                <a:spcPts val="800"/>
              </a:spcBef>
              <a:defRPr sz="1600">
                <a:solidFill>
                  <a:srgbClr val="94A3B8"/>
                </a:solidFill>
                <a:latin typeface="Calibri"/>
              </a:defRPr>
            </a:pPr>
            <a:r>
              <a:rPr lang="en-US" dirty="0"/>
              <a:t>Evidence-First Screening · Local LLM Analysis · Zero Data Egress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3611880"/>
            <a:ext cx="242316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E2E8F0"/>
                </a:solidFill>
              </a:defRPr>
            </a:pPr>
            <a:r>
              <a:rPr lang="en-US" dirty="0"/>
              <a:t>📊 2,292 Verified Fact-Check Records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47872" y="3611880"/>
            <a:ext cx="242316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E2E8F0"/>
                </a:solidFill>
              </a:defRPr>
            </a:pPr>
            <a:r>
              <a:rPr lang="en-US" dirty="0"/>
              <a:t>⚡ 1.48 ms Retrieval Fast-Path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9904" y="3611880"/>
            <a:ext cx="242316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E2E8F0"/>
                </a:solidFill>
              </a:defRPr>
            </a:pPr>
            <a:r>
              <a:rPr lang="en-US" dirty="0"/>
              <a:t>🔒 100% On-Device Privacy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31936" y="3611880"/>
            <a:ext cx="242316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E2E8F0"/>
                </a:solidFill>
              </a:defRPr>
            </a:pPr>
            <a:r>
              <a:rPr lang="en-US" dirty="0"/>
              <a:t>🎯 95.3% Verified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480560"/>
            <a:ext cx="1018001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Presenter: Tsangyu Lin¹ · Advisor: Hui Lin¹* · Co-Author: Sheng-Chih Chen²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rPr lang="en-US" dirty="0"/>
              <a:t>¹ Tamkang University, Dept. of Computer Science &amp; Information Engineering — Intelligent Computing Lab  |  ² National Chengchi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56032"/>
            <a:ext cx="2926080" cy="292608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0369A1"/>
                </a:solidFill>
                <a:latin typeface="Calibri"/>
              </a:defRPr>
            </a:pPr>
            <a:r>
              <a:rPr lang="en-US" dirty="0"/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rPr lang="en-US" dirty="0"/>
              <a:t>Executive Overview: From Blind LLM Guessing to Evidence-Based Census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352044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44168"/>
            <a:ext cx="3063240" cy="1472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800" b="1">
                <a:solidFill>
                  <a:srgbClr val="0284C7"/>
                </a:solidFill>
                <a:latin typeface="Calibri"/>
              </a:defRPr>
            </a:pPr>
            <a:r>
              <a:rPr lang="en-US" dirty="0"/>
              <a:t>95.3%</a:t>
            </a:r>
          </a:p>
          <a:p>
            <a:pPr>
              <a:spcBef>
                <a:spcPts val="200"/>
              </a:spcBef>
              <a:defRPr sz="1550" b="1">
                <a:solidFill>
                  <a:srgbClr val="0F172A"/>
                </a:solidFill>
                <a:latin typeface="Calibri"/>
              </a:defRPr>
            </a:pPr>
            <a:r>
              <a:rPr lang="en-US" dirty="0"/>
              <a:t>Fact-Check Accuracy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rPr lang="en-US" dirty="0"/>
              <a:t>5-fold CV F1 = 0.974, far above prompt-only LLM (78.4%)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4256" y="1234440"/>
            <a:ext cx="352044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2856" y="1344168"/>
            <a:ext cx="3063240" cy="1472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800" b="1">
                <a:solidFill>
                  <a:srgbClr val="0D9488"/>
                </a:solidFill>
                <a:latin typeface="Calibri"/>
              </a:defRPr>
            </a:pPr>
            <a:r>
              <a:rPr lang="en-US" dirty="0"/>
              <a:t>1.48 ms</a:t>
            </a:r>
          </a:p>
          <a:p>
            <a:pPr>
              <a:spcBef>
                <a:spcPts val="200"/>
              </a:spcBef>
              <a:defRPr sz="1550" b="1">
                <a:solidFill>
                  <a:srgbClr val="0F172A"/>
                </a:solidFill>
                <a:latin typeface="Calibri"/>
              </a:defRPr>
            </a:pPr>
            <a:r>
              <a:rPr lang="en-US" dirty="0"/>
              <a:t>Fact-Check Fast-Path Latency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rPr lang="en-US" dirty="0"/>
              <a:t>SBERT vector retrieval — instant, imperceptible response on click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234440"/>
            <a:ext cx="352044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8472" y="1344168"/>
            <a:ext cx="3063240" cy="1472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800" b="1">
                <a:solidFill>
                  <a:srgbClr val="10B981"/>
                </a:solidFill>
                <a:latin typeface="Calibri"/>
              </a:defRPr>
            </a:pPr>
            <a:r>
              <a:rPr lang="en-US" dirty="0"/>
              <a:t>0 Byte</a:t>
            </a:r>
          </a:p>
          <a:p>
            <a:pPr>
              <a:spcBef>
                <a:spcPts val="200"/>
              </a:spcBef>
              <a:defRPr sz="1550" b="1">
                <a:solidFill>
                  <a:srgbClr val="0F172A"/>
                </a:solidFill>
                <a:latin typeface="Calibri"/>
              </a:defRPr>
            </a:pPr>
            <a:r>
              <a:rPr lang="en-US" dirty="0"/>
              <a:t>User Browsing Data Leaked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rPr lang="en-US" dirty="0"/>
              <a:t>Fully on-device computation; privacy- and GDPR-compliant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54680"/>
            <a:ext cx="5376672" cy="3337560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291840"/>
            <a:ext cx="4919472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E123C"/>
                </a:solidFill>
              </a:defRPr>
            </a:pPr>
            <a:r>
              <a:rPr lang="en-US" dirty="0"/>
              <a:t>❌ Fatal Blind Spots of Prompt-Only LLM Judgment</a:t>
            </a:r>
          </a:p>
          <a:p>
            <a:pPr>
              <a:spcBef>
                <a:spcPts val="600"/>
              </a:spcBef>
              <a:defRPr sz="1350">
                <a:solidFill>
                  <a:srgbClr val="0F172A"/>
                </a:solidFill>
              </a:defRPr>
            </a:pPr>
            <a:r>
              <a:rPr lang="en-US" dirty="0"/>
              <a:t>▸ [Temporal Blindness] Weights are frozen — nothing is known about the rumor that broke this morning</a:t>
            </a:r>
          </a:p>
          <a:p>
            <a:pPr>
              <a:spcBef>
                <a:spcPts val="600"/>
              </a:spcBef>
              <a:defRPr sz="1350">
                <a:solidFill>
                  <a:srgbClr val="0F172A"/>
                </a:solidFill>
              </a:defRPr>
            </a:pPr>
            <a:r>
              <a:rPr lang="en-US" dirty="0"/>
              <a:t>▸ [Style Deception] Generative AI mimics an authoritative tone; a prompt-only LLM is easily fooled</a:t>
            </a:r>
          </a:p>
          <a:p>
            <a:pPr>
              <a:spcBef>
                <a:spcPts val="600"/>
              </a:spcBef>
              <a:defRPr sz="1350">
                <a:solidFill>
                  <a:srgbClr val="0F172A"/>
                </a:solidFill>
              </a:defRPr>
            </a:pPr>
            <a:r>
              <a:rPr lang="en-US" dirty="0"/>
              <a:t>▸ [No Provenance] No traceable fact-check source — and it even fabricates references</a:t>
            </a:r>
          </a:p>
          <a:p>
            <a:pPr>
              <a:spcBef>
                <a:spcPts val="600"/>
              </a:spcBef>
              <a:defRPr sz="1350">
                <a:solidFill>
                  <a:srgbClr val="0F172A"/>
                </a:solidFill>
              </a:defRPr>
            </a:pPr>
            <a:r>
              <a:rPr lang="en-US" dirty="0"/>
              <a:t>▸ [Latency &amp; Privacy] 5–10 s per check, and private browsing traces go to the cloud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154680"/>
            <a:ext cx="5376672" cy="333756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91840"/>
            <a:ext cx="4919472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59669"/>
                </a:solidFill>
              </a:defRPr>
            </a:pPr>
            <a:r>
              <a:rPr lang="en-US" dirty="0"/>
              <a:t>✅ The NewsAnalyzer Multi-Signal Census Approach</a:t>
            </a:r>
          </a:p>
          <a:p>
            <a:pPr>
              <a:spcBef>
                <a:spcPts val="600"/>
              </a:spcBef>
              <a:defRPr sz="1350">
                <a:solidFill>
                  <a:srgbClr val="0F172A"/>
                </a:solidFill>
              </a:defRPr>
            </a:pPr>
            <a:r>
              <a:rPr lang="en-US" dirty="0"/>
              <a:t>▸ [Macro Census] Integrates 2,292 IFCN-certified records from the Cofacts corpus</a:t>
            </a:r>
          </a:p>
          <a:p>
            <a:pPr>
              <a:spcBef>
                <a:spcPts val="600"/>
              </a:spcBef>
              <a:defRPr sz="1350">
                <a:solidFill>
                  <a:srgbClr val="0F172A"/>
                </a:solidFill>
              </a:defRPr>
            </a:pPr>
            <a:r>
              <a:rPr lang="en-US" dirty="0"/>
              <a:t>▸ [Multi-Signal Matrix] Domain blacklist, emotional-agitation index, temporal decay penalty</a:t>
            </a:r>
          </a:p>
          <a:p>
            <a:pPr>
              <a:spcBef>
                <a:spcPts val="600"/>
              </a:spcBef>
              <a:defRPr sz="1350">
                <a:solidFill>
                  <a:srgbClr val="0F172A"/>
                </a:solidFill>
              </a:defRPr>
            </a:pPr>
            <a:r>
              <a:rPr lang="en-US" dirty="0"/>
              <a:t>▸ [Asymmetric Anchoring] Known rumors are clamped (S ≤ 25) — the model cannot overturn them</a:t>
            </a:r>
          </a:p>
          <a:p>
            <a:pPr>
              <a:spcBef>
                <a:spcPts val="600"/>
              </a:spcBef>
              <a:defRPr sz="1350">
                <a:solidFill>
                  <a:srgbClr val="0F172A"/>
                </a:solidFill>
              </a:defRPr>
            </a:pPr>
            <a:r>
              <a:rPr lang="en-US" dirty="0"/>
              <a:t>▸ [Local Viewpoint Extraction] Gemma-4-12B distils viewpoints, 100% private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56032"/>
            <a:ext cx="2926080" cy="292608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0369A1"/>
                </a:solidFill>
                <a:latin typeface="Calibri"/>
              </a:defRPr>
            </a:pPr>
            <a:r>
              <a:rPr lang="en-US" dirty="0"/>
              <a:t>RESEARCH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rPr lang="en-US" dirty="0"/>
              <a:t>Background: Information Flow and Fake-News Ecology in Traditional-Chinese Social Networks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3520440" cy="525780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30632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369A1"/>
                </a:solidFill>
              </a:defRPr>
            </a:pPr>
            <a:r>
              <a:rPr lang="en-US" dirty="0"/>
              <a:t>📱 Closed &amp; Semi-Closed Feeds</a:t>
            </a:r>
          </a:p>
          <a:p>
            <a:pPr>
              <a:spcBef>
                <a:spcPts val="1000"/>
              </a:spcBef>
              <a:defRPr sz="1350">
                <a:solidFill>
                  <a:srgbClr val="0F172A"/>
                </a:solidFill>
              </a:defRPr>
            </a:pPr>
            <a:r>
              <a:rPr lang="en-US" dirty="0"/>
              <a:t>▸ High-stickiness carriers: LINE family groups, Facebook feeds, Threads algorithmic push</a:t>
            </a:r>
          </a:p>
          <a:p>
            <a:pPr>
              <a:spcBef>
                <a:spcPts val="1000"/>
              </a:spcBef>
              <a:defRPr sz="1350">
                <a:solidFill>
                  <a:srgbClr val="0F172A"/>
                </a:solidFill>
              </a:defRPr>
            </a:pPr>
            <a:r>
              <a:rPr lang="en-US" dirty="0"/>
              <a:t>▸ Homogeneous layouts: real reporting, unverified health rumors and content farms look alike</a:t>
            </a:r>
          </a:p>
          <a:p>
            <a:pPr>
              <a:spcBef>
                <a:spcPts val="1000"/>
              </a:spcBef>
              <a:defRPr sz="1350">
                <a:solidFill>
                  <a:srgbClr val="0F172A"/>
                </a:solidFill>
              </a:defRPr>
            </a:pPr>
            <a:r>
              <a:rPr lang="en-US" dirty="0"/>
              <a:t>▸ Viral speed: one rumor reaches 10k+ shares within hours; manual debunking lags far behind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4256" y="1234440"/>
            <a:ext cx="3520440" cy="52578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2856" y="1417320"/>
            <a:ext cx="30632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97706"/>
                </a:solidFill>
              </a:defRPr>
            </a:pPr>
            <a:r>
              <a:rPr lang="en-US" dirty="0"/>
              <a:t>⚠️ Disinformation Patterns</a:t>
            </a:r>
          </a:p>
          <a:p>
            <a:pPr>
              <a:spcBef>
                <a:spcPts val="1000"/>
              </a:spcBef>
              <a:defRPr sz="1350">
                <a:solidFill>
                  <a:srgbClr val="0F172A"/>
                </a:solidFill>
              </a:defRPr>
            </a:pPr>
            <a:r>
              <a:rPr lang="en-US" dirty="0"/>
              <a:t>▸ Pseudo-scientific wellness: borrowed authority and exaggerated cures aimed at older adults</a:t>
            </a:r>
          </a:p>
          <a:p>
            <a:pPr>
              <a:spcBef>
                <a:spcPts val="1000"/>
              </a:spcBef>
              <a:defRPr sz="1350">
                <a:solidFill>
                  <a:srgbClr val="0F172A"/>
                </a:solidFill>
              </a:defRPr>
            </a:pPr>
            <a:r>
              <a:rPr lang="en-US" dirty="0"/>
              <a:t>▸ Political deepfakes: real facts interleaved with distorted commentary to create panic and division</a:t>
            </a:r>
          </a:p>
          <a:p>
            <a:pPr>
              <a:spcBef>
                <a:spcPts val="1000"/>
              </a:spcBef>
              <a:defRPr sz="1350">
                <a:solidFill>
                  <a:srgbClr val="0F172A"/>
                </a:solidFill>
              </a:defRPr>
            </a:pPr>
            <a:r>
              <a:rPr lang="en-US" dirty="0"/>
              <a:t>▸ Content-farm bait: clickbait headlines on unencrypted HTTP domains for ad revenue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234440"/>
            <a:ext cx="3520440" cy="5257800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8472" y="1417320"/>
            <a:ext cx="30632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766E"/>
                </a:solidFill>
              </a:defRPr>
            </a:pPr>
            <a:r>
              <a:rPr lang="en-US" dirty="0"/>
              <a:t>🌐 Localized Language Barriers</a:t>
            </a:r>
          </a:p>
          <a:p>
            <a:pPr>
              <a:spcBef>
                <a:spcPts val="1000"/>
              </a:spcBef>
              <a:defRPr sz="1350">
                <a:solidFill>
                  <a:srgbClr val="0F172A"/>
                </a:solidFill>
              </a:defRPr>
            </a:pPr>
            <a:r>
              <a:rPr lang="en-US" dirty="0"/>
              <a:t>▸ Taiwanese colloquialisms and slang: puns, local idioms, context-specific political vocabulary</a:t>
            </a:r>
          </a:p>
          <a:p>
            <a:pPr>
              <a:spcBef>
                <a:spcPts val="1000"/>
              </a:spcBef>
              <a:defRPr sz="1350">
                <a:solidFill>
                  <a:srgbClr val="0F172A"/>
                </a:solidFill>
              </a:defRPr>
            </a:pPr>
            <a:r>
              <a:rPr lang="en-US" dirty="0"/>
              <a:t>▸ Western models misfit: English-centric models cause severe semantic drift</a:t>
            </a:r>
          </a:p>
          <a:p>
            <a:pPr>
              <a:spcBef>
                <a:spcPts val="1000"/>
              </a:spcBef>
              <a:defRPr sz="1350">
                <a:solidFill>
                  <a:srgbClr val="0F172A"/>
                </a:solidFill>
              </a:defRPr>
            </a:pPr>
            <a:r>
              <a:rPr lang="en-US" dirty="0"/>
              <a:t>▸ Cross-script gap: Simplified-Chinese fact corpora cannot cover Taiwan's local livelihood issues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56032"/>
            <a:ext cx="2926080" cy="292608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0369A1"/>
                </a:solidFill>
                <a:latin typeface="Calibri"/>
              </a:defRPr>
            </a:pPr>
            <a:r>
              <a:rPr lang="en-US" dirty="0"/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rPr lang="en-US" dirty="0"/>
              <a:t>Why Prompt-Only LLM Judgment Inevitably Collapses at Fact-Checking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5376672" cy="2514600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4919472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BE123C"/>
                </a:solidFill>
              </a:defRPr>
            </a:pPr>
            <a:r>
              <a:rPr lang="en-US" dirty="0"/>
              <a:t>1. Temporal Blindness</a:t>
            </a:r>
          </a:p>
          <a:p>
            <a:pPr>
              <a:spcBef>
                <a:spcPts val="400"/>
              </a:spcBef>
              <a:defRPr sz="1300">
                <a:solidFill>
                  <a:srgbClr val="0F172A"/>
                </a:solidFill>
              </a:defRPr>
            </a:pPr>
            <a:r>
              <a:rPr lang="en-US" dirty="0"/>
              <a:t>LLM weights carry a fixed knowledge cutoff. Social-media rumors are often fabricated "this morning", so an offline or prompt-only LLM can only guess from stale knowledge and cannot identify the newest debunked claims.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234440"/>
            <a:ext cx="5376672" cy="2514600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371600"/>
            <a:ext cx="4919472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BE123C"/>
                </a:solidFill>
              </a:defRPr>
            </a:pPr>
            <a:r>
              <a:rPr lang="en-US" dirty="0"/>
              <a:t>2. Stylistic Deception</a:t>
            </a:r>
          </a:p>
          <a:p>
            <a:pPr>
              <a:spcBef>
                <a:spcPts val="400"/>
              </a:spcBef>
              <a:defRPr sz="1300">
                <a:solidFill>
                  <a:srgbClr val="0F172A"/>
                </a:solidFill>
              </a:defRPr>
            </a:pPr>
            <a:r>
              <a:rPr lang="en-US" dirty="0"/>
              <a:t>Modern generative AI easily imitates the objective tone of a wire service. An LLM is fundamentally a probabilistic language model: when a rumor is well-structured and rational in tone, it is scored as highly credible — a severe false negative.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77639"/>
            <a:ext cx="5376672" cy="2514600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114800"/>
            <a:ext cx="4919472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BE123C"/>
                </a:solidFill>
              </a:defRPr>
            </a:pPr>
            <a:r>
              <a:rPr lang="en-US" dirty="0"/>
              <a:t>3. No Auditable Provenance</a:t>
            </a:r>
          </a:p>
          <a:p>
            <a:pPr>
              <a:spcBef>
                <a:spcPts val="400"/>
              </a:spcBef>
              <a:defRPr sz="1300">
                <a:solidFill>
                  <a:srgbClr val="0F172A"/>
                </a:solidFill>
              </a:defRPr>
            </a:pPr>
            <a:r>
              <a:rPr lang="en-US" dirty="0"/>
              <a:t>A prompt-only LLM cannot link to IFCN-certified investigations. When users ask for the basis, the model may even fabricate non-existent expert statements and legal clauses (hallucination), destroying the tool's credibility.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977639"/>
            <a:ext cx="5376672" cy="2514600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114800"/>
            <a:ext cx="4919472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BE123C"/>
                </a:solidFill>
              </a:defRPr>
            </a:pPr>
            <a:r>
              <a:rPr lang="en-US" dirty="0"/>
              <a:t>4. Latency Penalty &amp; Privacy Leakage</a:t>
            </a:r>
          </a:p>
          <a:p>
            <a:pPr>
              <a:spcBef>
                <a:spcPts val="400"/>
              </a:spcBef>
              <a:defRPr sz="1300">
                <a:solidFill>
                  <a:srgbClr val="0F172A"/>
                </a:solidFill>
              </a:defRPr>
            </a:pPr>
            <a:r>
              <a:rPr lang="en-US" dirty="0"/>
              <a:t>Sending live browsing content to a cloud API (e.g., GPT-4o) takes 5–10 s per request and breaks the browsing experience; it also exposes private social feeds to third-party servers — a serious privacy risk.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56032"/>
            <a:ext cx="2926080" cy="292608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0369A1"/>
                </a:solidFill>
                <a:latin typeface="Calibri"/>
              </a:defRPr>
            </a:pPr>
            <a:r>
              <a:rPr lang="en-US" dirty="0"/>
              <a:t>COMPETING PARADIGMS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rPr lang="en-US" dirty="0"/>
              <a:t>Evaluating Existing Fact-Checking Paradigms: Why None of Them Suffices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2606040" cy="3977639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371600"/>
            <a:ext cx="227685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75569"/>
                </a:solidFill>
              </a:defRPr>
            </a:pPr>
            <a:r>
              <a:rPr lang="en-US" dirty="0"/>
              <a:t>① Majority-Class Baseline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rPr lang="en-US" dirty="0"/>
              <a:t>Majority Prior</a:t>
            </a:r>
          </a:p>
          <a:p>
            <a:pPr>
              <a:spcBef>
                <a:spcPts val="600"/>
              </a:spcBef>
              <a:defRPr sz="1400" b="1">
                <a:solidFill>
                  <a:srgbClr val="475569"/>
                </a:solidFill>
              </a:defRPr>
            </a:pPr>
            <a:r>
              <a:rPr lang="en-US" dirty="0"/>
              <a:t>🎯 Baseline Accuracy: 88.4%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lang="en-US" dirty="0"/>
              <a:t>▸ The corpus is inherently imbalanced (2,025 fake / 267 real)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lang="en-US" dirty="0"/>
              <a:t>▸ Blindly guessing "fake" already yields 88.4%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lang="en-US" dirty="0"/>
              <a:t>▸ Fatal flaw: zero discrimination — every real item is falsely flagged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74136" y="1234440"/>
            <a:ext cx="2606040" cy="3977639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38728" y="1371600"/>
            <a:ext cx="227685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97706"/>
                </a:solidFill>
              </a:defRPr>
            </a:pPr>
            <a:r>
              <a:rPr lang="en-US" dirty="0"/>
              <a:t>② Surface-Feature Classification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rPr lang="en-US" dirty="0"/>
              <a:t>Surface NLP (TF-IDF)</a:t>
            </a:r>
          </a:p>
          <a:p>
            <a:pPr>
              <a:spcBef>
                <a:spcPts val="600"/>
              </a:spcBef>
              <a:defRPr sz="1400" b="1">
                <a:solidFill>
                  <a:srgbClr val="D97706"/>
                </a:solidFill>
              </a:defRPr>
            </a:pPr>
            <a:r>
              <a:rPr lang="en-US" dirty="0"/>
              <a:t>🎯 Baseline Accuracy: 86.2%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lang="en-US" dirty="0"/>
              <a:t>▸ Word frequencies, sentiment lexicons and ML classifiers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lang="en-US" dirty="0"/>
              <a:t>▸ Relies on surface lexical features (n-grams)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lang="en-US" dirty="0"/>
              <a:t>▸ Fatal flaw: easily broken by synonym substitution and structural rewriting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234440"/>
            <a:ext cx="2606040" cy="3977639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3" y="1371600"/>
            <a:ext cx="227685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E123C"/>
                </a:solidFill>
              </a:defRPr>
            </a:pPr>
            <a:r>
              <a:rPr lang="en-US" dirty="0"/>
              <a:t>③ Domain-Reputation Only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rPr lang="en-US" dirty="0"/>
              <a:t>NewsGuard Heuristics</a:t>
            </a:r>
          </a:p>
          <a:p>
            <a:pPr>
              <a:spcBef>
                <a:spcPts val="600"/>
              </a:spcBef>
              <a:defRPr sz="1400" b="1">
                <a:solidFill>
                  <a:srgbClr val="BE123C"/>
                </a:solidFill>
              </a:defRPr>
            </a:pPr>
            <a:r>
              <a:rPr lang="en-US" dirty="0"/>
              <a:t>🎯 Baseline Accuracy: 52.1%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lang="en-US" dirty="0"/>
              <a:t>▸ Whitelists / blacklists keyed on website hostname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lang="en-US" dirty="0"/>
              <a:t>▸ Only applies to standalone content-farm sites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lang="en-US" dirty="0"/>
              <a:t>▸ Fatal flaw: completely useless inside same-domain platforms such as FB/LINE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25128" y="1234440"/>
            <a:ext cx="2606040" cy="3977639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9720" y="1371600"/>
            <a:ext cx="227685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369A1"/>
                </a:solidFill>
              </a:defRPr>
            </a:pPr>
            <a:r>
              <a:rPr lang="en-US" dirty="0"/>
              <a:t>④ Zero-Shot LLM Only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rPr lang="en-US" dirty="0"/>
              <a:t>Prompt-Only LLM</a:t>
            </a:r>
          </a:p>
          <a:p>
            <a:pPr>
              <a:spcBef>
                <a:spcPts val="600"/>
              </a:spcBef>
              <a:defRPr sz="1400" b="1">
                <a:solidFill>
                  <a:srgbClr val="0369A1"/>
                </a:solidFill>
              </a:defRPr>
            </a:pPr>
            <a:r>
              <a:rPr lang="en-US" dirty="0"/>
              <a:t>🎯 Baseline Accuracy: 78.4%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lang="en-US" dirty="0"/>
              <a:t>▸ Simply asks the LLM "is this article true?"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lang="en-US" dirty="0"/>
              <a:t>▸ Relies solely on pretrained internalized parameters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rPr lang="en-US" dirty="0"/>
              <a:t>▸ Fatal flaw: frequent hallucination and no local verification basis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349240"/>
            <a:ext cx="11094415" cy="11430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440680"/>
            <a:ext cx="1063721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38BDF8"/>
                </a:solidFill>
              </a:defRPr>
            </a:pPr>
            <a:r>
              <a:rPr lang="en-US" dirty="0"/>
              <a:t>📌 Conclusion: dynamic social content needs a hybrid of fact-check census and Metadata fusion</a:t>
            </a:r>
          </a:p>
          <a:p>
            <a:pPr>
              <a:spcBef>
                <a:spcPts val="300"/>
              </a:spcBef>
              <a:defRPr sz="1250">
                <a:solidFill>
                  <a:srgbClr val="E2E8F0"/>
                </a:solidFill>
              </a:defRPr>
            </a:pPr>
            <a:r>
              <a:rPr lang="en-US" dirty="0"/>
              <a:t>Static domain and surface-feature models cannot handle complex social context, while prompt-only LLMs are bounded by knowledge cutoff and hallucination. Only combining the macro empirical census (Cofacts) with multi-dimensional non-textual features reaches 95.3% accuracy at 1.48 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56032"/>
            <a:ext cx="2926080" cy="292608"/>
          </a:xfrm>
          <a:prstGeom prst="roundRect">
            <a:avLst/>
          </a:prstGeom>
          <a:solidFill>
            <a:srgbClr val="0C4A6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38BDF8"/>
                </a:solidFill>
                <a:latin typeface="Calibri"/>
              </a:defRPr>
            </a:pPr>
            <a:r>
              <a:rPr lang="en-US" dirty="0"/>
              <a:t>CORE PHILOSOPHY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Core Philosophy: An Evidence Census Foundation, On-Device Privacy and Extreme Efficiency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2606040" cy="52578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417320"/>
            <a:ext cx="2276856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38BDF8"/>
                </a:solidFill>
              </a:defRPr>
            </a:pPr>
            <a:r>
              <a:rPr lang="en-US" dirty="0"/>
              <a:t>1. Evidence First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rPr lang="en-US" dirty="0"/>
              <a:t>Evidence-First</a:t>
            </a:r>
          </a:p>
          <a:p>
            <a:pPr>
              <a:spcBef>
                <a:spcPts val="1000"/>
              </a:spcBef>
              <a:defRPr sz="1250">
                <a:solidFill>
                  <a:srgbClr val="E2E8F0"/>
                </a:solidFill>
              </a:defRPr>
            </a:pPr>
            <a:r>
              <a:rPr lang="en-US" dirty="0"/>
              <a:t>▸ Rejects unsupported generative speculation</a:t>
            </a:r>
          </a:p>
          <a:p>
            <a:pPr>
              <a:spcBef>
                <a:spcPts val="1000"/>
              </a:spcBef>
              <a:defRPr sz="1250">
                <a:solidFill>
                  <a:srgbClr val="E2E8F0"/>
                </a:solidFill>
              </a:defRPr>
            </a:pPr>
            <a:r>
              <a:rPr lang="en-US" dirty="0"/>
              <a:t>▸ Treats the verified fact-check database as the supreme court</a:t>
            </a:r>
          </a:p>
          <a:p>
            <a:pPr>
              <a:spcBef>
                <a:spcPts val="1000"/>
              </a:spcBef>
              <a:defRPr sz="1250">
                <a:solidFill>
                  <a:srgbClr val="E2E8F0"/>
                </a:solidFill>
              </a:defRPr>
            </a:pPr>
            <a:r>
              <a:rPr lang="en-US" dirty="0"/>
              <a:t>▸ On a hit, cites the IFCN-certified report as authoritative 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74136" y="1234440"/>
            <a:ext cx="2606040" cy="52578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38728" y="1417320"/>
            <a:ext cx="2276856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0D9488"/>
                </a:solidFill>
              </a:defRPr>
            </a:pPr>
            <a:r>
              <a:rPr lang="en-US" dirty="0"/>
              <a:t>2. Multi-Signal Metadata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rPr lang="en-US" dirty="0"/>
              <a:t>Multi-Signal Fusion</a:t>
            </a:r>
          </a:p>
          <a:p>
            <a:pPr>
              <a:spcBef>
                <a:spcPts val="1000"/>
              </a:spcBef>
              <a:defRPr sz="1250">
                <a:solidFill>
                  <a:srgbClr val="E2E8F0"/>
                </a:solidFill>
              </a:defRPr>
            </a:pPr>
            <a:r>
              <a:rPr lang="en-US" dirty="0"/>
              <a:t>▸ Moves beyond the single text-only dimension</a:t>
            </a:r>
          </a:p>
          <a:p>
            <a:pPr>
              <a:spcBef>
                <a:spcPts val="1000"/>
              </a:spcBef>
              <a:defRPr sz="1250">
                <a:solidFill>
                  <a:srgbClr val="E2E8F0"/>
                </a:solidFill>
              </a:defRPr>
            </a:pPr>
            <a:r>
              <a:rPr lang="en-US" dirty="0"/>
              <a:t>▸ Fuses domain blacklist, emotional-agitation index and temporal decay factor</a:t>
            </a:r>
          </a:p>
          <a:p>
            <a:pPr>
              <a:spcBef>
                <a:spcPts val="1000"/>
              </a:spcBef>
              <a:defRPr sz="1250">
                <a:solidFill>
                  <a:srgbClr val="E2E8F0"/>
                </a:solidFill>
              </a:defRPr>
            </a:pPr>
            <a:r>
              <a:rPr lang="en-US" dirty="0"/>
              <a:t>▸ Cross-validates signals to judge articles missing from the corpus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234440"/>
            <a:ext cx="2606040" cy="52578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3" y="1417320"/>
            <a:ext cx="2276856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E11D48"/>
                </a:solidFill>
              </a:defRPr>
            </a:pPr>
            <a:r>
              <a:rPr lang="en-US" dirty="0"/>
              <a:t>3. Asymmetric Safety Anchoring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rPr lang="en-US" dirty="0"/>
              <a:t>Safety Clamping</a:t>
            </a:r>
          </a:p>
          <a:p>
            <a:pPr>
              <a:spcBef>
                <a:spcPts val="1000"/>
              </a:spcBef>
              <a:defRPr sz="1250">
                <a:solidFill>
                  <a:srgbClr val="E2E8F0"/>
                </a:solidFill>
              </a:defRPr>
            </a:pPr>
            <a:r>
              <a:rPr lang="en-US" dirty="0"/>
              <a:t>▸ Prevents the LLM from being fooled by fluent fake news</a:t>
            </a:r>
          </a:p>
          <a:p>
            <a:pPr>
              <a:spcBef>
                <a:spcPts val="1000"/>
              </a:spcBef>
              <a:defRPr sz="1250">
                <a:solidFill>
                  <a:srgbClr val="E2E8F0"/>
                </a:solidFill>
              </a:defRPr>
            </a:pPr>
            <a:r>
              <a:rPr lang="en-US" dirty="0"/>
              <a:t>▸ Clamps the score whenever a known rumor matches (S ≤ 25)</a:t>
            </a:r>
          </a:p>
          <a:p>
            <a:pPr>
              <a:spcBef>
                <a:spcPts val="1000"/>
              </a:spcBef>
              <a:defRPr sz="1250">
                <a:solidFill>
                  <a:srgbClr val="E2E8F0"/>
                </a:solidFill>
              </a:defRPr>
            </a:pPr>
            <a:r>
              <a:rPr lang="en-US" dirty="0"/>
              <a:t>▸ The model can never overturn a confirmed falsehood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25128" y="1234440"/>
            <a:ext cx="2606040" cy="52578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9720" y="1417320"/>
            <a:ext cx="2276856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10B981"/>
                </a:solidFill>
              </a:defRPr>
            </a:pPr>
            <a:r>
              <a:rPr lang="en-US" dirty="0"/>
              <a:t>4. Zero-Egress On-Device Privacy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rPr lang="en-US" dirty="0"/>
              <a:t>Zero Data Egress</a:t>
            </a:r>
          </a:p>
          <a:p>
            <a:pPr>
              <a:spcBef>
                <a:spcPts val="1000"/>
              </a:spcBef>
              <a:defRPr sz="1250">
                <a:solidFill>
                  <a:srgbClr val="E2E8F0"/>
                </a:solidFill>
              </a:defRPr>
            </a:pPr>
            <a:r>
              <a:rPr lang="en-US" dirty="0"/>
              <a:t>▸ 100% local computing architecture</a:t>
            </a:r>
          </a:p>
          <a:p>
            <a:pPr>
              <a:spcBef>
                <a:spcPts val="1000"/>
              </a:spcBef>
              <a:defRPr sz="1250">
                <a:solidFill>
                  <a:srgbClr val="E2E8F0"/>
                </a:solidFill>
              </a:defRPr>
            </a:pPr>
            <a:r>
              <a:rPr lang="en-US" dirty="0"/>
              <a:t>▸ SBERT CPU vector retrieval (1.48 ms) + local Gemma GPU acceleration</a:t>
            </a:r>
          </a:p>
          <a:p>
            <a:pPr>
              <a:spcBef>
                <a:spcPts val="1000"/>
              </a:spcBef>
              <a:defRPr sz="1250">
                <a:solidFill>
                  <a:srgbClr val="E2E8F0"/>
                </a:solidFill>
              </a:defRPr>
            </a:pPr>
            <a:r>
              <a:rPr lang="en-US" dirty="0"/>
              <a:t>▸ Browsing history and social posts never leave the machine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56032"/>
            <a:ext cx="2926080" cy="292608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0369A1"/>
                </a:solidFill>
                <a:latin typeface="Calibri"/>
              </a:defRPr>
            </a:pPr>
            <a:r>
              <a:rPr lang="en-US" dirty="0"/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rPr lang="en-US" dirty="0"/>
              <a:t>Overall Architecture: Three Cooperating Tiers (Client · Gateway · Dual Cores)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11094415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106372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4C7"/>
                </a:solidFill>
              </a:defRPr>
            </a:pPr>
            <a:r>
              <a:rPr lang="en-US" dirty="0"/>
              <a:t>🟢 Tier 1: Client Tier — Chrome Extension (Manifest V3)</a:t>
            </a:r>
          </a:p>
          <a:p>
            <a:pPr>
              <a:spcBef>
                <a:spcPts val="400"/>
              </a:spcBef>
              <a:defRPr sz="1250">
                <a:solidFill>
                  <a:srgbClr val="0F172A"/>
                </a:solidFill>
              </a:defRPr>
            </a:pPr>
            <a:r>
              <a:rPr lang="en-US" dirty="0"/>
              <a:t>▸ DOM MutationObserver: lightweight monitoring of social feeds (Facebook / LINE Web), auto-intercepting article containers on scroll</a:t>
            </a:r>
            <a:br/>
            <a:r>
              <a:rPr lang="en-US" dirty="0"/>
              <a:t>▸ Floating interactive badge UI: injects a credibility lamp (red / yellow / green) beside posts; one click expands the debunking basis and viewpoint analysis</a:t>
            </a:r>
            <a:br/>
            <a:r>
              <a:rPr lang="en-US" dirty="0"/>
              <a:t>▸ Strictly local transport: every request goes through localhost:5000, with no third-party traffic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63240"/>
            <a:ext cx="11094415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182112"/>
            <a:ext cx="106372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9488"/>
                </a:solidFill>
              </a:defRPr>
            </a:pPr>
            <a:r>
              <a:rPr lang="en-US" dirty="0"/>
              <a:t>🔵 Tier 2: Gateway Tier — Flask Multi-Signal Fusion Engine (POST /judge)</a:t>
            </a:r>
          </a:p>
          <a:p>
            <a:pPr>
              <a:spcBef>
                <a:spcPts val="400"/>
              </a:spcBef>
              <a:defRPr sz="1250">
                <a:solidFill>
                  <a:srgbClr val="0F172A"/>
                </a:solidFill>
              </a:defRPr>
            </a:pPr>
            <a:r>
              <a:rPr lang="en-US" dirty="0"/>
              <a:t>▸ Multi-dimensional Metadata scoring matrix: domain-blacklist penalty, emotional-agitation metrics, temporal-decay weighting</a:t>
            </a:r>
            <a:br/>
            <a:r>
              <a:rPr lang="en-US" dirty="0"/>
              <a:t>▸ Dynamic fusion scheduling: evidence vs. model weights adapt to the census hit status (w_fusion = 0.10 vs 0.60)</a:t>
            </a:r>
            <a:br/>
            <a:r>
              <a:rPr lang="en-US" dirty="0"/>
              <a:t>▸ Asymmetric safety clamping: caps known-rumor scores (S ≤ 25) so the LLM can never overturn them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892040"/>
            <a:ext cx="5376672" cy="160020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010912"/>
            <a:ext cx="49194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</a:defRPr>
            </a:pPr>
            <a:r>
              <a:rPr lang="en-US" dirty="0"/>
              <a:t>⚡ Tier 3A: Fact-Check Census Retrieval (CPU)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rPr lang="en-US" dirty="0"/>
              <a:t>▸ SBERT MiniLM-L12 (384-dim dense vectors)</a:t>
            </a:r>
            <a:br/>
            <a:r>
              <a:rPr lang="en-US" dirty="0"/>
              <a:t>▸ Cofacts corpus of 2,292 verified records</a:t>
            </a:r>
            <a:br/>
            <a:r>
              <a:rPr lang="en-US" dirty="0"/>
              <a:t>▸ 1.48 ms retrieval, zero VRAM footprint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892040"/>
            <a:ext cx="5376672" cy="1600200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5010912"/>
            <a:ext cx="49194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9488"/>
                </a:solidFill>
              </a:defRPr>
            </a:pPr>
            <a:r>
              <a:rPr lang="en-US" dirty="0"/>
              <a:t>🧠 Tier 3B: Local Auxiliary Viewpoint Extraction (GPU)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rPr lang="en-US" dirty="0"/>
              <a:t>▸ Gemma-4-12B (Q4_K_M quantized)</a:t>
            </a:r>
            <a:br/>
            <a:r>
              <a:rPr lang="en-US" dirty="0"/>
              <a:t>▸ format:json grammar constraint, 100% parse success rate</a:t>
            </a:r>
            <a:br/>
            <a:r>
              <a:rPr lang="en-US" dirty="0"/>
              <a:t>▸ Dedicated to viewpoint extraction and fallback analysis on misses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56032"/>
            <a:ext cx="2926080" cy="292608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0369A1"/>
                </a:solidFill>
                <a:latin typeface="Calibri"/>
              </a:defRPr>
            </a:pPr>
            <a:r>
              <a:rPr lang="en-US" dirty="0"/>
              <a:t>MACRO FACT-CHECK CENSUS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rPr lang="en-US" dirty="0"/>
              <a:t>Core Module 1: Building the Fact-Check Census and Integrating the Localized Corpus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352044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44168"/>
            <a:ext cx="3063240" cy="1380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800" b="1">
                <a:solidFill>
                  <a:srgbClr val="0284C7"/>
                </a:solidFill>
                <a:latin typeface="Calibri"/>
              </a:defRPr>
            </a:pPr>
            <a:r>
              <a:rPr lang="en-US" dirty="0"/>
              <a:t>2,292 records</a:t>
            </a:r>
          </a:p>
          <a:p>
            <a:pPr>
              <a:spcBef>
                <a:spcPts val="200"/>
              </a:spcBef>
              <a:defRPr sz="1550" b="1">
                <a:solidFill>
                  <a:srgbClr val="0F172A"/>
                </a:solidFill>
                <a:latin typeface="Calibri"/>
              </a:defRPr>
            </a:pPr>
            <a:r>
              <a:rPr lang="en-US" dirty="0"/>
              <a:t>Total valid fact-check records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rPr lang="en-US" dirty="0"/>
              <a:t>High-quality set filtered by character length (&gt;40 characters)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4256" y="1234440"/>
            <a:ext cx="352044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2856" y="1344168"/>
            <a:ext cx="3063240" cy="1380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800" b="1">
                <a:solidFill>
                  <a:srgbClr val="0D9488"/>
                </a:solidFill>
                <a:latin typeface="Calibri"/>
              </a:defRPr>
            </a:pPr>
            <a:r>
              <a:rPr lang="en-US" dirty="0"/>
              <a:t>IFCN Certified</a:t>
            </a:r>
          </a:p>
          <a:p>
            <a:pPr>
              <a:spcBef>
                <a:spcPts val="200"/>
              </a:spcBef>
              <a:defRPr sz="1550" b="1">
                <a:solidFill>
                  <a:srgbClr val="0F172A"/>
                </a:solidFill>
                <a:latin typeface="Calibri"/>
              </a:defRPr>
            </a:pPr>
            <a:r>
              <a:rPr lang="en-US" dirty="0"/>
              <a:t>International Fact-Checking Network standard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rPr lang="en-US" dirty="0"/>
              <a:t>Cross-verified with Taiwan FactCheck Center (TFC) and MyGoPen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234440"/>
            <a:ext cx="352044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8472" y="1344168"/>
            <a:ext cx="3063240" cy="1380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800" b="1">
                <a:solidFill>
                  <a:srgbClr val="10B981"/>
                </a:solidFill>
                <a:latin typeface="Calibri"/>
              </a:defRPr>
            </a:pPr>
            <a:r>
              <a:rPr lang="en-US" dirty="0"/>
              <a:t>99.9%</a:t>
            </a:r>
          </a:p>
          <a:p>
            <a:pPr>
              <a:spcBef>
                <a:spcPts val="200"/>
              </a:spcBef>
              <a:defRPr sz="1550" b="1">
                <a:solidFill>
                  <a:srgbClr val="0F172A"/>
                </a:solidFill>
                <a:latin typeface="Calibri"/>
              </a:defRPr>
            </a:pPr>
            <a:r>
              <a:rPr lang="en-US" dirty="0"/>
              <a:t>Top-1 database recall on true queries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rPr lang="en-US" dirty="0"/>
              <a:t>Near-perfect localization of the source sentence without perturbation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3063240"/>
          <a:ext cx="11094415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645920"/>
                <a:gridCol w="1645920"/>
                <a:gridCol w="4785055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Ground Truth Label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Count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Percentage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Corpus Characteristics &amp; Representative Cases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Inaccurate / false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1,817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79.3%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Exaggerated wellness remedies, political deepfake clips, forged official documents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Partial / disputed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208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9.1%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Real news interleaved with out-of-context commentary; decontextualized timelines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Accurate / real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267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11.6%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Investigative reports and official clarifications endorsed by fact-checkers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Total valid corpus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2,292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100.0%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Covers 2020–2026 high-spread LINE/FB debunking content in Taiwan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56032"/>
            <a:ext cx="2926080" cy="292608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0369A1"/>
                </a:solidFill>
                <a:latin typeface="Calibri"/>
              </a:defRPr>
            </a:pPr>
            <a:r>
              <a:rPr lang="en-US" dirty="0"/>
              <a:t>SEMANTIC RETRIEVAL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rPr lang="en-US" dirty="0"/>
              <a:t>Millisecond SBERT Semantic Retrieval: CPU-Resident Design and Dynamic Threshold 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5376672" cy="525780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491947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369A1"/>
                </a:solidFill>
              </a:defRPr>
            </a:pPr>
            <a:r>
              <a:rPr lang="en-US" dirty="0"/>
              <a:t>🧠 Vector-Space Modeling &amp; Computation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</a:defRPr>
            </a:pPr>
            <a:r>
              <a:rPr lang="en-US" dirty="0"/>
              <a:t>▸ Model: multilingual Sentence-BERT (MiniLM-L12) emitting 384-dim dense semantic vectors (q ∈ ℝ³⁸⁴).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</a:defRPr>
            </a:pPr>
            <a:r>
              <a:rPr lang="en-US" dirty="0"/>
              <a:t>▸ CPU-resident deployment: encoding and similarity computation run entirely on the host CPU, fully decoupled from GPU LLM work — zero VRAM contention.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</a:defRPr>
            </a:pPr>
            <a:r>
              <a:rPr lang="en-US" dirty="0"/>
              <a:t>▸ Static matrix mapping: all 2,292 vectors are pre-compiled into a compressed matrix (sbert_index.npz, 2292×384) loaded by instant memory mapping at boot.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114800"/>
            <a:ext cx="4919472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20624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369A1"/>
                </a:solidFill>
              </a:defRPr>
            </a:pPr>
            <a:r>
              <a:rPr lang="en-US" dirty="0"/>
              <a:t>📐 Cosine Semantic Similarity Formula</a:t>
            </a:r>
          </a:p>
        </p:txBody>
      </p:sp>
      <p:pic>
        <p:nvPicPr>
          <p:cNvPr id="9" name="Picture 8" descr="eq_cos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576" y="4617720"/>
            <a:ext cx="4114800" cy="107899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63640" y="1234440"/>
            <a:ext cx="5376672" cy="5257800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17320"/>
            <a:ext cx="491947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766E"/>
                </a:solidFill>
              </a:defRPr>
            </a:pPr>
            <a:r>
              <a:rPr lang="en-US" dirty="0"/>
              <a:t>🎯 Decision Threshold &amp; Fast-Path Mechanism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rPr lang="en-US" dirty="0"/>
              <a:t>▸ Two-stage filtering:</a:t>
            </a:r>
            <a:br/>
            <a:r>
              <a:rPr lang="en-US" dirty="0"/>
              <a:t>  - Pre-filter: 0.50 quickly pulls the Top-5 candidates</a:t>
            </a:r>
            <a:br/>
            <a:r>
              <a:rPr lang="en-US" dirty="0"/>
              <a:t>  - Decision threshold: θ_sim = 0.72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rPr lang="en-US" dirty="0"/>
              <a:t>▸ Golden balance point θ_sim = 0.72:</a:t>
            </a:r>
            <a:br/>
            <a:r>
              <a:rPr lang="en-US" dirty="0"/>
              <a:t>  - Coverage: 55.2% of queries resolved by the census in milliseconds</a:t>
            </a:r>
            <a:br/>
            <a:r>
              <a:rPr lang="en-US" dirty="0"/>
              <a:t>  - Accuracy: 95.3%, F1-Score 0.974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rPr lang="en-US" dirty="0"/>
              <a:t>▸ ⚡ 1.48 ms fast-path:</a:t>
            </a:r>
            <a:br/>
            <a:r>
              <a:rPr lang="en-US" dirty="0"/>
              <a:t>  when sim ≥ 0.72 the factual basis is returned directly, with no costly LLM generation — an imperceptible instant response!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rPr lang="en-US" dirty="0"/>
              <a:t>▸ Paraphrase resilience: 95.4% accuracy even with 40% synonym substitution.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56032"/>
            <a:ext cx="2926080" cy="292608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0369A1"/>
                </a:solidFill>
                <a:latin typeface="Calibri"/>
              </a:defRPr>
            </a:pPr>
            <a:r>
              <a:rPr lang="en-US" dirty="0"/>
              <a:t>METADATA SCORING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rPr lang="en-US" dirty="0"/>
              <a:t>Core Module 2: Multi-Dimensional Metadata Scoring Matrix and Non-Textual Feature Extraction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5376672" cy="251460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4919472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0369A1"/>
                </a:solidFill>
              </a:defRPr>
            </a:pPr>
            <a:r>
              <a:rPr lang="en-US" dirty="0"/>
              <a:t>1. Domain Reputation &amp; Blacklist (M_dom)</a:t>
            </a:r>
          </a:p>
          <a:p>
            <a:pPr>
              <a:spcBef>
                <a:spcPts val="400"/>
              </a:spcBef>
              <a:defRPr sz="1300">
                <a:solidFill>
                  <a:srgbClr val="0F172A"/>
                </a:solidFill>
              </a:defRPr>
            </a:pPr>
            <a:r>
              <a:rPr lang="en-US" dirty="0"/>
              <a:t>▸ Built-in localized content-farm blacklist</a:t>
            </a:r>
            <a:br/>
            <a:r>
              <a:rPr lang="en-US" dirty="0"/>
              <a:t>▸ Bonus mechanism for authoritative news outlets (whitelist)</a:t>
            </a:r>
            <a:br/>
            <a:r>
              <a:rPr lang="en-US" dirty="0"/>
              <a:t>▸ Penalties for unencrypted HTTP and suspicious subdomains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234440"/>
            <a:ext cx="5376672" cy="2514600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371600"/>
            <a:ext cx="4919472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0F766E"/>
                </a:solidFill>
              </a:defRPr>
            </a:pPr>
            <a:r>
              <a:rPr lang="en-US" dirty="0"/>
              <a:t>2. Emotional Agitation &amp; Clickbait Index (M_sent)</a:t>
            </a:r>
          </a:p>
          <a:p>
            <a:pPr>
              <a:spcBef>
                <a:spcPts val="400"/>
              </a:spcBef>
              <a:defRPr sz="1300">
                <a:solidFill>
                  <a:srgbClr val="0F172A"/>
                </a:solidFill>
              </a:defRPr>
            </a:pPr>
            <a:r>
              <a:rPr lang="en-US" dirty="0"/>
              <a:t>▸ Distilled sentiment model (DistilBERT) measures article polarity in real time</a:t>
            </a:r>
            <a:br/>
            <a:r>
              <a:rPr lang="en-US" dirty="0"/>
              <a:t>▸ Detects agitators such as "shocking", "must-see", "forward now", "doctors hide this"</a:t>
            </a:r>
            <a:br/>
            <a:r>
              <a:rPr lang="en-US" dirty="0"/>
              <a:t>▸ Gauges headline-to-body emotional tension to suppress click-driven fake news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77639"/>
            <a:ext cx="5376672" cy="25146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114800"/>
            <a:ext cx="4919472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D97706"/>
                </a:solidFill>
              </a:defRPr>
            </a:pPr>
            <a:r>
              <a:rPr lang="en-US" dirty="0"/>
              <a:t>3. Temporal Decay Penalty (M_time)</a:t>
            </a:r>
          </a:p>
          <a:p>
            <a:pPr>
              <a:spcBef>
                <a:spcPts val="400"/>
              </a:spcBef>
              <a:defRPr sz="1300">
                <a:solidFill>
                  <a:srgbClr val="0F172A"/>
                </a:solidFill>
              </a:defRPr>
            </a:pPr>
            <a:r>
              <a:rPr lang="en-US" dirty="0"/>
              <a:t>▸ Targets the common pattern of years-old rumors being repackaged and re-shared</a:t>
            </a:r>
            <a:br/>
            <a:r>
              <a:rPr lang="en-US" dirty="0"/>
              <a:t>▸ Introduces an exponential temporal decay model</a:t>
            </a:r>
            <a:br/>
            <a:r>
              <a:rPr lang="en-US" dirty="0"/>
              <a:t>▸ Automatically adds penalties for old, unverified events lacking recent corroboration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977639"/>
            <a:ext cx="5376672" cy="251460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114800"/>
            <a:ext cx="4919472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059669"/>
                </a:solidFill>
              </a:defRPr>
            </a:pPr>
            <a:r>
              <a:rPr lang="en-US" dirty="0"/>
              <a:t>4. Crowdsourced Reporting Signal (M_crowd)</a:t>
            </a:r>
          </a:p>
          <a:p>
            <a:pPr>
              <a:spcBef>
                <a:spcPts val="400"/>
              </a:spcBef>
              <a:defRPr sz="1300">
                <a:solidFill>
                  <a:srgbClr val="0F172A"/>
                </a:solidFill>
              </a:defRPr>
            </a:pPr>
            <a:r>
              <a:rPr lang="en-US" dirty="0"/>
              <a:t>▸ Integrates community report frequency and dispute indicators</a:t>
            </a:r>
            <a:br/>
            <a:r>
              <a:rPr lang="en-US" dirty="0"/>
              <a:t>▸ Consensus ratio across multiple fact-checkers on the same topic</a:t>
            </a:r>
            <a:br/>
            <a:r>
              <a:rPr lang="en-US" dirty="0"/>
              <a:t>▸ Produces the rule-based base score S_base ∈ [0, 100], a solid multi-feature foundation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56032"/>
            <a:ext cx="2926080" cy="292608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0369A1"/>
                </a:solidFill>
                <a:latin typeface="Calibri"/>
              </a:defRPr>
            </a:pPr>
            <a:r>
              <a:rPr lang="en-US" dirty="0"/>
              <a:t>DYNAMIC EVIDENCE FUSION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rPr lang="en-US" dirty="0"/>
              <a:t>Dynamic Evidence Fusion: Evidence-Led and Adaptively Weighted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5376672" cy="525780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49194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369A1"/>
                </a:solidFill>
              </a:defRPr>
            </a:pPr>
            <a:r>
              <a:rPr lang="en-US" dirty="0"/>
              <a:t>📐 Dynamic Fusion Formulation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4919472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q_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5" y="2167128"/>
            <a:ext cx="4389120" cy="2834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926080"/>
            <a:ext cx="49194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369A1"/>
                </a:solidFill>
              </a:defRPr>
            </a:pPr>
            <a:r>
              <a:rPr lang="en-US" dirty="0"/>
              <a:t>📊 Adaptive Weight Function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91840"/>
            <a:ext cx="4919472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eq_weigh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576" y="3584448"/>
            <a:ext cx="4114800" cy="8778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846320"/>
            <a:ext cx="491947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0F172A"/>
                </a:solidFill>
              </a:defRPr>
            </a:pPr>
            <a:r>
              <a:rPr lang="en-US" dirty="0"/>
              <a:t>▸ S_base fuses domain blacklist, emotional agitation and temporal decay</a:t>
            </a:r>
            <a:br/>
            <a:r>
              <a:rPr lang="en-US" dirty="0"/>
              <a:t>▸ With census evidence, evidence leads at 90% — no pure-model misjudgment!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234440"/>
            <a:ext cx="5376672" cy="251460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371600"/>
            <a:ext cx="4919472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59669"/>
                </a:solidFill>
              </a:defRPr>
            </a:pPr>
            <a:r>
              <a:rPr lang="en-US" dirty="0"/>
              <a:t>🎯 Case A: Census Hit (fc_hit = True)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</a:defRPr>
            </a:pPr>
            <a:r>
              <a:rPr lang="en-US" dirty="0"/>
              <a:t>▸ Weight setting: w_fusion = 0.10 (LLM contributes only 10%)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</a:defRPr>
            </a:pPr>
            <a:r>
              <a:rPr lang="en-US" dirty="0"/>
              <a:t>▸ Core logic: an IFCN-certified report already exists, so verified evidence leads (90% share)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</a:defRPr>
            </a:pPr>
            <a:r>
              <a:rPr lang="en-US" dirty="0"/>
              <a:t>▸ Benefit: avoids reverse misjudgment from an unconstrained model; the authoritative evidence chain always takes priority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977639"/>
            <a:ext cx="5376672" cy="2514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114800"/>
            <a:ext cx="4919472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D9488"/>
                </a:solidFill>
              </a:defRPr>
            </a:pPr>
            <a:r>
              <a:rPr lang="en-US" dirty="0"/>
              <a:t>🔍 Case B: Census Miss (fc_hit = False)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</a:defRPr>
            </a:pPr>
            <a:r>
              <a:rPr lang="en-US" dirty="0"/>
              <a:t>▸ Weight setting: w_fusion = 0.60 (LLM raised to 60%)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</a:defRPr>
            </a:pPr>
            <a:r>
              <a:rPr lang="en-US" dirty="0"/>
              <a:t>▸ Core logic: for brand-new unseen articles, local Gemma-4 performs deep semantic reasoning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</a:defRPr>
            </a:pPr>
            <a:r>
              <a:rPr lang="en-US" dirty="0"/>
              <a:t>▸ Safety floor: 40% Metadata (domain blacklist, sentiment) is retained as a rule-based line of defense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56032"/>
            <a:ext cx="2926080" cy="292608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0369A1"/>
                </a:solidFill>
                <a:latin typeface="Calibri"/>
              </a:defRPr>
            </a:pPr>
            <a:r>
              <a:rPr lang="en-US" dirty="0"/>
              <a:t>ASYMMETRIC SAFETY ANCHORING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rPr lang="en-US" dirty="0"/>
              <a:t>Asymmetric Safety Anchoring: Hard Score Clamping to Eliminate Model False Negatives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5376672" cy="5257800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49194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BE123C"/>
                </a:solidFill>
              </a:defRPr>
            </a:pPr>
            <a:r>
              <a:rPr lang="en-US" dirty="0"/>
              <a:t>🛡️ Asymmetric Safety Anchoring Model</a:t>
            </a:r>
          </a:p>
          <a:p>
            <a:pPr>
              <a:spcBef>
                <a:spcPts val="300"/>
              </a:spcBef>
              <a:defRPr sz="1250">
                <a:solidFill>
                  <a:srgbClr val="0F172A"/>
                </a:solidFill>
              </a:defRPr>
            </a:pPr>
            <a:r>
              <a:rPr lang="en-US" dirty="0"/>
              <a:t>Generative-AI fake news is often impeccably written. To stop a prompt-only LLM from misjudging it as credible, the system applies asymmetric clamping: once retrieval identifies a known rumor, score clamping is enforced immediately!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743200"/>
            <a:ext cx="4919472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q_cla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3438144"/>
            <a:ext cx="4663440" cy="8503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074920"/>
            <a:ext cx="49194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BE123C"/>
                </a:solidFill>
              </a:defRPr>
            </a:pPr>
            <a:r>
              <a:rPr lang="en-US" dirty="0"/>
              <a:t>▸ Core guarantee: for a confirmed falsehood the score is hard-capped at S ≤ 25 — the model can never overturn it!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34440"/>
            <a:ext cx="5376672" cy="16642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344168"/>
            <a:ext cx="491947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E123C"/>
                </a:solidFill>
              </a:defRPr>
            </a:pPr>
            <a:r>
              <a:rPr lang="en-US" dirty="0"/>
              <a:t>Tier 1: High-Confidence Fabrication</a:t>
            </a:r>
          </a:p>
          <a:p>
            <a:pPr>
              <a:spcBef>
                <a:spcPts val="300"/>
              </a:spcBef>
              <a:defRPr sz="1200" b="1">
                <a:solidFill>
                  <a:srgbClr val="0F172A"/>
                </a:solidFill>
              </a:defRPr>
            </a:pPr>
            <a:r>
              <a:rPr lang="en-US" dirty="0"/>
              <a:t>Condition: sim ≥ 0.85 and inaccurate | Action: S_final = min(S_fused, 25.0)</a:t>
            </a:r>
          </a:p>
          <a:p>
            <a:pPr>
              <a:spcBef>
                <a:spcPts val="300"/>
              </a:spcBef>
              <a:defRPr sz="1150">
                <a:solidFill>
                  <a:srgbClr val="475569"/>
                </a:solidFill>
              </a:defRPr>
            </a:pPr>
            <a:r>
              <a:rPr lang="en-US" dirty="0"/>
              <a:t>Hard-locked as [Severely Suspicious Fabrication], score capped at 25 — no compromise.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044952"/>
            <a:ext cx="5376672" cy="16642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154680"/>
            <a:ext cx="491947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97706"/>
                </a:solidFill>
              </a:defRPr>
            </a:pPr>
            <a:r>
              <a:rPr lang="en-US" dirty="0"/>
              <a:t>Tier 2: Medium-High Confidence Rumor Match</a:t>
            </a:r>
          </a:p>
          <a:p>
            <a:pPr>
              <a:spcBef>
                <a:spcPts val="300"/>
              </a:spcBef>
              <a:defRPr sz="1200" b="1">
                <a:solidFill>
                  <a:srgbClr val="0F172A"/>
                </a:solidFill>
              </a:defRPr>
            </a:pPr>
            <a:r>
              <a:rPr lang="en-US" dirty="0"/>
              <a:t>Condition: 0.72 ≤ sim &lt; 0.85 and inaccurate | Action: S_final = min(S_fused, 50.0)</a:t>
            </a:r>
          </a:p>
          <a:p>
            <a:pPr>
              <a:spcBef>
                <a:spcPts val="300"/>
              </a:spcBef>
              <a:defRPr sz="1150">
                <a:solidFill>
                  <a:srgbClr val="475569"/>
                </a:solidFill>
              </a:defRPr>
            </a:pPr>
            <a:r>
              <a:rPr lang="en-US" dirty="0"/>
              <a:t>Locked as [Unverified Warning], score capped at 50, risk force-flagged.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855464"/>
            <a:ext cx="5376672" cy="16642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965192"/>
            <a:ext cx="491947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</a:defRPr>
            </a:pPr>
            <a:r>
              <a:rPr lang="en-US" dirty="0"/>
              <a:t>Tier 3: Partially False or Disputed</a:t>
            </a:r>
          </a:p>
          <a:p>
            <a:pPr>
              <a:spcBef>
                <a:spcPts val="300"/>
              </a:spcBef>
              <a:defRPr sz="1200" b="1">
                <a:solidFill>
                  <a:srgbClr val="0F172A"/>
                </a:solidFill>
              </a:defRPr>
            </a:pPr>
            <a:r>
              <a:rPr lang="en-US" dirty="0"/>
              <a:t>Condition: status ∈ {partial} | Action: S_final = min(S_fused, 55.0)</a:t>
            </a:r>
          </a:p>
          <a:p>
            <a:pPr>
              <a:spcBef>
                <a:spcPts val="300"/>
              </a:spcBef>
              <a:defRPr sz="1150">
                <a:solidFill>
                  <a:srgbClr val="475569"/>
                </a:solidFill>
              </a:defRPr>
            </a:pPr>
            <a:r>
              <a:rPr lang="en-US" dirty="0"/>
              <a:t>Locked as [Partially True / Disputed], score capped at 55, alerting readers to the details.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56032"/>
            <a:ext cx="2926080" cy="292608"/>
          </a:xfrm>
          <a:prstGeom prst="roundRect">
            <a:avLst/>
          </a:prstGeom>
          <a:solidFill>
            <a:srgbClr val="0C4A6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38BDF8"/>
                </a:solidFill>
                <a:latin typeface="Calibri"/>
              </a:defRPr>
            </a:pPr>
            <a:r>
              <a:rPr lang="en-US" dirty="0"/>
              <a:t>LOCAL AUXILIARY LLM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Local Auxiliary LLM Deployment: Strict JSON Grammar Constraints and Viewpoint Distillation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5376672" cy="52578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491947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rPr lang="en-US" dirty="0"/>
              <a:t>🤖 Model Role &amp; Grammar-Constrained Decoding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rPr lang="en-US" dirty="0"/>
              <a:t>▸ Model: Gemma-4-12B (Q4_K_M 4-bit quantized), dedicated to extracting viewpoints and organizing pro/con arguments — never the sole judge.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rPr lang="en-US" dirty="0"/>
              <a:t>▸ Pain point fixed: free-form generation used to leak Markdown, thinking tags (&lt;thought&gt;) or pleasantries in 15–20% of runs, breaking JSON parsing.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rPr lang="en-US" dirty="0"/>
              <a:t>▸ Grammar-Constrained Decoding: format:json with think:false masks illegal syntax directly at the token-decoding layer — 100% (100/100) perfect parse rate!</a:t>
            </a:r>
          </a:p>
          <a:p>
            <a:pPr>
              <a:spcBef>
                <a:spcPts val="800"/>
              </a:spcBef>
              <a:defRPr sz="1300">
                <a:solidFill>
                  <a:srgbClr val="E2E8F0"/>
                </a:solidFill>
              </a:defRPr>
            </a:pPr>
            <a:r>
              <a:rPr lang="en-US" dirty="0"/>
              <a:t>▸ Stable footprint: VRAM holds steady at 9.2 GB; a single RTX 2080 Ti runs it smoothly.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234440"/>
            <a:ext cx="5376672" cy="52578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17320"/>
            <a:ext cx="491947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rPr lang="en-US" dirty="0"/>
              <a:t>📋 Strict JSON Output Schema</a:t>
            </a:r>
          </a:p>
          <a:p>
            <a:pPr>
              <a:spcBef>
                <a:spcPts val="600"/>
              </a:spcBef>
              <a:defRPr sz="1250">
                <a:solidFill>
                  <a:srgbClr val="94A3B8"/>
                </a:solidFill>
              </a:defRPr>
            </a:pPr>
            <a:r>
              <a:rPr lang="en-US" dirty="0"/>
              <a:t>Four mandatory standard key-values are emitted for real-time front-end rendering:</a:t>
            </a:r>
          </a:p>
          <a:p>
            <a:pPr>
              <a:spcBef>
                <a:spcPts val="800"/>
              </a:spcBef>
              <a:defRPr sz="1250">
                <a:solidFill>
                  <a:srgbClr val="E2E8F0"/>
                </a:solidFill>
              </a:defRPr>
            </a:pPr>
            <a:r>
              <a:rPr lang="en-US" dirty="0"/>
              <a:t>• key_points (Array&lt;string&gt;): list of the article's core claims and disputed points</a:t>
            </a:r>
          </a:p>
          <a:p>
            <a:pPr>
              <a:spcBef>
                <a:spcPts val="800"/>
              </a:spcBef>
              <a:defRPr sz="1250">
                <a:solidFill>
                  <a:srgbClr val="E2E8F0"/>
                </a:solidFill>
              </a:defRPr>
            </a:pPr>
            <a:r>
              <a:rPr lang="en-US" dirty="0"/>
              <a:t>• viewpoints (string): balanced third-party authoritative stance (≤80 chars)</a:t>
            </a:r>
          </a:p>
          <a:p>
            <a:pPr>
              <a:spcBef>
                <a:spcPts val="800"/>
              </a:spcBef>
              <a:defRPr sz="1250">
                <a:solidFill>
                  <a:srgbClr val="E2E8F0"/>
                </a:solidFill>
              </a:defRPr>
            </a:pPr>
            <a:r>
              <a:rPr lang="en-US" dirty="0"/>
              <a:t>• credibility_score (integer): semantic-logic credibility score (0-100)</a:t>
            </a:r>
          </a:p>
          <a:p>
            <a:pPr>
              <a:spcBef>
                <a:spcPts val="800"/>
              </a:spcBef>
              <a:defRPr sz="1250">
                <a:solidFill>
                  <a:srgbClr val="E2E8F0"/>
                </a:solidFill>
              </a:defRPr>
            </a:pPr>
            <a:r>
              <a:rPr lang="en-US" dirty="0"/>
              <a:t>• analysis (string): brief fact-check verdict summary (≤100 chars)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56032"/>
            <a:ext cx="2926080" cy="292608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0369A1"/>
                </a:solidFill>
                <a:latin typeface="Calibri"/>
              </a:defRPr>
            </a:pPr>
            <a:r>
              <a:rPr lang="en-US" dirty="0"/>
              <a:t>CLIENT-SIDE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rPr lang="en-US" dirty="0"/>
              <a:t>Client-Side Extension Implementation: Chrome Manifest V3 and a Frictionless Experience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3520440" cy="525780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30632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369A1"/>
                </a:solidFill>
              </a:defRPr>
            </a:pPr>
            <a:r>
              <a:rPr lang="en-US" dirty="0"/>
              <a:t>🧩 Chrome MV3 Architecture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rPr lang="en-US" dirty="0"/>
              <a:t>▸ Follows the latest Google Chrome Manifest V3 specification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rPr lang="en-US" dirty="0"/>
              <a:t>▸ Service Worker background scheduling with very low resource overhead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rPr lang="en-US" dirty="0"/>
              <a:t>▸ Automatic DOM parsing for Facebook News Feed, LINE Web, X (Twitter), news sites and more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rPr lang="en-US" dirty="0"/>
              <a:t>▸ Local loopback (127.0.0.1:5000) communication, with no cross-origin network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4256" y="1234440"/>
            <a:ext cx="3520440" cy="5257800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2856" y="1417320"/>
            <a:ext cx="30632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766E"/>
                </a:solidFill>
              </a:defRPr>
            </a:pPr>
            <a:r>
              <a:rPr lang="en-US" dirty="0"/>
              <a:t>👀 MutationObserver Monitoring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rPr lang="en-US" dirty="0"/>
              <a:t>▸ Optimized for infinite-scroll social feeds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rPr lang="en-US" dirty="0"/>
              <a:t>▸ Captures title, body text and publication source as post nodes enter the viewport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rPr lang="en-US" dirty="0"/>
              <a:t>▸ Asynchronous background batching keeps everyday scrolling perfectly smooth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rPr lang="en-US" dirty="0"/>
              <a:t>▸ Automatically filters ads and unrelated UI nodes to isolate the article body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234440"/>
            <a:ext cx="3520440" cy="525780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8472" y="1417320"/>
            <a:ext cx="30632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59669"/>
                </a:solidFill>
              </a:defRPr>
            </a:pPr>
            <a:r>
              <a:rPr lang="en-US" dirty="0"/>
              <a:t>🏷️ Floating Interactive Badge UI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rPr lang="en-US" dirty="0"/>
              <a:t>▸ Injects a lightweight score badge at the post's top-right:</a:t>
            </a:r>
            <a:br/>
            <a:r>
              <a:rPr lang="en-US" dirty="0"/>
              <a:t>  🔴 Red: highly likely fake news (0-39)</a:t>
            </a:r>
            <a:br/>
            <a:r>
              <a:rPr lang="en-US" dirty="0"/>
              <a:t>  🟡 Yellow: doubtful / partially false (40-69)</a:t>
            </a:r>
            <a:br/>
            <a:r>
              <a:rPr lang="en-US" dirty="0"/>
              <a:t>  🟢 Green: authoritative credible source (70-100)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rPr lang="en-US" dirty="0"/>
              <a:t>▸ One click pops up the fact-check detail panel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rPr lang="en-US" dirty="0"/>
              <a:t>▸ Shows the original IFCN verification report link, key summary and balanced multi-party viewpoints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56032"/>
            <a:ext cx="2926080" cy="292608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0369A1"/>
                </a:solidFill>
                <a:latin typeface="Calibri"/>
              </a:defRPr>
            </a:pPr>
            <a:r>
              <a:rPr lang="en-US" dirty="0"/>
              <a:t>EVALUATION: LATENCY &amp;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rPr lang="en-US" dirty="0"/>
              <a:t>Evaluation 1: Multi-Layer Latency Measurement and Real Hardware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352044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44168"/>
            <a:ext cx="3063240" cy="1380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800" b="1">
                <a:solidFill>
                  <a:srgbClr val="0284C7"/>
                </a:solidFill>
                <a:latin typeface="Calibri"/>
              </a:defRPr>
            </a:pPr>
            <a:r>
              <a:rPr lang="en-US" dirty="0"/>
              <a:t>1.48 ms</a:t>
            </a:r>
          </a:p>
          <a:p>
            <a:pPr>
              <a:spcBef>
                <a:spcPts val="200"/>
              </a:spcBef>
              <a:defRPr sz="1550" b="1">
                <a:solidFill>
                  <a:srgbClr val="0F172A"/>
                </a:solidFill>
                <a:latin typeface="Calibri"/>
              </a:defRPr>
            </a:pPr>
            <a:r>
              <a:rPr lang="en-US" dirty="0"/>
              <a:t>SBERT fact-check retrieval latency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rPr lang="en-US" dirty="0"/>
              <a:t>CPU memory-mapped retrieval, near-zero latency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4256" y="1234440"/>
            <a:ext cx="352044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2856" y="1344168"/>
            <a:ext cx="3063240" cy="1380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800" b="1">
                <a:solidFill>
                  <a:srgbClr val="0D9488"/>
                </a:solidFill>
                <a:latin typeface="Calibri"/>
              </a:defRPr>
            </a:pPr>
            <a:r>
              <a:rPr lang="en-US" dirty="0"/>
              <a:t>46.7 tok/s</a:t>
            </a:r>
          </a:p>
          <a:p>
            <a:pPr>
              <a:spcBef>
                <a:spcPts val="200"/>
              </a:spcBef>
              <a:defRPr sz="1550" b="1">
                <a:solidFill>
                  <a:srgbClr val="0F172A"/>
                </a:solidFill>
                <a:latin typeface="Calibri"/>
              </a:defRPr>
            </a:pPr>
            <a:r>
              <a:rPr lang="en-US" dirty="0"/>
              <a:t>Gemma-4-12B generation speed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rPr lang="en-US" dirty="0"/>
              <a:t>First-token latency (TTFT) just 200 ms — extremely fast output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234440"/>
            <a:ext cx="352044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8472" y="1344168"/>
            <a:ext cx="3063240" cy="1380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800" b="1">
                <a:solidFill>
                  <a:srgbClr val="10B981"/>
                </a:solidFill>
                <a:latin typeface="Calibri"/>
              </a:defRPr>
            </a:pPr>
            <a:r>
              <a:rPr lang="en-US" dirty="0"/>
              <a:t>9.2 GB</a:t>
            </a:r>
          </a:p>
          <a:p>
            <a:pPr>
              <a:spcBef>
                <a:spcPts val="200"/>
              </a:spcBef>
              <a:defRPr sz="1550" b="1">
                <a:solidFill>
                  <a:srgbClr val="0F172A"/>
                </a:solidFill>
                <a:latin typeface="Calibri"/>
              </a:defRPr>
            </a:pPr>
            <a:r>
              <a:rPr lang="en-US" dirty="0"/>
              <a:t>Peak GPU VRAM footprint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rPr lang="en-US" dirty="0"/>
              <a:t>Runs smoothly on a single RTX 2080 Ti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3063240"/>
          <a:ext cx="11094415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2560320"/>
                <a:gridCol w="5059375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Operational Tier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Empirical Measurement</a:t>
                      </a:r>
                    </a:p>
                  </a:txBody>
                  <a:tcPr anchor="ctr"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Architecture &amp; Engineering Notes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SBERT fact-check census retrieval (Fast-Path)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1.48 ms (median &lt; 2 ms)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CPU-resident in memory; hits return instantly with zero GPU contention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Local LLM first-token latency (TTFT proxy)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200 ms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The local Ollama daemon preloads the weights and starts token generation immediately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Local LLM generation throughput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46.7 tok/s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4-bit Q4_K_M quantization; a single viewpoint analysis (~150 tok) takes only 3.2 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JSON schema compliance 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100% (100 / 100 runs)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format:json grammar-constrained masking eliminates syntax collapse and tag pollution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End-to-end /judge full response (single pass)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3.5 s (including DOM and audit)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9.2 GB held steady on a single RTX 2080 Ti, with no system swap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56032"/>
            <a:ext cx="2926080" cy="292608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0369A1"/>
                </a:solidFill>
                <a:latin typeface="Calibri"/>
              </a:defRPr>
            </a:pPr>
            <a:r>
              <a:rPr lang="en-US" dirty="0"/>
              <a:t>EVALUATION: 5-FOLD CROSS-VALIDATION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rPr lang="en-US" dirty="0"/>
              <a:t>Evaluation 2: Full-Corpus 5-Fold Cross-Validation and Multi-Level Perturbation Stress Test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34440"/>
          <a:ext cx="11082528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359152"/>
                <a:gridCol w="2359152"/>
                <a:gridCol w="2359152"/>
                <a:gridCol w="2359152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Threshold θ_sim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Verbatim (no perturbation)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Mild (prefix noise)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Medium (synonym rewrite)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Heavy (structural scrambling)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θ = 0.55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Cov: 95% | Acc: 91% | F1: 0.95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Cov: 95% | Acc: 89% | F1: 0.94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Cov: 95% | Acc: 90% | F1: 0.94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Cov: 92% | Acc: 89% | F1: 0.94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θ = 0.65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Cov: 75% | Acc: 94% | F1: 0.96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Cov: 75% | Acc: 92% | F1: 0.96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Cov: 73% | Acc: 93% | F1: 0.96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Cov: 63% | Acc: 92% | F1: 0.96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★ θ = 0.72 ★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Cov: 55.2% | Acc: 95.3% | F1: 0.974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Cov: 54.0% | Acc: 95.0% | F1: 0.970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Cov: 50.0% | Acc: 95.4% | F1: 0.975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Cov: 39.0% | Acc: 94.4% | F1: 0.970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θ = 0.85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Cov: 27% | Acc: 97% | F1: 0.98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Cov: 24% | Acc: 96% | F1: 0.98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Cov: 20% | Acc: 96% | F1: 0.98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Cov: 8% | Acc: 97% | F1: 0.99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892040"/>
            <a:ext cx="11094415" cy="160020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010912"/>
            <a:ext cx="106372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369A1"/>
                </a:solidFill>
              </a:defRPr>
            </a:pPr>
            <a:r>
              <a:rPr lang="en-US" dirty="0"/>
              <a:t>💡 Key Cross-Validation Findings &amp; Robustness Analysis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rPr lang="en-US" dirty="0"/>
              <a:t>▸ [Golden balance point θ_sim = 0.72]: coverage 55.2% at 95.3% accuracy (F1 = 0.974) — the best coverage/precision trade-off.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rPr lang="en-US" dirty="0"/>
              <a:t>▸ [Strong perturbation resilience]: under medium random synonym substitution the accuracy still holds at 95.4% (F1 = 0.975), confirming excellent generalization of the SBERT semantic space.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rPr lang="en-US" dirty="0"/>
              <a:t>▸ [Strict leakage-free protocol]: each fold's test set is excluded from the candidate pool, so there is no self-matching leakage; Top-1 true recall reaches 99.9%.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56032"/>
            <a:ext cx="2926080" cy="292608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0369A1"/>
                </a:solidFill>
                <a:latin typeface="Calibri"/>
              </a:defRPr>
            </a:pPr>
            <a:r>
              <a:rPr lang="en-US" dirty="0"/>
              <a:t>PARADIGM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rPr lang="en-US" dirty="0"/>
              <a:t>Evaluation 3: Head-to-Head Benchmark Across Four Technical Paradigms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34440"/>
          <a:ext cx="11094415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7615"/>
                <a:gridCol w="1645920"/>
                <a:gridCol w="1645920"/>
                <a:gridCol w="1645920"/>
                <a:gridCol w="1645920"/>
                <a:gridCol w="2103120"/>
              </a:tblGrid>
              <a:tr h="584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Dimension / Metric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Majority Baseline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TF-IDF Features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Domain Only (NewsGuard)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Zero-Shot LLM Only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NewsAnalyzer (proposed)</a:t>
                      </a:r>
                    </a:p>
                  </a:txBody>
                  <a:tcPr anchor="ctr">
                    <a:solidFill>
                      <a:srgbClr val="059669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Fact-check Accuracy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88.4% (inflated)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86.2%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52.1%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78.4%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★ 95.3% ★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Overall F1-Score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0.938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0.912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0.634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0.852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★ 0.974 ★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Support for live social-feed posts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No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Partial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❌ Completely fails (same domain)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Yes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✅ Perfect (DOM-level)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Freshness &amp; dynamic updates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Static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Static model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Static list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❌ Knowledge-cutoff blind spot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✅ Dynamic census corpus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Resistance to stylistic deception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None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Low (rewrite-sensitive)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None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❌ Fooled by objective tone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✅ High (evidence-anchored)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Auditable verification basis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None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None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Hostname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❌ Hallucination risk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✅ IFCN/Cofacts links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Inference response latency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&lt; 1 ms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5 ms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&lt; 1 ms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3.5 ~ 8.0 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⚡ 1.48 ms (fast-path)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Data leakage &amp; privacy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Zero egress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Zero egress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Domain query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❌ High cloud-API risk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🔒 Zero egress (on-device)</a:t>
                      </a:r>
                    </a:p>
                  </a:txBody>
                  <a:tcPr anchor="ctr"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56032"/>
            <a:ext cx="2926080" cy="292608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0369A1"/>
                </a:solidFill>
                <a:latin typeface="Calibri"/>
              </a:defRPr>
            </a:pPr>
            <a:r>
              <a:rPr lang="en-US" dirty="0"/>
              <a:t>LIVE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rPr lang="en-US" dirty="0"/>
              <a:t>Live Case Study: End-to-End Attack/Defense Validation on a Real Content-Farm Article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5376672" cy="525780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491947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369A1"/>
                </a:solidFill>
              </a:defRPr>
            </a:pPr>
            <a:r>
              <a:rPr lang="en-US" dirty="0"/>
              <a:t>🌐 Real Farm URL Attack/Defense Flow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rPr lang="en-US" dirty="0"/>
              <a:t>▸ Test case: a real health-scam farm article (https://www.pco.tw/news/html/?276.html) claiming a specific herb cures chronic disease.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rPr lang="en-US" dirty="0"/>
              <a:t>▸ Step 1 (DOM interception): the extension automatically grabs the article title and ~1,200 characters of body text and posts them to POST /judge.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rPr lang="en-US" dirty="0"/>
              <a:t>▸ Step 2 (SBERT retrieval): no fully matching historical record exists (sim &lt; 0.72), so it returns not_found.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rPr lang="en-US" dirty="0"/>
              <a:t>▸ Step 3 (Metadata engine engaged):</a:t>
            </a:r>
            <a:br/>
            <a:r>
              <a:rPr lang="en-US" dirty="0"/>
              <a:t>  - pco.tw matches the local content-farm blacklist</a:t>
            </a:r>
            <a:br/>
            <a:r>
              <a:rPr lang="en-US" dirty="0"/>
              <a:t>  - exaggerated wellness wording and extreme emotional tension detected</a:t>
            </a:r>
            <a:br/>
            <a:r>
              <a:rPr lang="en-US" dirty="0"/>
              <a:t>  - HTTP base rule score heavily penalized (S_base = 12.5)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234440"/>
            <a:ext cx="5376672" cy="5257800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17320"/>
            <a:ext cx="491947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E123C"/>
                </a:solidFill>
              </a:defRPr>
            </a:pPr>
            <a:r>
              <a:rPr lang="en-US" dirty="0"/>
              <a:t>🚨 Final Verdict &amp; Extracted Viewpoints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rPr lang="en-US" dirty="0"/>
              <a:t>▸ Step 4 (local Gemma auxiliary extraction):</a:t>
            </a:r>
            <a:br/>
            <a:r>
              <a:rPr lang="en-US" dirty="0"/>
              <a:t>  - core dispute successfully extracted (exaggerated efficacy)</a:t>
            </a:r>
            <a:br/>
            <a:r>
              <a:rPr lang="en-US" dirty="0"/>
              <a:t>  - mainstream medical counter-viewpoint provided (viewpoints ≤80 chars)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rPr lang="en-US" dirty="0"/>
              <a:t>▸ Step 5 (dynamic fusion computation):</a:t>
            </a:r>
            <a:br/>
            <a:r>
              <a:rPr lang="en-US" dirty="0"/>
              <a:t>  - not in the census, so w_fusion = 0.60 is assigned</a:t>
            </a:r>
            <a:br/>
            <a:r>
              <a:rPr lang="en-US" dirty="0"/>
              <a:t>  - fused score: S_fused = 0.40×(12.5) + 0.60×(18.0) = 15.8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rPr lang="en-US" dirty="0"/>
              <a:t>▸ Final verdict: [Highly Likely Fabricated] (Score: 15.9 / 100)</a:t>
            </a:r>
            <a:br/>
            <a:r>
              <a:rPr lang="en-US" dirty="0"/>
              <a:t>  - the front-end badge lights up red instantly</a:t>
            </a:r>
            <a:br/>
            <a:r>
              <a:rPr lang="en-US" dirty="0"/>
              <a:t>  - demonstrating that multi-signal Metadata still defends accurately when an article is "not in the corpus"!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56032"/>
            <a:ext cx="2926080" cy="292608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100" b="1">
                <a:solidFill>
                  <a:srgbClr val="0369A1"/>
                </a:solidFill>
                <a:latin typeface="Calibri"/>
              </a:defRPr>
            </a:pPr>
            <a:r>
              <a:rPr lang="en-US" dirty="0"/>
              <a:t>DISCUSSION &amp;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rPr lang="en-US" dirty="0"/>
              <a:t>Limitations &amp; Discussion: Cross-Script Semantic Transfer Challenges and Seed-Corpus Boundaries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5376672" cy="5257800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491947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E123C"/>
                </a:solidFill>
              </a:defRPr>
            </a:pPr>
            <a:r>
              <a:rPr lang="en-US" dirty="0"/>
              <a:t>📉 Measured Cross-Script Transfer Gap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rPr lang="en-US" dirty="0"/>
              <a:t>▸ Cross-domain benchmark: the SBERT index trained on Taiwan's Cofacts data was evaluated directly against the Simplified-Chinese WSDM 2019 fake-news dataset.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rPr lang="en-US" dirty="0"/>
              <a:t>▸ Measured result: retrieval accuracy plunges from 100% to 55.3%.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rPr lang="en-US" dirty="0"/>
              <a:t>▸ Root causes decomposed:</a:t>
            </a:r>
            <a:br/>
            <a:r>
              <a:rPr lang="en-US" dirty="0"/>
              <a:t>  1. Lexical and local naming differences (e.g., TW 健保/食藥署/外送員 vs. CN 醫保/市監局/外賣小哥)</a:t>
            </a:r>
            <a:br/>
            <a:r>
              <a:rPr lang="en-US" dirty="0"/>
              <a:t>  2. Completely different political and social current-affairs context</a:t>
            </a:r>
            <a:br/>
            <a:r>
              <a:rPr lang="en-US" dirty="0"/>
              <a:t>  3. Marked semantic-space shift in syntax and popular slang (domain shift)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234440"/>
            <a:ext cx="5376672" cy="525780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17320"/>
            <a:ext cx="4919472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369A1"/>
                </a:solidFill>
              </a:defRPr>
            </a:pPr>
            <a:r>
              <a:rPr lang="en-US" dirty="0"/>
              <a:t>💡 Academic Implications &amp; System Design Principles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rPr lang="en-US" dirty="0"/>
              <a:t>▸ A one-size-fits-all fake-news model does not exist:</a:t>
            </a:r>
            <a:br/>
            <a:r>
              <a:rPr lang="en-US" dirty="0"/>
              <a:t>  fake news depends heavily on local social and cultural context.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rPr lang="en-US" dirty="0"/>
              <a:t>▸ The necessity of a Localized Seed Corpus:</a:t>
            </a:r>
            <a:br/>
            <a:r>
              <a:rPr lang="en-US" dirty="0"/>
              <a:t>  a fact-checking system must bind deeply with civic fact-checking organizations in the target region and sync local databases regularly.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rPr lang="en-US" dirty="0"/>
              <a:t>▸ Cold-Start Optimization:</a:t>
            </a:r>
            <a:br/>
            <a:r>
              <a:rPr lang="en-US" dirty="0"/>
              <a:t>  SBERT loading once took 108 s; static memory mapping (mmap) reduces resident startup to seconds.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48640"/>
            <a:ext cx="11094415" cy="5760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22960"/>
            <a:ext cx="101800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rPr lang="en-US" dirty="0"/>
              <a:t>CONCLUSION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101800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lang="en-US" dirty="0"/>
              <a:t>Conclusion: Reshaping the Fact-Checking Frontline with Evidence Census and Multi-Signal Fusion</a:t>
            </a:r>
          </a:p>
          <a:p>
            <a:pPr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rPr lang="en-US" dirty="0"/>
              <a:t>NewsAnalyzer proves that "census + Metadata fusion" is the most reliable and privacy-preserving architectural path for tackling social fake news. Across 2,292 real fact-check samples it attains 95.3% accuracy and a 1.48 ms instant response, decisively breaking the hallucination bottleneck of prompt-only LLM judgment.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2834640"/>
            <a:ext cx="3154680" cy="18288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971800"/>
            <a:ext cx="282549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rPr lang="en-US" dirty="0"/>
              <a:t>🎬 1. Multimodal Cross-Media Detection</a:t>
            </a:r>
          </a:p>
          <a:p>
            <a:pPr>
              <a:spcBef>
                <a:spcPts val="600"/>
              </a:spcBef>
              <a:defRPr sz="1250">
                <a:solidFill>
                  <a:srgbClr val="94A3B8"/>
                </a:solidFill>
              </a:defRPr>
            </a:pPr>
            <a:r>
              <a:rPr lang="en-US" dirty="0"/>
              <a:t>Extend to OCR and multimodal matching for edited "elder memes", DeepFake short videos and social info-card screenshots.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17136" y="2834640"/>
            <a:ext cx="3154680" cy="18288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2971800"/>
            <a:ext cx="282549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rPr lang="en-US" dirty="0"/>
              <a:t>🔄 2. Joint Cross-Agency Census API</a:t>
            </a:r>
          </a:p>
          <a:p>
            <a:pPr>
              <a:spcBef>
                <a:spcPts val="600"/>
              </a:spcBef>
              <a:defRPr sz="1250">
                <a:solidFill>
                  <a:srgbClr val="94A3B8"/>
                </a:solidFill>
              </a:defRPr>
            </a:pPr>
            <a:r>
              <a:rPr lang="en-US" dirty="0"/>
              <a:t>Build automated incremental sync pipelines with TFC, MyGoPen and Cofacts to keep the census updated in real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1" y="2834640"/>
            <a:ext cx="3154680" cy="18288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3023" y="2971800"/>
            <a:ext cx="282549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rPr lang="en-US" dirty="0"/>
              <a:t>🌐 3. Open Source &amp; Ecosystem Fit</a:t>
            </a:r>
          </a:p>
          <a:p>
            <a:pPr>
              <a:spcBef>
                <a:spcPts val="600"/>
              </a:spcBef>
              <a:defRPr sz="1250">
                <a:solidFill>
                  <a:srgbClr val="94A3B8"/>
                </a:solidFill>
              </a:defRPr>
            </a:pPr>
            <a:r>
              <a:rPr lang="en-US" dirty="0"/>
              <a:t>Support the Firefox / Safari multi-browser ecosystem and open the community API for local civic tech.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892040"/>
            <a:ext cx="1018001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34D399"/>
                </a:solidFill>
              </a:defRPr>
            </a:pPr>
            <a:r>
              <a:rPr lang="en-US" dirty="0"/>
              <a:t>🔗 Full open-source project and test dataset: https://github.com/min20120907/NewsAnalyzer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rPr lang="en-US" dirty="0"/>
              <a:t>Thank you for listening · Questions &amp; comments welcome (Q&amp;A)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