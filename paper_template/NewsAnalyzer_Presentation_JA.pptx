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48640"/>
            <a:ext cx="11094415" cy="5760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05840" y="914400"/>
            <a:ext cx="3840480" cy="347472"/>
          </a:xfrm>
          <a:prstGeom prst="roundRect">
            <a:avLst/>
          </a:prstGeom>
          <a:solidFill>
            <a:srgbClr val="0C4A6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38BDF8"/>
                </a:solidFill>
              </a:defRPr>
            </a:pPr>
            <a:r>
              <a:rPr lang="ja-JP" dirty="0">
                <a:ea typeface="Meiryo"/>
              </a:rPr>
              <a:t>ACADEMIC PRESENTATION · UBI-MEDIA 2027</a:t>
            </a:r>
          </a:p>
        </p:txBody>
      </p:sp>
      <p:sp>
        <p:nvSpPr>
          <p:cNvPr id="5" name="TextBox 4"/>
          <p:cNvSpPr txBox="1"/>
          <p:nvPr/>
        </p:nvSpPr>
        <p:spPr>
          <a:xfrm>
            <a:off x="1005840" y="1417320"/>
            <a:ext cx="10180015" cy="1920240"/>
          </a:xfrm>
          <a:prstGeom prst="rect">
            <a:avLst/>
          </a:prstGeom>
          <a:noFill/>
        </p:spPr>
        <p:txBody>
          <a:bodyPr wrap="square">
            <a:spAutoFit/>
          </a:bodyPr>
          <a:lstStyle/>
          <a:p>
            <a:pPr>
              <a:defRPr sz="3200" b="1">
                <a:solidFill>
                  <a:srgbClr val="FFFFFF"/>
                </a:solidFill>
                <a:latin typeface="Calibri"/>
              </a:defRPr>
            </a:pPr>
            <a:r>
              <a:rPr lang="ja-JP" dirty="0">
                <a:ea typeface="Meiryo"/>
              </a:rPr>
              <a:t>NewsAnalyzer：ファクトチェック大盤調査と</a:t>
            </a:r>
            <a:br/>
            <a:r>
              <a:rPr lang="ja-JP" dirty="0">
                <a:ea typeface="Meiryo"/>
              </a:rPr>
              <a:t>多次元メタデータ融合によるリアルタイム偽情報防護体系</a:t>
            </a:r>
          </a:p>
          <a:p>
            <a:pPr>
              <a:spcBef>
                <a:spcPts val="800"/>
              </a:spcBef>
              <a:defRPr sz="1600">
                <a:solidFill>
                  <a:srgbClr val="94A3B8"/>
                </a:solidFill>
                <a:latin typeface="Calibri"/>
              </a:defRPr>
            </a:pPr>
            <a:r>
              <a:rPr lang="ja-JP" dirty="0">
                <a:ea typeface="Meiryo"/>
              </a:rPr>
              <a:t>Real-Time Fake News Detection via Macro Fact-Checking Census &amp; Multi-Signal Metadata Fusion</a:t>
            </a:r>
          </a:p>
        </p:txBody>
      </p:sp>
      <p:sp>
        <p:nvSpPr>
          <p:cNvPr id="6" name="Rounded Rectangle 5"/>
          <p:cNvSpPr/>
          <p:nvPr/>
        </p:nvSpPr>
        <p:spPr>
          <a:xfrm>
            <a:off x="1005840" y="3611880"/>
            <a:ext cx="2423160"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E2E8F0"/>
                </a:solidFill>
              </a:defRPr>
            </a:pPr>
            <a:r>
              <a:rPr lang="ja-JP" dirty="0">
                <a:ea typeface="Meiryo"/>
              </a:rPr>
              <a:t>📊 実査核データ 2,292 件</a:t>
            </a:r>
          </a:p>
        </p:txBody>
      </p:sp>
      <p:sp>
        <p:nvSpPr>
          <p:cNvPr id="7" name="Rounded Rectangle 6"/>
          <p:cNvSpPr/>
          <p:nvPr/>
        </p:nvSpPr>
        <p:spPr>
          <a:xfrm>
            <a:off x="3547872" y="3611880"/>
            <a:ext cx="2423160"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E2E8F0"/>
                </a:solidFill>
              </a:defRPr>
            </a:pPr>
            <a:r>
              <a:rPr lang="ja-JP" dirty="0">
                <a:ea typeface="Meiryo"/>
              </a:rPr>
              <a:t>⚡ 1.48 ms 超高速検索</a:t>
            </a:r>
          </a:p>
        </p:txBody>
      </p:sp>
      <p:sp>
        <p:nvSpPr>
          <p:cNvPr id="8" name="Rounded Rectangle 7"/>
          <p:cNvSpPr/>
          <p:nvPr/>
        </p:nvSpPr>
        <p:spPr>
          <a:xfrm>
            <a:off x="6089904" y="3611880"/>
            <a:ext cx="2423160"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E2E8F0"/>
                </a:solidFill>
              </a:defRPr>
            </a:pPr>
            <a:r>
              <a:rPr lang="ja-JP" dirty="0">
                <a:ea typeface="Meiryo"/>
              </a:rPr>
              <a:t>🔒 100% 端末内プライバシー</a:t>
            </a:r>
          </a:p>
        </p:txBody>
      </p:sp>
      <p:sp>
        <p:nvSpPr>
          <p:cNvPr id="9" name="Rounded Rectangle 8"/>
          <p:cNvSpPr/>
          <p:nvPr/>
        </p:nvSpPr>
        <p:spPr>
          <a:xfrm>
            <a:off x="8631936" y="3611880"/>
            <a:ext cx="2423160" cy="502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E2E8F0"/>
                </a:solidFill>
              </a:defRPr>
            </a:pPr>
            <a:r>
              <a:rPr lang="ja-JP" dirty="0">
                <a:ea typeface="Meiryo"/>
              </a:rPr>
              <a:t>🎯 実証正解率 95.3%</a:t>
            </a:r>
          </a:p>
        </p:txBody>
      </p:sp>
      <p:sp>
        <p:nvSpPr>
          <p:cNvPr id="10" name="TextBox 9"/>
          <p:cNvSpPr txBox="1"/>
          <p:nvPr/>
        </p:nvSpPr>
        <p:spPr>
          <a:xfrm>
            <a:off x="1005840" y="4480560"/>
            <a:ext cx="10180015" cy="1371600"/>
          </a:xfrm>
          <a:prstGeom prst="rect">
            <a:avLst/>
          </a:prstGeom>
          <a:noFill/>
        </p:spPr>
        <p:txBody>
          <a:bodyPr wrap="none">
            <a:spAutoFit/>
          </a:bodyPr>
          <a:lstStyle/>
          <a:p>
            <a:pPr>
              <a:defRPr sz="1500" b="1">
                <a:solidFill>
                  <a:srgbClr val="FFFFFF"/>
                </a:solidFill>
                <a:latin typeface="Calibri"/>
              </a:defRPr>
            </a:pPr>
            <a:r>
              <a:rPr lang="ja-JP" dirty="0">
                <a:ea typeface="Meiryo"/>
              </a:rPr>
              <a:t>報告者：林倉裕（Tsangyu Lin）¹ · 指導教員：惠霖（Hui Lin）¹* · 共同著者：陳聖智（Sheng-Chih Chen）²</a:t>
            </a:r>
          </a:p>
          <a:p>
            <a:pPr>
              <a:spcBef>
                <a:spcPts val="400"/>
              </a:spcBef>
              <a:defRPr sz="1300">
                <a:solidFill>
                  <a:srgbClr val="94A3B8"/>
                </a:solidFill>
                <a:latin typeface="Calibri"/>
              </a:defRPr>
            </a:pPr>
            <a:r>
              <a:rPr lang="ja-JP" dirty="0">
                <a:ea typeface="Meiryo"/>
              </a:rPr>
              <a:t>¹ 淡江大学 情報工学分野 修士課程 Intelligent Computing Lab ｜ ² 国立政治大学 National Chengchi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EXECUTIVE SUMMARY</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研究総覧：「LLM による力任せの推測」から「大盤に基づく実証調査」へ</a:t>
            </a:r>
          </a:p>
        </p:txBody>
      </p:sp>
      <p:sp>
        <p:nvSpPr>
          <p:cNvPr id="5" name="Rounded Rectangle 4"/>
          <p:cNvSpPr/>
          <p:nvPr/>
        </p:nvSpPr>
        <p:spPr>
          <a:xfrm>
            <a:off x="548640" y="1234440"/>
            <a:ext cx="3520440" cy="16916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44168"/>
            <a:ext cx="3063240" cy="1472184"/>
          </a:xfrm>
          <a:prstGeom prst="rect">
            <a:avLst/>
          </a:prstGeom>
          <a:noFill/>
        </p:spPr>
        <p:txBody>
          <a:bodyPr wrap="square" lIns="0" tIns="0" rIns="0" bIns="0">
            <a:spAutoFit/>
          </a:bodyPr>
          <a:lstStyle/>
          <a:p>
            <a:pPr>
              <a:defRPr sz="3800" b="1">
                <a:solidFill>
                  <a:srgbClr val="0284C7"/>
                </a:solidFill>
                <a:latin typeface="Calibri"/>
              </a:defRPr>
            </a:pPr>
            <a:r>
              <a:rPr lang="ja-JP" dirty="0">
                <a:ea typeface="Meiryo"/>
              </a:rPr>
              <a:t>95.3%</a:t>
            </a:r>
          </a:p>
          <a:p>
            <a:pPr>
              <a:spcBef>
                <a:spcPts val="200"/>
              </a:spcBef>
              <a:defRPr sz="1550" b="1">
                <a:solidFill>
                  <a:srgbClr val="0F172A"/>
                </a:solidFill>
                <a:latin typeface="Calibri"/>
              </a:defRPr>
            </a:pPr>
            <a:r>
              <a:rPr lang="ja-JP" dirty="0">
                <a:ea typeface="Meiryo"/>
              </a:rPr>
              <a:t>ファクトチェック正解率（Accuracy）</a:t>
            </a:r>
          </a:p>
          <a:p>
            <a:pPr>
              <a:spcBef>
                <a:spcPts val="200"/>
              </a:spcBef>
              <a:defRPr sz="1200">
                <a:solidFill>
                  <a:srgbClr val="475569"/>
                </a:solidFill>
                <a:latin typeface="Calibri"/>
              </a:defRPr>
            </a:pPr>
            <a:r>
              <a:rPr lang="ja-JP" dirty="0">
                <a:ea typeface="Meiryo"/>
              </a:rPr>
              <a:t>5分割交差検証で F1 = 0.974、プロンプトのみの LLM（78.4%）を大きく上回る</a:t>
            </a:r>
          </a:p>
        </p:txBody>
      </p:sp>
      <p:sp>
        <p:nvSpPr>
          <p:cNvPr id="7" name="Rounded Rectangle 6"/>
          <p:cNvSpPr/>
          <p:nvPr/>
        </p:nvSpPr>
        <p:spPr>
          <a:xfrm>
            <a:off x="4334256" y="1234440"/>
            <a:ext cx="3520440" cy="16916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344168"/>
            <a:ext cx="3063240" cy="1472184"/>
          </a:xfrm>
          <a:prstGeom prst="rect">
            <a:avLst/>
          </a:prstGeom>
          <a:noFill/>
        </p:spPr>
        <p:txBody>
          <a:bodyPr wrap="square" lIns="0" tIns="0" rIns="0" bIns="0">
            <a:spAutoFit/>
          </a:bodyPr>
          <a:lstStyle/>
          <a:p>
            <a:pPr>
              <a:defRPr sz="3800" b="1">
                <a:solidFill>
                  <a:srgbClr val="0D9488"/>
                </a:solidFill>
                <a:latin typeface="Calibri"/>
              </a:defRPr>
            </a:pPr>
            <a:r>
              <a:rPr lang="ja-JP" dirty="0">
                <a:ea typeface="Meiryo"/>
              </a:rPr>
              <a:t>1.48 ms</a:t>
            </a:r>
          </a:p>
          <a:p>
            <a:pPr>
              <a:spcBef>
                <a:spcPts val="200"/>
              </a:spcBef>
              <a:defRPr sz="1550" b="1">
                <a:solidFill>
                  <a:srgbClr val="0F172A"/>
                </a:solidFill>
                <a:latin typeface="Calibri"/>
              </a:defRPr>
            </a:pPr>
            <a:r>
              <a:rPr lang="ja-JP" dirty="0">
                <a:ea typeface="Meiryo"/>
              </a:rPr>
              <a:t>ファクトチェック・ファストパス遅延</a:t>
            </a:r>
          </a:p>
          <a:p>
            <a:pPr>
              <a:spcBef>
                <a:spcPts val="200"/>
              </a:spcBef>
              <a:defRPr sz="1200">
                <a:solidFill>
                  <a:srgbClr val="475569"/>
                </a:solidFill>
                <a:latin typeface="Calibri"/>
              </a:defRPr>
            </a:pPr>
            <a:r>
              <a:rPr lang="ja-JP" dirty="0">
                <a:ea typeface="Meiryo"/>
              </a:rPr>
              <a:t>SBERT ベクトル検索により、クリック即時にストレスなく応答</a:t>
            </a:r>
          </a:p>
        </p:txBody>
      </p:sp>
      <p:sp>
        <p:nvSpPr>
          <p:cNvPr id="9" name="Rounded Rectangle 8"/>
          <p:cNvSpPr/>
          <p:nvPr/>
        </p:nvSpPr>
        <p:spPr>
          <a:xfrm>
            <a:off x="8119872" y="1234440"/>
            <a:ext cx="3520440" cy="16916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344168"/>
            <a:ext cx="3063240" cy="1472184"/>
          </a:xfrm>
          <a:prstGeom prst="rect">
            <a:avLst/>
          </a:prstGeom>
          <a:noFill/>
        </p:spPr>
        <p:txBody>
          <a:bodyPr wrap="square" lIns="0" tIns="0" rIns="0" bIns="0">
            <a:spAutoFit/>
          </a:bodyPr>
          <a:lstStyle/>
          <a:p>
            <a:pPr>
              <a:defRPr sz="3800" b="1">
                <a:solidFill>
                  <a:srgbClr val="10B981"/>
                </a:solidFill>
                <a:latin typeface="Calibri"/>
              </a:defRPr>
            </a:pPr>
            <a:r>
              <a:rPr lang="ja-JP" dirty="0">
                <a:ea typeface="Meiryo"/>
              </a:rPr>
              <a:t>0 Byte</a:t>
            </a:r>
          </a:p>
          <a:p>
            <a:pPr>
              <a:spcBef>
                <a:spcPts val="200"/>
              </a:spcBef>
              <a:defRPr sz="1550" b="1">
                <a:solidFill>
                  <a:srgbClr val="0F172A"/>
                </a:solidFill>
                <a:latin typeface="Calibri"/>
              </a:defRPr>
            </a:pPr>
            <a:r>
              <a:rPr lang="ja-JP" dirty="0">
                <a:ea typeface="Meiryo"/>
              </a:rPr>
              <a:t>閲覧データの外部漏洩量</a:t>
            </a:r>
          </a:p>
          <a:p>
            <a:pPr>
              <a:spcBef>
                <a:spcPts val="200"/>
              </a:spcBef>
              <a:defRPr sz="1200">
                <a:solidFill>
                  <a:srgbClr val="475569"/>
                </a:solidFill>
                <a:latin typeface="Calibri"/>
              </a:defRPr>
            </a:pPr>
            <a:r>
              <a:rPr lang="ja-JP" dirty="0">
                <a:ea typeface="Meiryo"/>
              </a:rPr>
              <a:t>すべて端末内で演算し、プライバシーと GDPR に配慮</a:t>
            </a:r>
          </a:p>
        </p:txBody>
      </p:sp>
      <p:sp>
        <p:nvSpPr>
          <p:cNvPr id="11" name="Rounded Rectangle 10"/>
          <p:cNvSpPr/>
          <p:nvPr/>
        </p:nvSpPr>
        <p:spPr>
          <a:xfrm>
            <a:off x="548640" y="3154680"/>
            <a:ext cx="5376672" cy="3337560"/>
          </a:xfrm>
          <a:prstGeom prst="roundRect">
            <a:avLst/>
          </a:prstGeom>
          <a:solidFill>
            <a:srgbClr val="FFF1F2"/>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291840"/>
            <a:ext cx="4919472" cy="3063240"/>
          </a:xfrm>
          <a:prstGeom prst="rect">
            <a:avLst/>
          </a:prstGeom>
          <a:noFill/>
        </p:spPr>
        <p:txBody>
          <a:bodyPr wrap="square">
            <a:spAutoFit/>
          </a:bodyPr>
          <a:lstStyle/>
          <a:p>
            <a:pPr>
              <a:defRPr sz="1800" b="1">
                <a:solidFill>
                  <a:srgbClr val="BE123C"/>
                </a:solidFill>
              </a:defRPr>
            </a:pPr>
            <a:r>
              <a:rPr lang="ja-JP" dirty="0">
                <a:ea typeface="Meiryo"/>
              </a:rPr>
              <a:t>❌ プロンプトのみの LLM 判断が抱える致命的な盲点</a:t>
            </a:r>
          </a:p>
          <a:p>
            <a:pPr>
              <a:spcBef>
                <a:spcPts val="600"/>
              </a:spcBef>
              <a:defRPr sz="1350">
                <a:solidFill>
                  <a:srgbClr val="0F172A"/>
                </a:solidFill>
              </a:defRPr>
            </a:pPr>
            <a:r>
              <a:rPr lang="ja-JP" dirty="0">
                <a:ea typeface="Meiryo"/>
              </a:rPr>
              <a:t>▸【鮮度の盲点】モデル重みは凍結され、今朝拡散し始めた地域デマを一切認識できない</a:t>
            </a:r>
          </a:p>
          <a:p>
            <a:pPr>
              <a:spcBef>
                <a:spcPts val="600"/>
              </a:spcBef>
              <a:defRPr sz="1350">
                <a:solidFill>
                  <a:srgbClr val="0F172A"/>
                </a:solidFill>
              </a:defRPr>
            </a:pPr>
            <a:r>
              <a:rPr lang="ja-JP" dirty="0">
                <a:ea typeface="Meiryo"/>
              </a:rPr>
              <a:t>▸【文体による欺瞞】生成 AI が権威的な語調を模倣し、客観的な口調のため LLM は容易に誤判定</a:t>
            </a:r>
          </a:p>
          <a:p>
            <a:pPr>
              <a:spcBef>
                <a:spcPts val="600"/>
              </a:spcBef>
              <a:defRPr sz="1350">
                <a:solidFill>
                  <a:srgbClr val="0F172A"/>
                </a:solidFill>
              </a:defRPr>
            </a:pPr>
            <a:r>
              <a:rPr lang="ja-JP" dirty="0">
                <a:ea typeface="Meiryo"/>
              </a:rPr>
              <a:t>▸【根拠の欠如】遡及可能な査核機関の根拠を示せず、ハルシネーション引用まで発生</a:t>
            </a:r>
          </a:p>
          <a:p>
            <a:pPr>
              <a:spcBef>
                <a:spcPts val="600"/>
              </a:spcBef>
              <a:defRPr sz="1350">
                <a:solidFill>
                  <a:srgbClr val="0F172A"/>
                </a:solidFill>
              </a:defRPr>
            </a:pPr>
            <a:r>
              <a:rPr lang="ja-JP" dirty="0">
                <a:ea typeface="Meiryo"/>
              </a:rPr>
              <a:t>▸【遅延とプライバシー】1回の判定に 5〜10 秒、しかも私的な閲覧履歴をクラウドへ送信</a:t>
            </a:r>
          </a:p>
        </p:txBody>
      </p:sp>
      <p:sp>
        <p:nvSpPr>
          <p:cNvPr id="13" name="Rounded Rectangle 12"/>
          <p:cNvSpPr/>
          <p:nvPr/>
        </p:nvSpPr>
        <p:spPr>
          <a:xfrm>
            <a:off x="6263640" y="3154680"/>
            <a:ext cx="5376672" cy="3337560"/>
          </a:xfrm>
          <a:prstGeom prst="round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291840"/>
            <a:ext cx="4919472" cy="3063240"/>
          </a:xfrm>
          <a:prstGeom prst="rect">
            <a:avLst/>
          </a:prstGeom>
          <a:noFill/>
        </p:spPr>
        <p:txBody>
          <a:bodyPr wrap="square">
            <a:spAutoFit/>
          </a:bodyPr>
          <a:lstStyle/>
          <a:p>
            <a:pPr>
              <a:defRPr sz="1800" b="1">
                <a:solidFill>
                  <a:srgbClr val="059669"/>
                </a:solidFill>
              </a:defRPr>
            </a:pPr>
            <a:r>
              <a:rPr lang="ja-JP" dirty="0">
                <a:ea typeface="Meiryo"/>
              </a:rPr>
              <a:t>✅ NewsAnalyzer の多信号・大盤調査による解決策</a:t>
            </a:r>
          </a:p>
          <a:p>
            <a:pPr>
              <a:spcBef>
                <a:spcPts val="600"/>
              </a:spcBef>
              <a:defRPr sz="1350">
                <a:solidFill>
                  <a:srgbClr val="0F172A"/>
                </a:solidFill>
              </a:defRPr>
            </a:pPr>
            <a:r>
              <a:rPr lang="ja-JP" dirty="0">
                <a:ea typeface="Meiryo"/>
              </a:rPr>
              <a:t>▸【ファクトチェック大盤】Cofacts の IFCN 認証済み実査核 2,292 件を統合</a:t>
            </a:r>
          </a:p>
          <a:p>
            <a:pPr>
              <a:spcBef>
                <a:spcPts val="600"/>
              </a:spcBef>
              <a:defRPr sz="1350">
                <a:solidFill>
                  <a:srgbClr val="0F172A"/>
                </a:solidFill>
              </a:defRPr>
            </a:pPr>
            <a:r>
              <a:rPr lang="ja-JP" dirty="0">
                <a:ea typeface="Meiryo"/>
              </a:rPr>
              <a:t>▸【多次元メタデータ行列】ドメインブラックリスト、感情煽動指標、時間減衰ペナルティ</a:t>
            </a:r>
          </a:p>
          <a:p>
            <a:pPr>
              <a:spcBef>
                <a:spcPts val="600"/>
              </a:spcBef>
              <a:defRPr sz="1350">
                <a:solidFill>
                  <a:srgbClr val="0F172A"/>
                </a:solidFill>
              </a:defRPr>
            </a:pPr>
            <a:r>
              <a:rPr lang="ja-JP" dirty="0">
                <a:ea typeface="Meiryo"/>
              </a:rPr>
              <a:t>▸【非対称セーフティ・アンカリング】既知デマは上限を強制（S ≤ 25）し、モデルによる覆しを防止</a:t>
            </a:r>
          </a:p>
          <a:p>
            <a:pPr>
              <a:spcBef>
                <a:spcPts val="600"/>
              </a:spcBef>
              <a:defRPr sz="1350">
                <a:solidFill>
                  <a:srgbClr val="0F172A"/>
                </a:solidFill>
              </a:defRPr>
            </a:pPr>
            <a:r>
              <a:rPr lang="ja-JP" dirty="0">
                <a:ea typeface="Meiryo"/>
              </a:rPr>
              <a:t>▸【端末内での観点抽出】Gemma-4-12B が観点抽出を担当し、100% プライバシーを確保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RESEARCH BACKGROUND</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研究背景：繁体字中国語圏における情報拡散の特性と偽情報エコシステム</a:t>
            </a:r>
          </a:p>
        </p:txBody>
      </p:sp>
      <p:sp>
        <p:nvSpPr>
          <p:cNvPr id="5" name="Rounded Rectangle 4"/>
          <p:cNvSpPr/>
          <p:nvPr/>
        </p:nvSpPr>
        <p:spPr>
          <a:xfrm>
            <a:off x="548640" y="1234440"/>
            <a:ext cx="3520440" cy="52578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3063240" cy="4892040"/>
          </a:xfrm>
          <a:prstGeom prst="rect">
            <a:avLst/>
          </a:prstGeom>
          <a:noFill/>
        </p:spPr>
        <p:txBody>
          <a:bodyPr wrap="square">
            <a:spAutoFit/>
          </a:bodyPr>
          <a:lstStyle/>
          <a:p>
            <a:pPr>
              <a:defRPr sz="1800" b="1">
                <a:solidFill>
                  <a:srgbClr val="0369A1"/>
                </a:solidFill>
              </a:defRPr>
            </a:pPr>
            <a:r>
              <a:rPr lang="ja-JP" dirty="0">
                <a:ea typeface="Meiryo"/>
              </a:rPr>
              <a:t>📱 閉鎖・半閉鎖型の情報流通</a:t>
            </a:r>
          </a:p>
          <a:p>
            <a:pPr>
              <a:spcBef>
                <a:spcPts val="1000"/>
              </a:spcBef>
              <a:defRPr sz="1350">
                <a:solidFill>
                  <a:srgbClr val="0F172A"/>
                </a:solidFill>
              </a:defRPr>
            </a:pPr>
            <a:r>
              <a:rPr lang="ja-JP" dirty="0">
                <a:ea typeface="Meiryo"/>
              </a:rPr>
              <a:t>▸ 高粘着のコミュニティ媒体：LINE の家族グループ、Facebook タイムライン、Threads のアルゴリズム配信</a:t>
            </a:r>
          </a:p>
          <a:p>
            <a:pPr>
              <a:spcBef>
                <a:spcPts val="1000"/>
              </a:spcBef>
              <a:defRPr sz="1350">
                <a:solidFill>
                  <a:srgbClr val="0F172A"/>
                </a:solidFill>
              </a:defRPr>
            </a:pPr>
            <a:r>
              <a:rPr lang="ja-JP" dirty="0">
                <a:ea typeface="Meiryo"/>
              </a:rPr>
              <a:t>▸ レイアウトの同質化：正規報道・未検証の健康デマ・コンテンツファームが肉眼では区別しにくい</a:t>
            </a:r>
          </a:p>
          <a:p>
            <a:pPr>
              <a:spcBef>
                <a:spcPts val="1000"/>
              </a:spcBef>
              <a:defRPr sz="1350">
                <a:solidFill>
                  <a:srgbClr val="0F172A"/>
                </a:solidFill>
              </a:defRPr>
            </a:pPr>
            <a:r>
              <a:rPr lang="ja-JP" dirty="0">
                <a:ea typeface="Meiryo"/>
              </a:rPr>
              <a:t>▸ 爆発的な拡散速度：1件のデマが数時間で1万回以上共有され、人手による訂正が大きく遅れる</a:t>
            </a:r>
          </a:p>
        </p:txBody>
      </p:sp>
      <p:sp>
        <p:nvSpPr>
          <p:cNvPr id="7" name="Rounded Rectangle 6"/>
          <p:cNvSpPr/>
          <p:nvPr/>
        </p:nvSpPr>
        <p:spPr>
          <a:xfrm>
            <a:off x="4334256" y="1234440"/>
            <a:ext cx="3520440" cy="52578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417320"/>
            <a:ext cx="3063240" cy="4892040"/>
          </a:xfrm>
          <a:prstGeom prst="rect">
            <a:avLst/>
          </a:prstGeom>
          <a:noFill/>
        </p:spPr>
        <p:txBody>
          <a:bodyPr wrap="square">
            <a:spAutoFit/>
          </a:bodyPr>
          <a:lstStyle/>
          <a:p>
            <a:pPr>
              <a:defRPr sz="1800" b="1">
                <a:solidFill>
                  <a:srgbClr val="D97706"/>
                </a:solidFill>
              </a:defRPr>
            </a:pPr>
            <a:r>
              <a:rPr lang="ja-JP" dirty="0">
                <a:ea typeface="Meiryo"/>
              </a:rPr>
              <a:t>⚠️ 偽情報の類型と特徴</a:t>
            </a:r>
          </a:p>
          <a:p>
            <a:pPr>
              <a:spcBef>
                <a:spcPts val="1000"/>
              </a:spcBef>
              <a:defRPr sz="1350">
                <a:solidFill>
                  <a:srgbClr val="0F172A"/>
                </a:solidFill>
              </a:defRPr>
            </a:pPr>
            <a:r>
              <a:rPr lang="ja-JP" dirty="0">
                <a:ea typeface="Meiryo"/>
              </a:rPr>
              <a:t>▸ 疑似科学的な健康情報：権威を装い効果を誇張し、中高年層へ精密に配信</a:t>
            </a:r>
          </a:p>
          <a:p>
            <a:pPr>
              <a:spcBef>
                <a:spcPts val="1000"/>
              </a:spcBef>
              <a:defRPr sz="1350">
                <a:solidFill>
                  <a:srgbClr val="0F172A"/>
                </a:solidFill>
              </a:defRPr>
            </a:pPr>
            <a:r>
              <a:rPr lang="ja-JP" dirty="0">
                <a:ea typeface="Meiryo"/>
              </a:rPr>
              <a:t>▸ 時事・政治のディープフェイク：一部の事実に歪曲した評論を交え、社会的不安と分断を煽る</a:t>
            </a:r>
          </a:p>
          <a:p>
            <a:pPr>
              <a:spcBef>
                <a:spcPts val="1000"/>
              </a:spcBef>
              <a:defRPr sz="1350">
                <a:solidFill>
                  <a:srgbClr val="0F172A"/>
                </a:solidFill>
              </a:defRPr>
            </a:pPr>
            <a:r>
              <a:rPr lang="ja-JP" dirty="0">
                <a:ea typeface="Meiryo"/>
              </a:rPr>
              <a:t>▸ コンテンツファームの誘引：誇張したクリックベイトと非暗号化 HTTP ドメインで広告収益を稼ぐ</a:t>
            </a:r>
          </a:p>
        </p:txBody>
      </p:sp>
      <p:sp>
        <p:nvSpPr>
          <p:cNvPr id="9" name="Rounded Rectangle 8"/>
          <p:cNvSpPr/>
          <p:nvPr/>
        </p:nvSpPr>
        <p:spPr>
          <a:xfrm>
            <a:off x="8119872" y="1234440"/>
            <a:ext cx="3520440" cy="525780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417320"/>
            <a:ext cx="3063240" cy="4892040"/>
          </a:xfrm>
          <a:prstGeom prst="rect">
            <a:avLst/>
          </a:prstGeom>
          <a:noFill/>
        </p:spPr>
        <p:txBody>
          <a:bodyPr wrap="square">
            <a:spAutoFit/>
          </a:bodyPr>
          <a:lstStyle/>
          <a:p>
            <a:pPr>
              <a:defRPr sz="1800" b="1">
                <a:solidFill>
                  <a:srgbClr val="0F766E"/>
                </a:solidFill>
              </a:defRPr>
            </a:pPr>
            <a:r>
              <a:rPr lang="ja-JP" dirty="0">
                <a:ea typeface="Meiryo"/>
              </a:rPr>
              <a:t>🌐 地域言語の壁</a:t>
            </a:r>
          </a:p>
          <a:p>
            <a:pPr>
              <a:spcBef>
                <a:spcPts val="1000"/>
              </a:spcBef>
              <a:defRPr sz="1350">
                <a:solidFill>
                  <a:srgbClr val="0F172A"/>
                </a:solidFill>
              </a:defRPr>
            </a:pPr>
            <a:r>
              <a:rPr lang="ja-JP" dirty="0">
                <a:ea typeface="Meiryo"/>
              </a:rPr>
              <a:t>▸ 台湾固有の口語とスラング：駄洒落、地域の成語、生活・政治に固有の語彙</a:t>
            </a:r>
          </a:p>
          <a:p>
            <a:pPr>
              <a:spcBef>
                <a:spcPts val="1000"/>
              </a:spcBef>
              <a:defRPr sz="1350">
                <a:solidFill>
                  <a:srgbClr val="0F172A"/>
                </a:solidFill>
              </a:defRPr>
            </a:pPr>
            <a:r>
              <a:rPr lang="ja-JP" dirty="0">
                <a:ea typeface="Meiryo"/>
              </a:rPr>
              <a:t>▸ 欧米モデルの不適合：英語中心モデルの直接利用で意味のずれが深刻化</a:t>
            </a:r>
          </a:p>
          <a:p>
            <a:pPr>
              <a:spcBef>
                <a:spcPts val="1000"/>
              </a:spcBef>
              <a:defRPr sz="1350">
                <a:solidFill>
                  <a:srgbClr val="0F172A"/>
                </a:solidFill>
              </a:defRPr>
            </a:pPr>
            <a:r>
              <a:rPr lang="ja-JP" dirty="0">
                <a:ea typeface="Meiryo"/>
              </a:rPr>
              <a:t>▸ 繁体字・簡体字の断絶：中国の簡体字コーパスでは台湾の生活課題を網羅できない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PROBLEM STATEMENT</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課題の分解：なぜ「プロンプトのみの LLM 判断」はファクトチェックで必ず破綻するのか</a:t>
            </a:r>
          </a:p>
        </p:txBody>
      </p:sp>
      <p:sp>
        <p:nvSpPr>
          <p:cNvPr id="5" name="Rounded Rectangle 4"/>
          <p:cNvSpPr/>
          <p:nvPr/>
        </p:nvSpPr>
        <p:spPr>
          <a:xfrm>
            <a:off x="548640" y="1234440"/>
            <a:ext cx="5376672" cy="25146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4919472" cy="2240280"/>
          </a:xfrm>
          <a:prstGeom prst="rect">
            <a:avLst/>
          </a:prstGeom>
          <a:noFill/>
        </p:spPr>
        <p:txBody>
          <a:bodyPr wrap="square">
            <a:spAutoFit/>
          </a:bodyPr>
          <a:lstStyle/>
          <a:p>
            <a:pPr>
              <a:defRPr sz="1700" b="1">
                <a:solidFill>
                  <a:srgbClr val="BE123C"/>
                </a:solidFill>
              </a:defRPr>
            </a:pPr>
            <a:r>
              <a:rPr lang="ja-JP" dirty="0">
                <a:ea typeface="Meiryo"/>
              </a:rPr>
              <a:t>1. 時間的盲点（Temporal Blindness）</a:t>
            </a:r>
          </a:p>
          <a:p>
            <a:pPr>
              <a:spcBef>
                <a:spcPts val="400"/>
              </a:spcBef>
              <a:defRPr sz="1300">
                <a:solidFill>
                  <a:srgbClr val="0F172A"/>
                </a:solidFill>
              </a:defRPr>
            </a:pPr>
            <a:r>
              <a:rPr lang="ja-JP" dirty="0">
                <a:ea typeface="Meiryo"/>
              </a:rPr>
              <a:t>LLM のパラメータ重みには固定的な学習知識カットオフがある。SNS 上のデマは「今朝」作られたばかりの即時的なものが多く、未接続またはプロンプトのみの LLM は古い知識で推測するしかなく、最新の訂正情報を判別できない。</a:t>
            </a:r>
          </a:p>
        </p:txBody>
      </p:sp>
      <p:sp>
        <p:nvSpPr>
          <p:cNvPr id="7" name="Rounded Rectangle 6"/>
          <p:cNvSpPr/>
          <p:nvPr/>
        </p:nvSpPr>
        <p:spPr>
          <a:xfrm>
            <a:off x="6263640" y="1234440"/>
            <a:ext cx="5376672" cy="25146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71600"/>
            <a:ext cx="4919472" cy="2240280"/>
          </a:xfrm>
          <a:prstGeom prst="rect">
            <a:avLst/>
          </a:prstGeom>
          <a:noFill/>
        </p:spPr>
        <p:txBody>
          <a:bodyPr wrap="square">
            <a:spAutoFit/>
          </a:bodyPr>
          <a:lstStyle/>
          <a:p>
            <a:pPr>
              <a:defRPr sz="1700" b="1">
                <a:solidFill>
                  <a:srgbClr val="BE123C"/>
                </a:solidFill>
              </a:defRPr>
            </a:pPr>
            <a:r>
              <a:rPr lang="ja-JP" dirty="0">
                <a:ea typeface="Meiryo"/>
              </a:rPr>
              <a:t>2. 文体による欺瞞（Stylistic Deception）</a:t>
            </a:r>
          </a:p>
          <a:p>
            <a:pPr>
              <a:spcBef>
                <a:spcPts val="400"/>
              </a:spcBef>
              <a:defRPr sz="1300">
                <a:solidFill>
                  <a:srgbClr val="0F172A"/>
                </a:solidFill>
              </a:defRPr>
            </a:pPr>
            <a:r>
              <a:rPr lang="ja-JP" dirty="0">
                <a:ea typeface="Meiryo"/>
              </a:rPr>
              <a:t>現代の生成 AI は「権威ある通信社」の客観的な語調を容易に模倣する。LLM は本質的に確率的言語モデルであり、デマの文章が厳密で理性的な口調であれば「流暢で文法的」という理由で高い信頼度を付与し、重大な偽陰性を生む。</a:t>
            </a:r>
          </a:p>
        </p:txBody>
      </p:sp>
      <p:sp>
        <p:nvSpPr>
          <p:cNvPr id="9" name="Rounded Rectangle 8"/>
          <p:cNvSpPr/>
          <p:nvPr/>
        </p:nvSpPr>
        <p:spPr>
          <a:xfrm>
            <a:off x="548640" y="3977639"/>
            <a:ext cx="5376672" cy="25146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4919472" cy="2240280"/>
          </a:xfrm>
          <a:prstGeom prst="rect">
            <a:avLst/>
          </a:prstGeom>
          <a:noFill/>
        </p:spPr>
        <p:txBody>
          <a:bodyPr wrap="square">
            <a:spAutoFit/>
          </a:bodyPr>
          <a:lstStyle/>
          <a:p>
            <a:pPr>
              <a:defRPr sz="1700" b="1">
                <a:solidFill>
                  <a:srgbClr val="BE123C"/>
                </a:solidFill>
              </a:defRPr>
            </a:pPr>
            <a:r>
              <a:rPr lang="ja-JP" dirty="0">
                <a:ea typeface="Meiryo"/>
              </a:rPr>
              <a:t>3. 根拠の不在（No Auditable Provenance）</a:t>
            </a:r>
          </a:p>
          <a:p>
            <a:pPr>
              <a:spcBef>
                <a:spcPts val="400"/>
              </a:spcBef>
              <a:defRPr sz="1300">
                <a:solidFill>
                  <a:srgbClr val="0F172A"/>
                </a:solidFill>
              </a:defRPr>
            </a:pPr>
            <a:r>
              <a:rPr lang="ja-JP" dirty="0">
                <a:ea typeface="Meiryo"/>
              </a:rPr>
              <a:t>プロンプトのみの LLM は、IFCN 認証の実調査ファイルへのリンクを示せない。利用者が根拠を問うと、存在しない専門家発言や法規条文を捏造することさえあり（ハルシネーション）、ツールの信頼性を大きく損なう。</a:t>
            </a:r>
          </a:p>
        </p:txBody>
      </p:sp>
      <p:sp>
        <p:nvSpPr>
          <p:cNvPr id="11" name="Rounded Rectangle 10"/>
          <p:cNvSpPr/>
          <p:nvPr/>
        </p:nvSpPr>
        <p:spPr>
          <a:xfrm>
            <a:off x="6263640" y="3977639"/>
            <a:ext cx="5376672" cy="25146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114800"/>
            <a:ext cx="4919472" cy="2240280"/>
          </a:xfrm>
          <a:prstGeom prst="rect">
            <a:avLst/>
          </a:prstGeom>
          <a:noFill/>
        </p:spPr>
        <p:txBody>
          <a:bodyPr wrap="square">
            <a:spAutoFit/>
          </a:bodyPr>
          <a:lstStyle/>
          <a:p>
            <a:pPr>
              <a:defRPr sz="1700" b="1">
                <a:solidFill>
                  <a:srgbClr val="BE123C"/>
                </a:solidFill>
              </a:defRPr>
            </a:pPr>
            <a:r>
              <a:rPr lang="ja-JP" dirty="0">
                <a:ea typeface="Meiryo"/>
              </a:rPr>
              <a:t>4. 遅延ペナルティとプライバシー漏洩（Latency &amp; Privacy）</a:t>
            </a:r>
          </a:p>
          <a:p>
            <a:pPr>
              <a:spcBef>
                <a:spcPts val="400"/>
              </a:spcBef>
              <a:defRPr sz="1300">
                <a:solidFill>
                  <a:srgbClr val="0F172A"/>
                </a:solidFill>
              </a:defRPr>
            </a:pPr>
            <a:r>
              <a:rPr lang="ja-JP" dirty="0">
                <a:ea typeface="Meiryo"/>
              </a:rPr>
              <a:t>利用者のリアルタイム閲覧内容をクラウド API（例：GPT-4o）へ送信すると、1リクエストに 5〜10 秒を要し閲覧体験を完全に中断させる。同時に私的な SNS フィードを第三者サーバーへ露出し、深刻なプライバシーリスクとなる。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COMPETING PARADIGMS</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既存ファクトチェック技術のパラダイム評価：なぜ既存手法では不十分か</a:t>
            </a:r>
          </a:p>
        </p:txBody>
      </p:sp>
      <p:sp>
        <p:nvSpPr>
          <p:cNvPr id="5" name="Rounded Rectangle 4"/>
          <p:cNvSpPr/>
          <p:nvPr/>
        </p:nvSpPr>
        <p:spPr>
          <a:xfrm>
            <a:off x="548640" y="1234440"/>
            <a:ext cx="2606040" cy="3977639"/>
          </a:xfrm>
          <a:prstGeom prst="roundRect">
            <a:avLst/>
          </a:prstGeom>
          <a:solidFill>
            <a:srgbClr val="F1F5F9"/>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71600"/>
            <a:ext cx="2276856" cy="3657600"/>
          </a:xfrm>
          <a:prstGeom prst="rect">
            <a:avLst/>
          </a:prstGeom>
          <a:noFill/>
        </p:spPr>
        <p:txBody>
          <a:bodyPr wrap="square">
            <a:spAutoFit/>
          </a:bodyPr>
          <a:lstStyle/>
          <a:p>
            <a:pPr>
              <a:defRPr sz="1600" b="1">
                <a:solidFill>
                  <a:srgbClr val="475569"/>
                </a:solidFill>
              </a:defRPr>
            </a:pPr>
            <a:r>
              <a:rPr lang="ja-JP" dirty="0">
                <a:ea typeface="Meiryo"/>
              </a:rPr>
              <a:t>① 多数クラス基準</a:t>
            </a:r>
          </a:p>
          <a:p>
            <a:pPr>
              <a:defRPr sz="1200">
                <a:solidFill>
                  <a:srgbClr val="475569"/>
                </a:solidFill>
              </a:defRPr>
            </a:pPr>
            <a:r>
              <a:rPr lang="ja-JP" dirty="0">
                <a:ea typeface="Meiryo"/>
              </a:rPr>
              <a:t>Majority Prior</a:t>
            </a:r>
          </a:p>
          <a:p>
            <a:pPr>
              <a:spcBef>
                <a:spcPts val="600"/>
              </a:spcBef>
              <a:defRPr sz="1400" b="1">
                <a:solidFill>
                  <a:srgbClr val="475569"/>
                </a:solidFill>
              </a:defRPr>
            </a:pPr>
            <a:r>
              <a:rPr lang="ja-JP" dirty="0">
                <a:ea typeface="Meiryo"/>
              </a:rPr>
              <a:t>🎯 基準正解率：88.4%</a:t>
            </a:r>
          </a:p>
          <a:p>
            <a:pPr>
              <a:spcBef>
                <a:spcPts val="600"/>
              </a:spcBef>
              <a:defRPr sz="1200">
                <a:solidFill>
                  <a:srgbClr val="0F172A"/>
                </a:solidFill>
              </a:defRPr>
            </a:pPr>
            <a:r>
              <a:rPr lang="ja-JP" dirty="0">
                <a:ea typeface="Meiryo"/>
              </a:rPr>
              <a:t>▸ 査核データベースが本質的に不均衡（偽 2,025／真 267）</a:t>
            </a:r>
          </a:p>
          <a:p>
            <a:pPr>
              <a:spcBef>
                <a:spcPts val="600"/>
              </a:spcBef>
              <a:defRPr sz="1200">
                <a:solidFill>
                  <a:srgbClr val="0F172A"/>
                </a:solidFill>
              </a:defRPr>
            </a:pPr>
            <a:r>
              <a:rPr lang="ja-JP" dirty="0">
                <a:ea typeface="Meiryo"/>
              </a:rPr>
              <a:t>▸ 無条件に「偽」と推測するだけで 88.4% に到達</a:t>
            </a:r>
          </a:p>
          <a:p>
            <a:pPr>
              <a:spcBef>
                <a:spcPts val="600"/>
              </a:spcBef>
              <a:defRPr sz="1200">
                <a:solidFill>
                  <a:srgbClr val="0F172A"/>
                </a:solidFill>
              </a:defRPr>
            </a:pPr>
            <a:r>
              <a:rPr lang="ja-JP" dirty="0">
                <a:ea typeface="Meiryo"/>
              </a:rPr>
              <a:t>▸ 致命的欠陥：識別能力が皆無で、真の記事をすべて誤判定</a:t>
            </a:r>
          </a:p>
        </p:txBody>
      </p:sp>
      <p:sp>
        <p:nvSpPr>
          <p:cNvPr id="7" name="Rounded Rectangle 6"/>
          <p:cNvSpPr/>
          <p:nvPr/>
        </p:nvSpPr>
        <p:spPr>
          <a:xfrm>
            <a:off x="3374136" y="1234440"/>
            <a:ext cx="2606040" cy="3977639"/>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38728" y="1371600"/>
            <a:ext cx="2276856" cy="3657600"/>
          </a:xfrm>
          <a:prstGeom prst="rect">
            <a:avLst/>
          </a:prstGeom>
          <a:noFill/>
        </p:spPr>
        <p:txBody>
          <a:bodyPr wrap="square">
            <a:spAutoFit/>
          </a:bodyPr>
          <a:lstStyle/>
          <a:p>
            <a:pPr>
              <a:defRPr sz="1600" b="1">
                <a:solidFill>
                  <a:srgbClr val="D97706"/>
                </a:solidFill>
              </a:defRPr>
            </a:pPr>
            <a:r>
              <a:rPr lang="ja-JP" dirty="0">
                <a:ea typeface="Meiryo"/>
              </a:rPr>
              <a:t>② 従来の特徴量分類</a:t>
            </a:r>
          </a:p>
          <a:p>
            <a:pPr>
              <a:defRPr sz="1200">
                <a:solidFill>
                  <a:srgbClr val="475569"/>
                </a:solidFill>
              </a:defRPr>
            </a:pPr>
            <a:r>
              <a:rPr lang="ja-JP" dirty="0">
                <a:ea typeface="Meiryo"/>
              </a:rPr>
              <a:t>Surface NLP (TF-IDF)</a:t>
            </a:r>
          </a:p>
          <a:p>
            <a:pPr>
              <a:spcBef>
                <a:spcPts val="600"/>
              </a:spcBef>
              <a:defRPr sz="1400" b="1">
                <a:solidFill>
                  <a:srgbClr val="D97706"/>
                </a:solidFill>
              </a:defRPr>
            </a:pPr>
            <a:r>
              <a:rPr lang="ja-JP" dirty="0">
                <a:ea typeface="Meiryo"/>
              </a:rPr>
              <a:t>🎯 基準正解率：86.2%</a:t>
            </a:r>
          </a:p>
          <a:p>
            <a:pPr>
              <a:spcBef>
                <a:spcPts val="600"/>
              </a:spcBef>
              <a:defRPr sz="1200">
                <a:solidFill>
                  <a:srgbClr val="0F172A"/>
                </a:solidFill>
              </a:defRPr>
            </a:pPr>
            <a:r>
              <a:rPr lang="ja-JP" dirty="0">
                <a:ea typeface="Meiryo"/>
              </a:rPr>
              <a:t>▸ 単語頻度・感情辞書・機械学習分類器に基づく</a:t>
            </a:r>
          </a:p>
          <a:p>
            <a:pPr>
              <a:spcBef>
                <a:spcPts val="600"/>
              </a:spcBef>
              <a:defRPr sz="1200">
                <a:solidFill>
                  <a:srgbClr val="0F172A"/>
                </a:solidFill>
              </a:defRPr>
            </a:pPr>
            <a:r>
              <a:rPr lang="ja-JP" dirty="0">
                <a:ea typeface="Meiryo"/>
              </a:rPr>
              <a:t>▸ 表層的な字句特徴（N-gram）に依存</a:t>
            </a:r>
          </a:p>
          <a:p>
            <a:pPr>
              <a:spcBef>
                <a:spcPts val="600"/>
              </a:spcBef>
              <a:defRPr sz="1200">
                <a:solidFill>
                  <a:srgbClr val="0F172A"/>
                </a:solidFill>
              </a:defRPr>
            </a:pPr>
            <a:r>
              <a:rPr lang="ja-JP" dirty="0">
                <a:ea typeface="Meiryo"/>
              </a:rPr>
              <a:t>▸ 致命的欠陥：同義語置換や構造の書き換えで容易に破綻</a:t>
            </a:r>
          </a:p>
        </p:txBody>
      </p:sp>
      <p:sp>
        <p:nvSpPr>
          <p:cNvPr id="9" name="Rounded Rectangle 8"/>
          <p:cNvSpPr/>
          <p:nvPr/>
        </p:nvSpPr>
        <p:spPr>
          <a:xfrm>
            <a:off x="6199631" y="1234440"/>
            <a:ext cx="2606040" cy="3977639"/>
          </a:xfrm>
          <a:prstGeom prst="roundRect">
            <a:avLst/>
          </a:prstGeom>
          <a:solidFill>
            <a:srgbClr val="FFF1F2"/>
          </a:solidFill>
          <a:ln w="1524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3" y="1371600"/>
            <a:ext cx="2276856" cy="3657600"/>
          </a:xfrm>
          <a:prstGeom prst="rect">
            <a:avLst/>
          </a:prstGeom>
          <a:noFill/>
        </p:spPr>
        <p:txBody>
          <a:bodyPr wrap="square">
            <a:spAutoFit/>
          </a:bodyPr>
          <a:lstStyle/>
          <a:p>
            <a:pPr>
              <a:defRPr sz="1600" b="1">
                <a:solidFill>
                  <a:srgbClr val="BE123C"/>
                </a:solidFill>
              </a:defRPr>
            </a:pPr>
            <a:r>
              <a:rPr lang="ja-JP" dirty="0">
                <a:ea typeface="Meiryo"/>
              </a:rPr>
              <a:t>③ ドメイン評判のみ</a:t>
            </a:r>
          </a:p>
          <a:p>
            <a:pPr>
              <a:defRPr sz="1200">
                <a:solidFill>
                  <a:srgbClr val="475569"/>
                </a:solidFill>
              </a:defRPr>
            </a:pPr>
            <a:r>
              <a:rPr lang="ja-JP" dirty="0">
                <a:ea typeface="Meiryo"/>
              </a:rPr>
              <a:t>NewsGuard Heuristics</a:t>
            </a:r>
          </a:p>
          <a:p>
            <a:pPr>
              <a:spcBef>
                <a:spcPts val="600"/>
              </a:spcBef>
              <a:defRPr sz="1400" b="1">
                <a:solidFill>
                  <a:srgbClr val="BE123C"/>
                </a:solidFill>
              </a:defRPr>
            </a:pPr>
            <a:r>
              <a:rPr lang="ja-JP" dirty="0">
                <a:ea typeface="Meiryo"/>
              </a:rPr>
              <a:t>🎯 基準正解率：52.1%</a:t>
            </a:r>
          </a:p>
          <a:p>
            <a:pPr>
              <a:spcBef>
                <a:spcPts val="600"/>
              </a:spcBef>
              <a:defRPr sz="1200">
                <a:solidFill>
                  <a:srgbClr val="0F172A"/>
                </a:solidFill>
              </a:defRPr>
            </a:pPr>
            <a:r>
              <a:rPr lang="ja-JP" dirty="0">
                <a:ea typeface="Meiryo"/>
              </a:rPr>
              <a:t>▸ サイトのホスト名でホワイト／ブラックリストを判定</a:t>
            </a:r>
          </a:p>
          <a:p>
            <a:pPr>
              <a:spcBef>
                <a:spcPts val="600"/>
              </a:spcBef>
              <a:defRPr sz="1200">
                <a:solidFill>
                  <a:srgbClr val="0F172A"/>
                </a:solidFill>
              </a:defRPr>
            </a:pPr>
            <a:r>
              <a:rPr lang="ja-JP" dirty="0">
                <a:ea typeface="Meiryo"/>
              </a:rPr>
              <a:t>▸ 独立したコンテンツファームサイトにのみ有効</a:t>
            </a:r>
          </a:p>
          <a:p>
            <a:pPr>
              <a:spcBef>
                <a:spcPts val="600"/>
              </a:spcBef>
              <a:defRPr sz="1200">
                <a:solidFill>
                  <a:srgbClr val="0F172A"/>
                </a:solidFill>
              </a:defRPr>
            </a:pPr>
            <a:r>
              <a:rPr lang="ja-JP" dirty="0">
                <a:ea typeface="Meiryo"/>
              </a:rPr>
              <a:t>▸ 致命的欠陥：FB/LINE など同一ドメイン内のコミュニティでは完全に無効</a:t>
            </a:r>
          </a:p>
        </p:txBody>
      </p:sp>
      <p:sp>
        <p:nvSpPr>
          <p:cNvPr id="11" name="Rounded Rectangle 10"/>
          <p:cNvSpPr/>
          <p:nvPr/>
        </p:nvSpPr>
        <p:spPr>
          <a:xfrm>
            <a:off x="9025128" y="1234440"/>
            <a:ext cx="2606040" cy="3977639"/>
          </a:xfrm>
          <a:prstGeom prst="roundRect">
            <a:avLst/>
          </a:prstGeom>
          <a:solidFill>
            <a:srgbClr val="F0F9FF"/>
          </a:solidFill>
          <a:ln w="1524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1371600"/>
            <a:ext cx="2276856" cy="3657600"/>
          </a:xfrm>
          <a:prstGeom prst="rect">
            <a:avLst/>
          </a:prstGeom>
          <a:noFill/>
        </p:spPr>
        <p:txBody>
          <a:bodyPr wrap="square">
            <a:spAutoFit/>
          </a:bodyPr>
          <a:lstStyle/>
          <a:p>
            <a:pPr>
              <a:defRPr sz="1600" b="1">
                <a:solidFill>
                  <a:srgbClr val="0369A1"/>
                </a:solidFill>
              </a:defRPr>
            </a:pPr>
            <a:r>
              <a:rPr lang="ja-JP" dirty="0">
                <a:ea typeface="Meiryo"/>
              </a:rPr>
              <a:t>④ Zero-Shot LLM のみ</a:t>
            </a:r>
          </a:p>
          <a:p>
            <a:pPr>
              <a:defRPr sz="1200">
                <a:solidFill>
                  <a:srgbClr val="475569"/>
                </a:solidFill>
              </a:defRPr>
            </a:pPr>
            <a:r>
              <a:rPr lang="ja-JP" dirty="0">
                <a:ea typeface="Meiryo"/>
              </a:rPr>
              <a:t>Prompt-Only LLM</a:t>
            </a:r>
          </a:p>
          <a:p>
            <a:pPr>
              <a:spcBef>
                <a:spcPts val="600"/>
              </a:spcBef>
              <a:defRPr sz="1400" b="1">
                <a:solidFill>
                  <a:srgbClr val="0369A1"/>
                </a:solidFill>
              </a:defRPr>
            </a:pPr>
            <a:r>
              <a:rPr lang="ja-JP" dirty="0">
                <a:ea typeface="Meiryo"/>
              </a:rPr>
              <a:t>🎯 基準正解率：78.4%</a:t>
            </a:r>
          </a:p>
          <a:p>
            <a:pPr>
              <a:spcBef>
                <a:spcPts val="600"/>
              </a:spcBef>
              <a:defRPr sz="1200">
                <a:solidFill>
                  <a:srgbClr val="0F172A"/>
                </a:solidFill>
              </a:defRPr>
            </a:pPr>
            <a:r>
              <a:rPr lang="ja-JP" dirty="0">
                <a:ea typeface="Meiryo"/>
              </a:rPr>
              <a:t>▸ 大規模言語モデルに「この記事は本当か」と直接尋ねる</a:t>
            </a:r>
          </a:p>
          <a:p>
            <a:pPr>
              <a:spcBef>
                <a:spcPts val="600"/>
              </a:spcBef>
              <a:defRPr sz="1200">
                <a:solidFill>
                  <a:srgbClr val="0F172A"/>
                </a:solidFill>
              </a:defRPr>
            </a:pPr>
            <a:r>
              <a:rPr lang="ja-JP" dirty="0">
                <a:ea typeface="Meiryo"/>
              </a:rPr>
              <a:t>▸ 事前学習で内在化したパラメータのみに依存</a:t>
            </a:r>
          </a:p>
          <a:p>
            <a:pPr>
              <a:spcBef>
                <a:spcPts val="600"/>
              </a:spcBef>
              <a:defRPr sz="1200">
                <a:solidFill>
                  <a:srgbClr val="0F172A"/>
                </a:solidFill>
              </a:defRPr>
            </a:pPr>
            <a:r>
              <a:rPr lang="ja-JP" dirty="0">
                <a:ea typeface="Meiryo"/>
              </a:rPr>
              <a:t>▸ 致命的欠陥：ハルシネーションが頻発し、地域の査核根拠を欠く</a:t>
            </a:r>
          </a:p>
        </p:txBody>
      </p:sp>
      <p:sp>
        <p:nvSpPr>
          <p:cNvPr id="13" name="Rounded Rectangle 12"/>
          <p:cNvSpPr/>
          <p:nvPr/>
        </p:nvSpPr>
        <p:spPr>
          <a:xfrm>
            <a:off x="548640" y="5349240"/>
            <a:ext cx="11094415" cy="11430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440680"/>
            <a:ext cx="10637215" cy="960120"/>
          </a:xfrm>
          <a:prstGeom prst="rect">
            <a:avLst/>
          </a:prstGeom>
          <a:noFill/>
        </p:spPr>
        <p:txBody>
          <a:bodyPr wrap="square">
            <a:spAutoFit/>
          </a:bodyPr>
          <a:lstStyle/>
          <a:p>
            <a:pPr>
              <a:defRPr sz="1450" b="1">
                <a:solidFill>
                  <a:srgbClr val="38BDF8"/>
                </a:solidFill>
              </a:defRPr>
            </a:pPr>
            <a:r>
              <a:rPr lang="ja-JP" dirty="0">
                <a:ea typeface="Meiryo"/>
              </a:rPr>
              <a:t>📌 パラダイム評価の総括：動的な SNS コンテンツには「ファクトチェック大盤」と「メタデータ融合」の複合体系が必要</a:t>
            </a:r>
          </a:p>
          <a:p>
            <a:pPr>
              <a:spcBef>
                <a:spcPts val="300"/>
              </a:spcBef>
              <a:defRPr sz="1250">
                <a:solidFill>
                  <a:srgbClr val="E2E8F0"/>
                </a:solidFill>
              </a:defRPr>
            </a:pPr>
            <a:r>
              <a:rPr lang="ja-JP" dirty="0">
                <a:ea typeface="Meiryo"/>
              </a:rPr>
              <a:t>静的なドメイン・表層特徴モデルは複雑なソーシャル文脈を扱えず、プロンプトのみの LLM は知識カットオフとハルシネーションに制約される。「大盤に基づく実証調査（Cofacts）」と「多次元の非テキスト特徴」を組み合わせて初めて、95.3% の高正解率と 1.48 ms の即時防御を実現できる。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0C4A6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38BDF8"/>
                </a:solidFill>
                <a:latin typeface="Calibri"/>
              </a:defRPr>
            </a:pPr>
            <a:r>
              <a:rPr lang="ja-JP" dirty="0">
                <a:ea typeface="Meiryo"/>
              </a:rPr>
              <a:t>CORE PHILOSOPHY</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FFFFFF"/>
                </a:solidFill>
                <a:latin typeface="Calibri"/>
              </a:defRPr>
            </a:pPr>
            <a:r>
              <a:rPr lang="ja-JP" dirty="0">
                <a:ea typeface="Meiryo"/>
              </a:rPr>
              <a:t>中核設計思想：実証的な大盤調査を基盤に、端末内プライバシーと極限の性能を両立</a:t>
            </a:r>
          </a:p>
        </p:txBody>
      </p:sp>
      <p:sp>
        <p:nvSpPr>
          <p:cNvPr id="5" name="Rounded Rectangle 4"/>
          <p:cNvSpPr/>
          <p:nvPr/>
        </p:nvSpPr>
        <p:spPr>
          <a:xfrm>
            <a:off x="548640" y="1234440"/>
            <a:ext cx="2606040" cy="5257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17320"/>
            <a:ext cx="2276856" cy="4892040"/>
          </a:xfrm>
          <a:prstGeom prst="rect">
            <a:avLst/>
          </a:prstGeom>
          <a:noFill/>
        </p:spPr>
        <p:txBody>
          <a:bodyPr wrap="square">
            <a:spAutoFit/>
          </a:bodyPr>
          <a:lstStyle/>
          <a:p>
            <a:pPr>
              <a:defRPr sz="1650" b="1">
                <a:solidFill>
                  <a:srgbClr val="38BDF8"/>
                </a:solidFill>
              </a:defRPr>
            </a:pPr>
            <a:r>
              <a:rPr lang="ja-JP" dirty="0">
                <a:ea typeface="Meiryo"/>
              </a:rPr>
              <a:t>1. 実証優先</a:t>
            </a:r>
          </a:p>
          <a:p>
            <a:pPr>
              <a:defRPr sz="1200">
                <a:solidFill>
                  <a:srgbClr val="94A3B8"/>
                </a:solidFill>
              </a:defRPr>
            </a:pPr>
            <a:r>
              <a:rPr lang="ja-JP" dirty="0">
                <a:ea typeface="Meiryo"/>
              </a:rPr>
              <a:t>Evidence-First</a:t>
            </a:r>
          </a:p>
          <a:p>
            <a:pPr>
              <a:spcBef>
                <a:spcPts val="1000"/>
              </a:spcBef>
              <a:defRPr sz="1250">
                <a:solidFill>
                  <a:srgbClr val="E2E8F0"/>
                </a:solidFill>
              </a:defRPr>
            </a:pPr>
            <a:r>
              <a:rPr lang="ja-JP" dirty="0">
                <a:ea typeface="Meiryo"/>
              </a:rPr>
              <a:t>▸ 根拠のない生成的推測を排除</a:t>
            </a:r>
          </a:p>
          <a:p>
            <a:pPr>
              <a:spcBef>
                <a:spcPts val="1000"/>
              </a:spcBef>
              <a:defRPr sz="1250">
                <a:solidFill>
                  <a:srgbClr val="E2E8F0"/>
                </a:solidFill>
              </a:defRPr>
            </a:pPr>
            <a:r>
              <a:rPr lang="ja-JP" dirty="0">
                <a:ea typeface="Meiryo"/>
              </a:rPr>
              <a:t>▸ 既知のファクトチェックデータベースを最高裁と位置づける</a:t>
            </a:r>
          </a:p>
          <a:p>
            <a:pPr>
              <a:spcBef>
                <a:spcPts val="1000"/>
              </a:spcBef>
              <a:defRPr sz="1250">
                <a:solidFill>
                  <a:srgbClr val="E2E8F0"/>
                </a:solidFill>
              </a:defRPr>
            </a:pPr>
            <a:r>
              <a:rPr lang="ja-JP" dirty="0">
                <a:ea typeface="Meiryo"/>
              </a:rPr>
              <a:t>▸ データベースに一致した場合は IFCN 認証レポートを権威的根拠として直接引用</a:t>
            </a:r>
          </a:p>
        </p:txBody>
      </p:sp>
      <p:sp>
        <p:nvSpPr>
          <p:cNvPr id="7" name="Rounded Rectangle 6"/>
          <p:cNvSpPr/>
          <p:nvPr/>
        </p:nvSpPr>
        <p:spPr>
          <a:xfrm>
            <a:off x="3374136" y="1234440"/>
            <a:ext cx="2606040" cy="5257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38728" y="1417320"/>
            <a:ext cx="2276856" cy="4892040"/>
          </a:xfrm>
          <a:prstGeom prst="rect">
            <a:avLst/>
          </a:prstGeom>
          <a:noFill/>
        </p:spPr>
        <p:txBody>
          <a:bodyPr wrap="square">
            <a:spAutoFit/>
          </a:bodyPr>
          <a:lstStyle/>
          <a:p>
            <a:pPr>
              <a:defRPr sz="1650" b="1">
                <a:solidFill>
                  <a:srgbClr val="0D9488"/>
                </a:solidFill>
              </a:defRPr>
            </a:pPr>
            <a:r>
              <a:rPr lang="ja-JP" dirty="0">
                <a:ea typeface="Meiryo"/>
              </a:rPr>
              <a:t>2. 多次元メタデータ</a:t>
            </a:r>
          </a:p>
          <a:p>
            <a:pPr>
              <a:defRPr sz="1200">
                <a:solidFill>
                  <a:srgbClr val="94A3B8"/>
                </a:solidFill>
              </a:defRPr>
            </a:pPr>
            <a:r>
              <a:rPr lang="ja-JP" dirty="0">
                <a:ea typeface="Meiryo"/>
              </a:rPr>
              <a:t>Multi-Signal Fusion</a:t>
            </a:r>
          </a:p>
          <a:p>
            <a:pPr>
              <a:spcBef>
                <a:spcPts val="1000"/>
              </a:spcBef>
              <a:defRPr sz="1250">
                <a:solidFill>
                  <a:srgbClr val="E2E8F0"/>
                </a:solidFill>
              </a:defRPr>
            </a:pPr>
            <a:r>
              <a:rPr lang="ja-JP" dirty="0">
                <a:ea typeface="Meiryo"/>
              </a:rPr>
              <a:t>▸ テキスト内容のみという単一次元から脱却</a:t>
            </a:r>
          </a:p>
          <a:p>
            <a:pPr>
              <a:spcBef>
                <a:spcPts val="1000"/>
              </a:spcBef>
              <a:defRPr sz="1250">
                <a:solidFill>
                  <a:srgbClr val="E2E8F0"/>
                </a:solidFill>
              </a:defRPr>
            </a:pPr>
            <a:r>
              <a:rPr lang="ja-JP" dirty="0">
                <a:ea typeface="Meiryo"/>
              </a:rPr>
              <a:t>▸ ドメインブラックリスト、感情煽動指数、時間減衰因子を統合</a:t>
            </a:r>
          </a:p>
          <a:p>
            <a:pPr>
              <a:spcBef>
                <a:spcPts val="1000"/>
              </a:spcBef>
              <a:defRPr sz="1250">
                <a:solidFill>
                  <a:srgbClr val="E2E8F0"/>
                </a:solidFill>
              </a:defRPr>
            </a:pPr>
            <a:r>
              <a:rPr lang="ja-JP" dirty="0">
                <a:ea typeface="Meiryo"/>
              </a:rPr>
              <a:t>▸ 複数特徴を交差検証し、未収録記事の判断力を補完</a:t>
            </a:r>
          </a:p>
        </p:txBody>
      </p:sp>
      <p:sp>
        <p:nvSpPr>
          <p:cNvPr id="9" name="Rounded Rectangle 8"/>
          <p:cNvSpPr/>
          <p:nvPr/>
        </p:nvSpPr>
        <p:spPr>
          <a:xfrm>
            <a:off x="6199631" y="1234440"/>
            <a:ext cx="2606040" cy="5257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3" y="1417320"/>
            <a:ext cx="2276856" cy="4892040"/>
          </a:xfrm>
          <a:prstGeom prst="rect">
            <a:avLst/>
          </a:prstGeom>
          <a:noFill/>
        </p:spPr>
        <p:txBody>
          <a:bodyPr wrap="square">
            <a:spAutoFit/>
          </a:bodyPr>
          <a:lstStyle/>
          <a:p>
            <a:pPr>
              <a:defRPr sz="1650" b="1">
                <a:solidFill>
                  <a:srgbClr val="E11D48"/>
                </a:solidFill>
              </a:defRPr>
            </a:pPr>
            <a:r>
              <a:rPr lang="ja-JP" dirty="0">
                <a:ea typeface="Meiryo"/>
              </a:rPr>
              <a:t>3. 非対称セーフティ・アンカリング</a:t>
            </a:r>
          </a:p>
          <a:p>
            <a:pPr>
              <a:defRPr sz="1200">
                <a:solidFill>
                  <a:srgbClr val="94A3B8"/>
                </a:solidFill>
              </a:defRPr>
            </a:pPr>
            <a:r>
              <a:rPr lang="ja-JP" dirty="0">
                <a:ea typeface="Meiryo"/>
              </a:rPr>
              <a:t>Safety Clamping</a:t>
            </a:r>
          </a:p>
          <a:p>
            <a:pPr>
              <a:spcBef>
                <a:spcPts val="1000"/>
              </a:spcBef>
              <a:defRPr sz="1250">
                <a:solidFill>
                  <a:srgbClr val="E2E8F0"/>
                </a:solidFill>
              </a:defRPr>
            </a:pPr>
            <a:r>
              <a:rPr lang="ja-JP" dirty="0">
                <a:ea typeface="Meiryo"/>
              </a:rPr>
              <a:t>▸ 流暢な偽情報に LLM が欺かれるのを防止</a:t>
            </a:r>
          </a:p>
          <a:p>
            <a:pPr>
              <a:spcBef>
                <a:spcPts val="1000"/>
              </a:spcBef>
              <a:defRPr sz="1250">
                <a:solidFill>
                  <a:srgbClr val="E2E8F0"/>
                </a:solidFill>
              </a:defRPr>
            </a:pPr>
            <a:r>
              <a:rPr lang="ja-JP" dirty="0">
                <a:ea typeface="Meiryo"/>
              </a:rPr>
              <a:t>▸ 既知デマと一致した場合にスコア上限を強制（S ≤ 25）</a:t>
            </a:r>
          </a:p>
          <a:p>
            <a:pPr>
              <a:spcBef>
                <a:spcPts val="1000"/>
              </a:spcBef>
              <a:defRPr sz="1250">
                <a:solidFill>
                  <a:srgbClr val="E2E8F0"/>
                </a:solidFill>
              </a:defRPr>
            </a:pPr>
            <a:r>
              <a:rPr lang="ja-JP" dirty="0">
                <a:ea typeface="Meiryo"/>
              </a:rPr>
              <a:t>▸ 実証済みの偽情報をモデルが覆すことを完全に排除</a:t>
            </a:r>
          </a:p>
        </p:txBody>
      </p:sp>
      <p:sp>
        <p:nvSpPr>
          <p:cNvPr id="11" name="Rounded Rectangle 10"/>
          <p:cNvSpPr/>
          <p:nvPr/>
        </p:nvSpPr>
        <p:spPr>
          <a:xfrm>
            <a:off x="9025128" y="1234440"/>
            <a:ext cx="2606040" cy="5257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89720" y="1417320"/>
            <a:ext cx="2276856" cy="4892040"/>
          </a:xfrm>
          <a:prstGeom prst="rect">
            <a:avLst/>
          </a:prstGeom>
          <a:noFill/>
        </p:spPr>
        <p:txBody>
          <a:bodyPr wrap="square">
            <a:spAutoFit/>
          </a:bodyPr>
          <a:lstStyle/>
          <a:p>
            <a:pPr>
              <a:defRPr sz="1650" b="1">
                <a:solidFill>
                  <a:srgbClr val="10B981"/>
                </a:solidFill>
              </a:defRPr>
            </a:pPr>
            <a:r>
              <a:rPr lang="ja-JP" dirty="0">
                <a:ea typeface="Meiryo"/>
              </a:rPr>
              <a:t>4. ゼロ外部送信の端末内プライバシー</a:t>
            </a:r>
          </a:p>
          <a:p>
            <a:pPr>
              <a:defRPr sz="1200">
                <a:solidFill>
                  <a:srgbClr val="94A3B8"/>
                </a:solidFill>
              </a:defRPr>
            </a:pPr>
            <a:r>
              <a:rPr lang="ja-JP" dirty="0">
                <a:ea typeface="Meiryo"/>
              </a:rPr>
              <a:t>Zero Data Egress</a:t>
            </a:r>
          </a:p>
          <a:p>
            <a:pPr>
              <a:spcBef>
                <a:spcPts val="1000"/>
              </a:spcBef>
              <a:defRPr sz="1250">
                <a:solidFill>
                  <a:srgbClr val="E2E8F0"/>
                </a:solidFill>
              </a:defRPr>
            </a:pPr>
            <a:r>
              <a:rPr lang="ja-JP" dirty="0">
                <a:ea typeface="Meiryo"/>
              </a:rPr>
              <a:t>▸ 100% ローカル演算アーキテクチャ</a:t>
            </a:r>
          </a:p>
          <a:p>
            <a:pPr>
              <a:spcBef>
                <a:spcPts val="1000"/>
              </a:spcBef>
              <a:defRPr sz="1250">
                <a:solidFill>
                  <a:srgbClr val="E2E8F0"/>
                </a:solidFill>
              </a:defRPr>
            </a:pPr>
            <a:r>
              <a:rPr lang="ja-JP" dirty="0">
                <a:ea typeface="Meiryo"/>
              </a:rPr>
              <a:t>▸ SBERT による CPU ベクトル検索（1.48 ms）＋ ローカル Gemma の GPU 加速</a:t>
            </a:r>
          </a:p>
          <a:p>
            <a:pPr>
              <a:spcBef>
                <a:spcPts val="1000"/>
              </a:spcBef>
              <a:defRPr sz="1250">
                <a:solidFill>
                  <a:srgbClr val="E2E8F0"/>
                </a:solidFill>
              </a:defRPr>
            </a:pPr>
            <a:r>
              <a:rPr lang="ja-JP" dirty="0">
                <a:ea typeface="Meiryo"/>
              </a:rPr>
              <a:t>▸ 閲覧履歴と SNS 投稿は端末外へ一切出ない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SYSTEM ARCHITECTURE</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システム全体構成：3層協調アーキテクチャ（Client・Gateway・Dual Cores）</a:t>
            </a:r>
          </a:p>
        </p:txBody>
      </p:sp>
      <p:sp>
        <p:nvSpPr>
          <p:cNvPr id="5" name="Rounded Rectangle 4"/>
          <p:cNvSpPr/>
          <p:nvPr/>
        </p:nvSpPr>
        <p:spPr>
          <a:xfrm>
            <a:off x="548640" y="1234440"/>
            <a:ext cx="11094415" cy="160020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53312"/>
            <a:ext cx="10637215" cy="1371600"/>
          </a:xfrm>
          <a:prstGeom prst="rect">
            <a:avLst/>
          </a:prstGeom>
          <a:noFill/>
        </p:spPr>
        <p:txBody>
          <a:bodyPr wrap="square">
            <a:spAutoFit/>
          </a:bodyPr>
          <a:lstStyle/>
          <a:p>
            <a:pPr>
              <a:defRPr sz="1600" b="1">
                <a:solidFill>
                  <a:srgbClr val="0284C7"/>
                </a:solidFill>
              </a:defRPr>
            </a:pPr>
            <a:r>
              <a:rPr lang="ja-JP" dirty="0">
                <a:ea typeface="Meiryo"/>
              </a:rPr>
              <a:t>🟢 Tier 1: Client Tier — Chrome Extension (Manifest V3)</a:t>
            </a:r>
          </a:p>
          <a:p>
            <a:pPr>
              <a:spcBef>
                <a:spcPts val="400"/>
              </a:spcBef>
              <a:defRPr sz="1250">
                <a:solidFill>
                  <a:srgbClr val="0F172A"/>
                </a:solidFill>
              </a:defRPr>
            </a:pPr>
            <a:r>
              <a:rPr lang="ja-JP" dirty="0">
                <a:ea typeface="Meiryo"/>
              </a:rPr>
              <a:t>▸ DOM MutationObserver：SNS フィードの更新を軽量に監視（Facebook / LINE Web）し、スクロール読み込み時に記事コンテナを自動取得</a:t>
            </a:r>
            <a:br/>
            <a:r>
              <a:rPr lang="ja-JP" dirty="0">
                <a:ea typeface="Meiryo"/>
              </a:rPr>
              <a:t>▸ フローティング型の操作可能バッジ UI：投稿の横に信頼度インジケータ（赤／黄／緑）を即時注入し、クリックで訂正根拠と観点分析を展開</a:t>
            </a:r>
            <a:br/>
            <a:r>
              <a:rPr lang="ja-JP" dirty="0">
                <a:ea typeface="Meiryo"/>
              </a:rPr>
              <a:t>▸ 厳格なローカル通信：すべてのリクエストは localhost:5000 経由で、第三者への外部送信はゼロ</a:t>
            </a:r>
          </a:p>
        </p:txBody>
      </p:sp>
      <p:sp>
        <p:nvSpPr>
          <p:cNvPr id="7" name="Rounded Rectangle 6"/>
          <p:cNvSpPr/>
          <p:nvPr/>
        </p:nvSpPr>
        <p:spPr>
          <a:xfrm>
            <a:off x="548640" y="3063240"/>
            <a:ext cx="11094415" cy="16002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182112"/>
            <a:ext cx="10637215" cy="1371600"/>
          </a:xfrm>
          <a:prstGeom prst="rect">
            <a:avLst/>
          </a:prstGeom>
          <a:noFill/>
        </p:spPr>
        <p:txBody>
          <a:bodyPr wrap="square">
            <a:spAutoFit/>
          </a:bodyPr>
          <a:lstStyle/>
          <a:p>
            <a:pPr>
              <a:defRPr sz="1600" b="1">
                <a:solidFill>
                  <a:srgbClr val="0D9488"/>
                </a:solidFill>
              </a:defRPr>
            </a:pPr>
            <a:r>
              <a:rPr lang="ja-JP" dirty="0">
                <a:ea typeface="Meiryo"/>
              </a:rPr>
              <a:t>🔵 Tier 2: Gateway Tier — Flask Multi-Signal Fusion Engine (POST /judge)</a:t>
            </a:r>
          </a:p>
          <a:p>
            <a:pPr>
              <a:spcBef>
                <a:spcPts val="400"/>
              </a:spcBef>
              <a:defRPr sz="1250">
                <a:solidFill>
                  <a:srgbClr val="0F172A"/>
                </a:solidFill>
              </a:defRPr>
            </a:pPr>
            <a:r>
              <a:rPr lang="ja-JP" dirty="0">
                <a:ea typeface="Meiryo"/>
              </a:rPr>
              <a:t>▸ 多次元メタデータ評価行列：ドメインブラックリスト罰則、感情煽動指標の計算、時間減衰の重み付け</a:t>
            </a:r>
            <a:br/>
            <a:r>
              <a:rPr lang="ja-JP" dirty="0">
                <a:ea typeface="Meiryo"/>
              </a:rPr>
              <a:t>▸ 動的融合スケジューリング：査核庫の一致状況に応じて実証とモデルの重みを動的に調整（w_fusion = 0.10 vs 0.60）</a:t>
            </a:r>
            <a:br/>
            <a:r>
              <a:rPr lang="ja-JP" dirty="0">
                <a:ea typeface="Meiryo"/>
              </a:rPr>
              <a:t>▸ 非対称セーフティ・クランプ：既知デマのスコア上限を厳格に制限（S ≤ 25）し、LLM の誤判定による覆しを完全に排除</a:t>
            </a:r>
          </a:p>
        </p:txBody>
      </p:sp>
      <p:sp>
        <p:nvSpPr>
          <p:cNvPr id="9" name="Rounded Rectangle 8"/>
          <p:cNvSpPr/>
          <p:nvPr/>
        </p:nvSpPr>
        <p:spPr>
          <a:xfrm>
            <a:off x="548640" y="4892040"/>
            <a:ext cx="5376672" cy="16002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010912"/>
            <a:ext cx="4919472" cy="1371600"/>
          </a:xfrm>
          <a:prstGeom prst="rect">
            <a:avLst/>
          </a:prstGeom>
          <a:noFill/>
        </p:spPr>
        <p:txBody>
          <a:bodyPr wrap="square">
            <a:spAutoFit/>
          </a:bodyPr>
          <a:lstStyle/>
          <a:p>
            <a:pPr>
              <a:defRPr sz="1500" b="1">
                <a:solidFill>
                  <a:srgbClr val="0284C7"/>
                </a:solidFill>
              </a:defRPr>
            </a:pPr>
            <a:r>
              <a:rPr lang="ja-JP" dirty="0">
                <a:ea typeface="Meiryo"/>
              </a:rPr>
              <a:t>⚡ Tier 3A：ファクトチェック大盤検索（CPU）</a:t>
            </a:r>
          </a:p>
          <a:p>
            <a:pPr>
              <a:spcBef>
                <a:spcPts val="300"/>
              </a:spcBef>
              <a:defRPr sz="1200">
                <a:solidFill>
                  <a:srgbClr val="0F172A"/>
                </a:solidFill>
              </a:defRPr>
            </a:pPr>
            <a:r>
              <a:rPr lang="ja-JP" dirty="0">
                <a:ea typeface="Meiryo"/>
              </a:rPr>
              <a:t>▸ SBERT MiniLM-L12（384次元の稠密ベクトル）</a:t>
            </a:r>
            <a:br/>
            <a:r>
              <a:rPr lang="ja-JP" dirty="0">
                <a:ea typeface="Meiryo"/>
              </a:rPr>
              <a:t>▸ Cofacts の実査核 2,292 件</a:t>
            </a:r>
            <a:br/>
            <a:r>
              <a:rPr lang="ja-JP" dirty="0">
                <a:ea typeface="Meiryo"/>
              </a:rPr>
              <a:t>▸ 1.48 ms の超高速検索、VRAM 使用量ゼロ</a:t>
            </a:r>
          </a:p>
        </p:txBody>
      </p:sp>
      <p:sp>
        <p:nvSpPr>
          <p:cNvPr id="11" name="Rounded Rectangle 10"/>
          <p:cNvSpPr/>
          <p:nvPr/>
        </p:nvSpPr>
        <p:spPr>
          <a:xfrm>
            <a:off x="6263640" y="4892040"/>
            <a:ext cx="5376672" cy="160020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5010912"/>
            <a:ext cx="4919472" cy="1371600"/>
          </a:xfrm>
          <a:prstGeom prst="rect">
            <a:avLst/>
          </a:prstGeom>
          <a:noFill/>
        </p:spPr>
        <p:txBody>
          <a:bodyPr wrap="square">
            <a:spAutoFit/>
          </a:bodyPr>
          <a:lstStyle/>
          <a:p>
            <a:pPr>
              <a:defRPr sz="1500" b="1">
                <a:solidFill>
                  <a:srgbClr val="0D9488"/>
                </a:solidFill>
              </a:defRPr>
            </a:pPr>
            <a:r>
              <a:rPr lang="ja-JP" dirty="0">
                <a:ea typeface="Meiryo"/>
              </a:rPr>
              <a:t>🧠 Tier 3B：端末内での補助的観点抽出（GPU）</a:t>
            </a:r>
          </a:p>
          <a:p>
            <a:pPr>
              <a:spcBef>
                <a:spcPts val="300"/>
              </a:spcBef>
              <a:defRPr sz="1200">
                <a:solidFill>
                  <a:srgbClr val="0F172A"/>
                </a:solidFill>
              </a:defRPr>
            </a:pPr>
            <a:r>
              <a:rPr lang="ja-JP" dirty="0">
                <a:ea typeface="Meiryo"/>
              </a:rPr>
              <a:t>▸ Gemma-4-12B（Q4_K_M 量子化）</a:t>
            </a:r>
            <a:br/>
            <a:r>
              <a:rPr lang="ja-JP" dirty="0">
                <a:ea typeface="Meiryo"/>
              </a:rPr>
              <a:t>▸ format:json の文法制約で解析成功率 100%</a:t>
            </a:r>
            <a:br/>
            <a:r>
              <a:rPr lang="ja-JP" dirty="0">
                <a:ea typeface="Meiryo"/>
              </a:rPr>
              <a:t>▸ 観点の抽出と、未一致時の補助分析を担当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MACRO FACT-CHECK CENSUS</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中核モジュール1：ファクトチェック大盤の構築と地域データベースの統合</a:t>
            </a:r>
          </a:p>
        </p:txBody>
      </p:sp>
      <p:sp>
        <p:nvSpPr>
          <p:cNvPr id="5" name="Rounded Rectangle 4"/>
          <p:cNvSpPr/>
          <p:nvPr/>
        </p:nvSpPr>
        <p:spPr>
          <a:xfrm>
            <a:off x="548640" y="1234440"/>
            <a:ext cx="3520440" cy="1600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44168"/>
            <a:ext cx="3063240" cy="1380744"/>
          </a:xfrm>
          <a:prstGeom prst="rect">
            <a:avLst/>
          </a:prstGeom>
          <a:noFill/>
        </p:spPr>
        <p:txBody>
          <a:bodyPr wrap="square" lIns="0" tIns="0" rIns="0" bIns="0">
            <a:spAutoFit/>
          </a:bodyPr>
          <a:lstStyle/>
          <a:p>
            <a:pPr>
              <a:defRPr sz="3800" b="1">
                <a:solidFill>
                  <a:srgbClr val="0284C7"/>
                </a:solidFill>
                <a:latin typeface="Calibri"/>
              </a:defRPr>
            </a:pPr>
            <a:r>
              <a:rPr lang="ja-JP" dirty="0">
                <a:ea typeface="Meiryo"/>
              </a:rPr>
              <a:t>2,292 件</a:t>
            </a:r>
          </a:p>
          <a:p>
            <a:pPr>
              <a:spcBef>
                <a:spcPts val="200"/>
              </a:spcBef>
              <a:defRPr sz="1550" b="1">
                <a:solidFill>
                  <a:srgbClr val="0F172A"/>
                </a:solidFill>
                <a:latin typeface="Calibri"/>
              </a:defRPr>
            </a:pPr>
            <a:r>
              <a:rPr lang="ja-JP" dirty="0">
                <a:ea typeface="Meiryo"/>
              </a:rPr>
              <a:t>有効なファクトチェック記録の総数</a:t>
            </a:r>
          </a:p>
          <a:p>
            <a:pPr>
              <a:spcBef>
                <a:spcPts val="200"/>
              </a:spcBef>
              <a:defRPr sz="1200">
                <a:solidFill>
                  <a:srgbClr val="475569"/>
                </a:solidFill>
                <a:latin typeface="Calibri"/>
              </a:defRPr>
            </a:pPr>
            <a:r>
              <a:rPr lang="ja-JP" dirty="0">
                <a:ea typeface="Meiryo"/>
              </a:rPr>
              <a:t>文字数フィルタ（40字超）を通過した高品質データ</a:t>
            </a:r>
          </a:p>
        </p:txBody>
      </p:sp>
      <p:sp>
        <p:nvSpPr>
          <p:cNvPr id="7" name="Rounded Rectangle 6"/>
          <p:cNvSpPr/>
          <p:nvPr/>
        </p:nvSpPr>
        <p:spPr>
          <a:xfrm>
            <a:off x="4334256" y="1234440"/>
            <a:ext cx="3520440" cy="1600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344168"/>
            <a:ext cx="3063240" cy="1380744"/>
          </a:xfrm>
          <a:prstGeom prst="rect">
            <a:avLst/>
          </a:prstGeom>
          <a:noFill/>
        </p:spPr>
        <p:txBody>
          <a:bodyPr wrap="square" lIns="0" tIns="0" rIns="0" bIns="0">
            <a:spAutoFit/>
          </a:bodyPr>
          <a:lstStyle/>
          <a:p>
            <a:pPr>
              <a:defRPr sz="3800" b="1">
                <a:solidFill>
                  <a:srgbClr val="0D9488"/>
                </a:solidFill>
                <a:latin typeface="Calibri"/>
              </a:defRPr>
            </a:pPr>
            <a:r>
              <a:rPr lang="ja-JP" dirty="0">
                <a:ea typeface="Meiryo"/>
              </a:rPr>
              <a:t>IFCN 認証</a:t>
            </a:r>
          </a:p>
          <a:p>
            <a:pPr>
              <a:spcBef>
                <a:spcPts val="200"/>
              </a:spcBef>
              <a:defRPr sz="1550" b="1">
                <a:solidFill>
                  <a:srgbClr val="0F172A"/>
                </a:solidFill>
                <a:latin typeface="Calibri"/>
              </a:defRPr>
            </a:pPr>
            <a:r>
              <a:rPr lang="ja-JP" dirty="0">
                <a:ea typeface="Meiryo"/>
              </a:rPr>
              <a:t>国際ファクトチェックネットワーク基準</a:t>
            </a:r>
          </a:p>
          <a:p>
            <a:pPr>
              <a:spcBef>
                <a:spcPts val="200"/>
              </a:spcBef>
              <a:defRPr sz="1200">
                <a:solidFill>
                  <a:srgbClr val="475569"/>
                </a:solidFill>
                <a:latin typeface="Calibri"/>
              </a:defRPr>
            </a:pPr>
            <a:r>
              <a:rPr lang="ja-JP" dirty="0">
                <a:ea typeface="Meiryo"/>
              </a:rPr>
              <a:t>台湾ファクトチェックセンター（TFC）と MyGoPen で交差検証</a:t>
            </a:r>
          </a:p>
        </p:txBody>
      </p:sp>
      <p:sp>
        <p:nvSpPr>
          <p:cNvPr id="9" name="Rounded Rectangle 8"/>
          <p:cNvSpPr/>
          <p:nvPr/>
        </p:nvSpPr>
        <p:spPr>
          <a:xfrm>
            <a:off x="8119872" y="1234440"/>
            <a:ext cx="3520440" cy="1600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344168"/>
            <a:ext cx="3063240" cy="1380744"/>
          </a:xfrm>
          <a:prstGeom prst="rect">
            <a:avLst/>
          </a:prstGeom>
          <a:noFill/>
        </p:spPr>
        <p:txBody>
          <a:bodyPr wrap="square" lIns="0" tIns="0" rIns="0" bIns="0">
            <a:spAutoFit/>
          </a:bodyPr>
          <a:lstStyle/>
          <a:p>
            <a:pPr>
              <a:defRPr sz="3800" b="1">
                <a:solidFill>
                  <a:srgbClr val="10B981"/>
                </a:solidFill>
                <a:latin typeface="Calibri"/>
              </a:defRPr>
            </a:pPr>
            <a:r>
              <a:rPr lang="ja-JP" dirty="0">
                <a:ea typeface="Meiryo"/>
              </a:rPr>
              <a:t>99.9%</a:t>
            </a:r>
          </a:p>
          <a:p>
            <a:pPr>
              <a:spcBef>
                <a:spcPts val="200"/>
              </a:spcBef>
              <a:defRPr sz="1550" b="1">
                <a:solidFill>
                  <a:srgbClr val="0F172A"/>
                </a:solidFill>
                <a:latin typeface="Calibri"/>
              </a:defRPr>
            </a:pPr>
            <a:r>
              <a:rPr lang="ja-JP" dirty="0">
                <a:ea typeface="Meiryo"/>
              </a:rPr>
              <a:t>真のクエリに対する Top-1 再現率</a:t>
            </a:r>
          </a:p>
          <a:p>
            <a:pPr>
              <a:spcBef>
                <a:spcPts val="200"/>
              </a:spcBef>
              <a:defRPr sz="1200">
                <a:solidFill>
                  <a:srgbClr val="475569"/>
                </a:solidFill>
                <a:latin typeface="Calibri"/>
              </a:defRPr>
            </a:pPr>
            <a:r>
              <a:rPr lang="ja-JP" dirty="0">
                <a:ea typeface="Meiryo"/>
              </a:rPr>
              <a:t>摂動なしで原文をほぼ完全に特定</a:t>
            </a:r>
          </a:p>
        </p:txBody>
      </p:sp>
      <p:graphicFrame>
        <p:nvGraphicFramePr>
          <p:cNvPr id="11" name="Table 10"/>
          <p:cNvGraphicFramePr>
            <a:graphicFrameLocks noGrp="1"/>
          </p:cNvGraphicFramePr>
          <p:nvPr/>
        </p:nvGraphicFramePr>
        <p:xfrm>
          <a:off x="548640" y="3063240"/>
          <a:ext cx="11094415" cy="3429000"/>
        </p:xfrm>
        <a:graphic>
          <a:graphicData uri="http://schemas.openxmlformats.org/drawingml/2006/table">
            <a:tbl>
              <a:tblPr firstRow="1" bandRow="1">
                <a:tableStyleId>{5C22544A-7EE6-4342-B048-85BDC9FD1C3A}</a:tableStyleId>
              </a:tblPr>
              <a:tblGrid>
                <a:gridCol w="3017520"/>
                <a:gridCol w="1645920"/>
                <a:gridCol w="1645920"/>
                <a:gridCol w="4785055"/>
              </a:tblGrid>
              <a:tr h="685800">
                <a:tc>
                  <a:txBody>
                    <a:bodyPr/>
                    <a:lstStyle/>
                    <a:p>
                      <a:pPr algn="ctr">
                        <a:defRPr sz="1300" b="1">
                          <a:solidFill>
                            <a:srgbClr val="FFFFFF"/>
                          </a:solidFill>
                          <a:latin typeface="Calibri"/>
                        </a:defRPr>
                      </a:pPr>
                      <a:r>
                        <a:rPr lang="ja-JP" dirty="0">
                          <a:ea typeface="Meiryo"/>
                        </a:rPr>
                        <a:t>ラベル分類（Ground Truth Label）</a:t>
                      </a:r>
                    </a:p>
                  </a:txBody>
                  <a:tcPr anchor="ctr">
                    <a:solidFill>
                      <a:srgbClr val="1E293B"/>
                    </a:solidFill>
                  </a:tcPr>
                </a:tc>
                <a:tc>
                  <a:txBody>
                    <a:bodyPr/>
                    <a:lstStyle/>
                    <a:p>
                      <a:pPr algn="ctr">
                        <a:defRPr sz="1300" b="1">
                          <a:solidFill>
                            <a:srgbClr val="FFFFFF"/>
                          </a:solidFill>
                          <a:latin typeface="Calibri"/>
                        </a:defRPr>
                      </a:pPr>
                      <a:r>
                        <a:rPr lang="ja-JP" dirty="0">
                          <a:ea typeface="Meiryo"/>
                        </a:rPr>
                        <a:t>記録件数（Count）</a:t>
                      </a:r>
                    </a:p>
                  </a:txBody>
                  <a:tcPr anchor="ctr">
                    <a:solidFill>
                      <a:srgbClr val="1E293B"/>
                    </a:solidFill>
                  </a:tcPr>
                </a:tc>
                <a:tc>
                  <a:txBody>
                    <a:bodyPr/>
                    <a:lstStyle/>
                    <a:p>
                      <a:pPr algn="ctr">
                        <a:defRPr sz="1300" b="1">
                          <a:solidFill>
                            <a:srgbClr val="FFFFFF"/>
                          </a:solidFill>
                          <a:latin typeface="Calibri"/>
                        </a:defRPr>
                      </a:pPr>
                      <a:r>
                        <a:rPr lang="ja-JP" dirty="0">
                          <a:ea typeface="Meiryo"/>
                        </a:rPr>
                        <a:t>構成比（Percentage）</a:t>
                      </a:r>
                    </a:p>
                  </a:txBody>
                  <a:tcPr anchor="ctr">
                    <a:solidFill>
                      <a:srgbClr val="1E293B"/>
                    </a:solidFill>
                  </a:tcPr>
                </a:tc>
                <a:tc>
                  <a:txBody>
                    <a:bodyPr/>
                    <a:lstStyle/>
                    <a:p>
                      <a:pPr algn="ctr">
                        <a:defRPr sz="1300" b="1">
                          <a:solidFill>
                            <a:srgbClr val="FFFFFF"/>
                          </a:solidFill>
                          <a:latin typeface="Calibri"/>
                        </a:defRPr>
                      </a:pPr>
                      <a:r>
                        <a:rPr lang="ja-JP" dirty="0">
                          <a:ea typeface="Meiryo"/>
                        </a:rPr>
                        <a:t>コミュニティコーパスの特徴と代表例</a:t>
                      </a:r>
                    </a:p>
                  </a:txBody>
                  <a:tcPr anchor="ctr">
                    <a:solidFill>
                      <a:srgbClr val="1E293B"/>
                    </a:solidFill>
                  </a:tcPr>
                </a:tc>
              </a:tr>
              <a:tr h="685800">
                <a:tc>
                  <a:txBody>
                    <a:bodyPr/>
                    <a:lstStyle/>
                    <a:p>
                      <a:pPr algn="l">
                        <a:defRPr sz="1200" b="1">
                          <a:solidFill>
                            <a:srgbClr val="0F172A"/>
                          </a:solidFill>
                          <a:latin typeface="Calibri"/>
                        </a:defRPr>
                      </a:pPr>
                      <a:r>
                        <a:rPr lang="ja-JP" dirty="0">
                          <a:ea typeface="Meiryo"/>
                        </a:rPr>
                        <a:t>虚偽情報（inaccurate / false）</a:t>
                      </a:r>
                    </a:p>
                  </a:txBody>
                  <a:tcPr anchor="ctr">
                    <a:solidFill>
                      <a:srgbClr val="F8FAFC"/>
                    </a:solidFill>
                  </a:tcPr>
                </a:tc>
                <a:tc>
                  <a:txBody>
                    <a:bodyPr/>
                    <a:lstStyle/>
                    <a:p>
                      <a:pPr algn="ctr">
                        <a:defRPr sz="1200">
                          <a:solidFill>
                            <a:srgbClr val="0F172A"/>
                          </a:solidFill>
                          <a:latin typeface="Calibri"/>
                        </a:defRPr>
                      </a:pPr>
                      <a:r>
                        <a:rPr lang="ja-JP" dirty="0">
                          <a:ea typeface="Meiryo"/>
                        </a:rPr>
                        <a:t>1,817 件</a:t>
                      </a:r>
                    </a:p>
                  </a:txBody>
                  <a:tcPr anchor="ctr">
                    <a:solidFill>
                      <a:srgbClr val="F8FAFC"/>
                    </a:solidFill>
                  </a:tcPr>
                </a:tc>
                <a:tc>
                  <a:txBody>
                    <a:bodyPr/>
                    <a:lstStyle/>
                    <a:p>
                      <a:pPr algn="ctr">
                        <a:defRPr sz="1200">
                          <a:solidFill>
                            <a:srgbClr val="0F172A"/>
                          </a:solidFill>
                          <a:latin typeface="Calibri"/>
                        </a:defRPr>
                      </a:pPr>
                      <a:r>
                        <a:rPr lang="ja-JP" dirty="0">
                          <a:ea typeface="Meiryo"/>
                        </a:rPr>
                        <a:t>79.3%</a:t>
                      </a:r>
                    </a:p>
                  </a:txBody>
                  <a:tcPr anchor="ctr">
                    <a:solidFill>
                      <a:srgbClr val="F8FAFC"/>
                    </a:solidFill>
                  </a:tcPr>
                </a:tc>
                <a:tc>
                  <a:txBody>
                    <a:bodyPr/>
                    <a:lstStyle/>
                    <a:p>
                      <a:pPr algn="ctr">
                        <a:defRPr sz="1200">
                          <a:solidFill>
                            <a:srgbClr val="0F172A"/>
                          </a:solidFill>
                          <a:latin typeface="Calibri"/>
                        </a:defRPr>
                      </a:pPr>
                      <a:r>
                        <a:rPr lang="ja-JP" dirty="0">
                          <a:ea typeface="Meiryo"/>
                        </a:rPr>
                        <a:t>誇張した健康レシピ、政治的ディープフェイク動画、偽造公文書による詐欺記事</a:t>
                      </a:r>
                    </a:p>
                  </a:txBody>
                  <a:tcPr anchor="ctr">
                    <a:solidFill>
                      <a:srgbClr val="F8FAFC"/>
                    </a:solidFill>
                  </a:tcPr>
                </a:tc>
              </a:tr>
              <a:tr h="685800">
                <a:tc>
                  <a:txBody>
                    <a:bodyPr/>
                    <a:lstStyle/>
                    <a:p>
                      <a:pPr algn="l">
                        <a:defRPr sz="1200" b="1">
                          <a:solidFill>
                            <a:srgbClr val="0F172A"/>
                          </a:solidFill>
                          <a:latin typeface="Calibri"/>
                        </a:defRPr>
                      </a:pPr>
                      <a:r>
                        <a:rPr lang="ja-JP" dirty="0">
                          <a:ea typeface="Meiryo"/>
                        </a:rPr>
                        <a:t>一部虚偽・係争中（partial）</a:t>
                      </a:r>
                    </a:p>
                  </a:txBody>
                  <a:tcPr anchor="ctr">
                    <a:solidFill>
                      <a:srgbClr val="FFFFFF"/>
                    </a:solidFill>
                  </a:tcPr>
                </a:tc>
                <a:tc>
                  <a:txBody>
                    <a:bodyPr/>
                    <a:lstStyle/>
                    <a:p>
                      <a:pPr algn="ctr">
                        <a:defRPr sz="1200">
                          <a:solidFill>
                            <a:srgbClr val="0F172A"/>
                          </a:solidFill>
                          <a:latin typeface="Calibri"/>
                        </a:defRPr>
                      </a:pPr>
                      <a:r>
                        <a:rPr lang="ja-JP" dirty="0">
                          <a:ea typeface="Meiryo"/>
                        </a:rPr>
                        <a:t>208 件</a:t>
                      </a:r>
                    </a:p>
                  </a:txBody>
                  <a:tcPr anchor="ctr">
                    <a:solidFill>
                      <a:srgbClr val="FFFFFF"/>
                    </a:solidFill>
                  </a:tcPr>
                </a:tc>
                <a:tc>
                  <a:txBody>
                    <a:bodyPr/>
                    <a:lstStyle/>
                    <a:p>
                      <a:pPr algn="ctr">
                        <a:defRPr sz="1200">
                          <a:solidFill>
                            <a:srgbClr val="0F172A"/>
                          </a:solidFill>
                          <a:latin typeface="Calibri"/>
                        </a:defRPr>
                      </a:pPr>
                      <a:r>
                        <a:rPr lang="ja-JP" dirty="0">
                          <a:ea typeface="Meiryo"/>
                        </a:rPr>
                        <a:t>9.1%</a:t>
                      </a:r>
                    </a:p>
                  </a:txBody>
                  <a:tcPr anchor="ctr">
                    <a:solidFill>
                      <a:srgbClr val="FFFFFF"/>
                    </a:solidFill>
                  </a:tcPr>
                </a:tc>
                <a:tc>
                  <a:txBody>
                    <a:bodyPr/>
                    <a:lstStyle/>
                    <a:p>
                      <a:pPr algn="ctr">
                        <a:defRPr sz="1200">
                          <a:solidFill>
                            <a:srgbClr val="0F172A"/>
                          </a:solidFill>
                          <a:latin typeface="Calibri"/>
                        </a:defRPr>
                      </a:pPr>
                      <a:r>
                        <a:rPr lang="ja-JP" dirty="0">
                          <a:ea typeface="Meiryo"/>
                        </a:rPr>
                        <a:t>真のニュースに断章取義の個人評論を混在、時系列の錯誤</a:t>
                      </a:r>
                    </a:p>
                  </a:txBody>
                  <a:tcPr anchor="ctr">
                    <a:solidFill>
                      <a:srgbClr val="FFFFFF"/>
                    </a:solidFill>
                  </a:tcPr>
                </a:tc>
              </a:tr>
              <a:tr h="685800">
                <a:tc>
                  <a:txBody>
                    <a:bodyPr/>
                    <a:lstStyle/>
                    <a:p>
                      <a:pPr algn="l">
                        <a:defRPr sz="1200" b="1">
                          <a:solidFill>
                            <a:srgbClr val="0F172A"/>
                          </a:solidFill>
                          <a:latin typeface="Calibri"/>
                        </a:defRPr>
                      </a:pPr>
                      <a:r>
                        <a:rPr lang="ja-JP" dirty="0">
                          <a:ea typeface="Meiryo"/>
                        </a:rPr>
                        <a:t>真の報道（accurate / real）</a:t>
                      </a:r>
                    </a:p>
                  </a:txBody>
                  <a:tcPr anchor="ctr">
                    <a:solidFill>
                      <a:srgbClr val="F8FAFC"/>
                    </a:solidFill>
                  </a:tcPr>
                </a:tc>
                <a:tc>
                  <a:txBody>
                    <a:bodyPr/>
                    <a:lstStyle/>
                    <a:p>
                      <a:pPr algn="ctr">
                        <a:defRPr sz="1200">
                          <a:solidFill>
                            <a:srgbClr val="0F172A"/>
                          </a:solidFill>
                          <a:latin typeface="Calibri"/>
                        </a:defRPr>
                      </a:pPr>
                      <a:r>
                        <a:rPr lang="ja-JP" dirty="0">
                          <a:ea typeface="Meiryo"/>
                        </a:rPr>
                        <a:t>267 件</a:t>
                      </a:r>
                    </a:p>
                  </a:txBody>
                  <a:tcPr anchor="ctr">
                    <a:solidFill>
                      <a:srgbClr val="F8FAFC"/>
                    </a:solidFill>
                  </a:tcPr>
                </a:tc>
                <a:tc>
                  <a:txBody>
                    <a:bodyPr/>
                    <a:lstStyle/>
                    <a:p>
                      <a:pPr algn="ctr">
                        <a:defRPr sz="1200">
                          <a:solidFill>
                            <a:srgbClr val="0F172A"/>
                          </a:solidFill>
                          <a:latin typeface="Calibri"/>
                        </a:defRPr>
                      </a:pPr>
                      <a:r>
                        <a:rPr lang="ja-JP" dirty="0">
                          <a:ea typeface="Meiryo"/>
                        </a:rPr>
                        <a:t>11.6%</a:t>
                      </a:r>
                    </a:p>
                  </a:txBody>
                  <a:tcPr anchor="ctr">
                    <a:solidFill>
                      <a:srgbClr val="F8FAFC"/>
                    </a:solidFill>
                  </a:tcPr>
                </a:tc>
                <a:tc>
                  <a:txBody>
                    <a:bodyPr/>
                    <a:lstStyle/>
                    <a:p>
                      <a:pPr algn="ctr">
                        <a:defRPr sz="1200">
                          <a:solidFill>
                            <a:srgbClr val="0F172A"/>
                          </a:solidFill>
                          <a:latin typeface="Calibri"/>
                        </a:defRPr>
                      </a:pPr>
                      <a:r>
                        <a:rPr lang="ja-JP" dirty="0">
                          <a:ea typeface="Meiryo"/>
                        </a:rPr>
                        <a:t>査核機関が裏付けた正規の調査報道と公式の訂正発表</a:t>
                      </a:r>
                    </a:p>
                  </a:txBody>
                  <a:tcPr anchor="ctr">
                    <a:solidFill>
                      <a:srgbClr val="F8FAFC"/>
                    </a:solidFill>
                  </a:tcPr>
                </a:tc>
              </a:tr>
              <a:tr h="685800">
                <a:tc>
                  <a:txBody>
                    <a:bodyPr/>
                    <a:lstStyle/>
                    <a:p>
                      <a:pPr algn="l">
                        <a:defRPr sz="1200" b="1">
                          <a:solidFill>
                            <a:srgbClr val="0F172A"/>
                          </a:solidFill>
                          <a:latin typeface="Calibri"/>
                        </a:defRPr>
                      </a:pPr>
                      <a:r>
                        <a:rPr lang="ja-JP" dirty="0">
                          <a:ea typeface="Meiryo"/>
                        </a:rPr>
                        <a:t>有効コーパス合計（Total）</a:t>
                      </a:r>
                    </a:p>
                  </a:txBody>
                  <a:tcPr anchor="ctr">
                    <a:solidFill>
                      <a:srgbClr val="FEF3C7"/>
                    </a:solidFill>
                  </a:tcPr>
                </a:tc>
                <a:tc>
                  <a:txBody>
                    <a:bodyPr/>
                    <a:lstStyle/>
                    <a:p>
                      <a:pPr algn="ctr">
                        <a:defRPr sz="1200" b="1">
                          <a:solidFill>
                            <a:srgbClr val="0F172A"/>
                          </a:solidFill>
                          <a:latin typeface="Calibri"/>
                        </a:defRPr>
                      </a:pPr>
                      <a:r>
                        <a:rPr lang="ja-JP" dirty="0">
                          <a:ea typeface="Meiryo"/>
                        </a:rPr>
                        <a:t>2,292 件</a:t>
                      </a:r>
                    </a:p>
                  </a:txBody>
                  <a:tcPr anchor="ctr">
                    <a:solidFill>
                      <a:srgbClr val="FEF3C7"/>
                    </a:solidFill>
                  </a:tcPr>
                </a:tc>
                <a:tc>
                  <a:txBody>
                    <a:bodyPr/>
                    <a:lstStyle/>
                    <a:p>
                      <a:pPr algn="ctr">
                        <a:defRPr sz="1200" b="1">
                          <a:solidFill>
                            <a:srgbClr val="0F172A"/>
                          </a:solidFill>
                          <a:latin typeface="Calibri"/>
                        </a:defRPr>
                      </a:pPr>
                      <a:r>
                        <a:rPr lang="ja-JP" dirty="0">
                          <a:ea typeface="Meiryo"/>
                        </a:rPr>
                        <a:t>100.0%</a:t>
                      </a:r>
                    </a:p>
                  </a:txBody>
                  <a:tcPr anchor="ctr">
                    <a:solidFill>
                      <a:srgbClr val="FEF3C7"/>
                    </a:solidFill>
                  </a:tcPr>
                </a:tc>
                <a:tc>
                  <a:txBody>
                    <a:bodyPr/>
                    <a:lstStyle/>
                    <a:p>
                      <a:pPr algn="ctr">
                        <a:defRPr sz="1200" b="1">
                          <a:solidFill>
                            <a:srgbClr val="0F172A"/>
                          </a:solidFill>
                          <a:latin typeface="Calibri"/>
                        </a:defRPr>
                      </a:pPr>
                      <a:r>
                        <a:rPr lang="ja-JP" dirty="0">
                          <a:ea typeface="Meiryo"/>
                        </a:rPr>
                        <a:t>2020〜2026年に台湾の LINE/FB で高拡散した訂正資料を網羅</a:t>
                      </a:r>
                    </a:p>
                  </a:txBody>
                  <a:tcPr anchor="ctr">
                    <a:solidFill>
                      <a:srgbClr val="FEF3C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SEMANTIC RETRIEVAL ENGINE</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ミリ秒級の SBERT 意味検索：CPU 常駐アーキテクチャと動的閾値の意思決定</a:t>
            </a:r>
          </a:p>
        </p:txBody>
      </p:sp>
      <p:sp>
        <p:nvSpPr>
          <p:cNvPr id="5" name="Rounded Rectangle 4"/>
          <p:cNvSpPr/>
          <p:nvPr/>
        </p:nvSpPr>
        <p:spPr>
          <a:xfrm>
            <a:off x="548640" y="1234440"/>
            <a:ext cx="5376672" cy="52578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4919472" cy="2468880"/>
          </a:xfrm>
          <a:prstGeom prst="rect">
            <a:avLst/>
          </a:prstGeom>
          <a:noFill/>
        </p:spPr>
        <p:txBody>
          <a:bodyPr wrap="square">
            <a:spAutoFit/>
          </a:bodyPr>
          <a:lstStyle/>
          <a:p>
            <a:pPr>
              <a:defRPr sz="1800" b="1">
                <a:solidFill>
                  <a:srgbClr val="0369A1"/>
                </a:solidFill>
              </a:defRPr>
            </a:pPr>
            <a:r>
              <a:rPr lang="ja-JP" dirty="0">
                <a:ea typeface="Meiryo"/>
              </a:rPr>
              <a:t>🧠 ベクトル空間のモデリングと演算</a:t>
            </a:r>
          </a:p>
          <a:p>
            <a:pPr>
              <a:spcBef>
                <a:spcPts val="500"/>
              </a:spcBef>
              <a:defRPr sz="1300">
                <a:solidFill>
                  <a:srgbClr val="0F172A"/>
                </a:solidFill>
              </a:defRPr>
            </a:pPr>
            <a:r>
              <a:rPr lang="ja-JP" dirty="0">
                <a:ea typeface="Meiryo"/>
              </a:rPr>
              <a:t>▸ モデル構成：多言語 Sentence-BERT（MiniLM-L12）が 384 次元の稠密意味ベクトルを出力（q ∈ ℝ³⁸⁴）。</a:t>
            </a:r>
          </a:p>
          <a:p>
            <a:pPr>
              <a:spcBef>
                <a:spcPts val="500"/>
              </a:spcBef>
              <a:defRPr sz="1300">
                <a:solidFill>
                  <a:srgbClr val="0F172A"/>
                </a:solidFill>
              </a:defRPr>
            </a:pPr>
            <a:r>
              <a:rPr lang="ja-JP" dirty="0">
                <a:ea typeface="Meiryo"/>
              </a:rPr>
              <a:t>▸ CPU 常駐の独立構成：ベクトル符号化と類似度計算はすべてホスト CPU で実行し、GPU 上の LLM 演算と完全に分離して VRAM 競合ゼロ。</a:t>
            </a:r>
          </a:p>
          <a:p>
            <a:pPr>
              <a:spcBef>
                <a:spcPts val="500"/>
              </a:spcBef>
              <a:defRPr sz="1300">
                <a:solidFill>
                  <a:srgbClr val="0F172A"/>
                </a:solidFill>
              </a:defRPr>
            </a:pPr>
            <a:r>
              <a:rPr lang="ja-JP" dirty="0">
                <a:ea typeface="Meiryo"/>
              </a:rPr>
              <a:t>▸ 静的マトリクス写像：2,292 件のベクトルを事前に圧縮行列（sbert_index.npz、2292×384）へ変換し、起動時に即時メモリマップで読み込む。</a:t>
            </a:r>
          </a:p>
        </p:txBody>
      </p:sp>
      <p:sp>
        <p:nvSpPr>
          <p:cNvPr id="7" name="Rounded Rectangle 6"/>
          <p:cNvSpPr/>
          <p:nvPr/>
        </p:nvSpPr>
        <p:spPr>
          <a:xfrm>
            <a:off x="777240" y="4114800"/>
            <a:ext cx="4919472" cy="214884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206240"/>
            <a:ext cx="4572000" cy="320040"/>
          </a:xfrm>
          <a:prstGeom prst="rect">
            <a:avLst/>
          </a:prstGeom>
          <a:noFill/>
        </p:spPr>
        <p:txBody>
          <a:bodyPr wrap="none">
            <a:spAutoFit/>
          </a:bodyPr>
          <a:lstStyle/>
          <a:p>
            <a:pPr>
              <a:defRPr sz="1300" b="1">
                <a:solidFill>
                  <a:srgbClr val="0369A1"/>
                </a:solidFill>
              </a:defRPr>
            </a:pPr>
            <a:r>
              <a:rPr lang="ja-JP" dirty="0">
                <a:ea typeface="Meiryo"/>
              </a:rPr>
              <a:t>📐 Cosine 意味類似度の計算式</a:t>
            </a:r>
          </a:p>
        </p:txBody>
      </p:sp>
      <p:pic>
        <p:nvPicPr>
          <p:cNvPr id="9" name="Picture 8" descr="eq_cosine.png"/>
          <p:cNvPicPr>
            <a:picLocks noChangeAspect="1"/>
          </p:cNvPicPr>
          <p:nvPr/>
        </p:nvPicPr>
        <p:blipFill>
          <a:blip r:embed="rId2"/>
          <a:stretch>
            <a:fillRect/>
          </a:stretch>
        </p:blipFill>
        <p:spPr>
          <a:xfrm>
            <a:off x="1179576" y="4617720"/>
            <a:ext cx="4114800" cy="1078992"/>
          </a:xfrm>
          <a:prstGeom prst="rect">
            <a:avLst/>
          </a:prstGeom>
        </p:spPr>
      </p:pic>
      <p:sp>
        <p:nvSpPr>
          <p:cNvPr id="10" name="Rounded Rectangle 9"/>
          <p:cNvSpPr/>
          <p:nvPr/>
        </p:nvSpPr>
        <p:spPr>
          <a:xfrm>
            <a:off x="6263640" y="1234440"/>
            <a:ext cx="5376672" cy="525780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17320"/>
            <a:ext cx="4919472" cy="4892040"/>
          </a:xfrm>
          <a:prstGeom prst="rect">
            <a:avLst/>
          </a:prstGeom>
          <a:noFill/>
        </p:spPr>
        <p:txBody>
          <a:bodyPr wrap="square">
            <a:spAutoFit/>
          </a:bodyPr>
          <a:lstStyle/>
          <a:p>
            <a:pPr>
              <a:defRPr sz="1800" b="1">
                <a:solidFill>
                  <a:srgbClr val="0F766E"/>
                </a:solidFill>
              </a:defRPr>
            </a:pPr>
            <a:r>
              <a:rPr lang="ja-JP" dirty="0">
                <a:ea typeface="Meiryo"/>
              </a:rPr>
              <a:t>🎯 判定閾値とファストパスの仕組み</a:t>
            </a:r>
          </a:p>
          <a:p>
            <a:pPr>
              <a:spcBef>
                <a:spcPts val="800"/>
              </a:spcBef>
              <a:defRPr sz="1300">
                <a:solidFill>
                  <a:srgbClr val="0F172A"/>
                </a:solidFill>
              </a:defRPr>
            </a:pPr>
            <a:r>
              <a:rPr lang="ja-JP" dirty="0">
                <a:ea typeface="Meiryo"/>
              </a:rPr>
              <a:t>▸ 二段階フィルタ戦略：</a:t>
            </a:r>
            <a:br/>
            <a:r>
              <a:rPr lang="ja-JP" dirty="0">
                <a:ea typeface="Meiryo"/>
              </a:rPr>
              <a:t>  - 粗選別（Pre-filter）：0.50 で Top-5 候補を高速に抽出</a:t>
            </a:r>
            <a:br/>
            <a:r>
              <a:rPr lang="ja-JP" dirty="0">
                <a:ea typeface="Meiryo"/>
              </a:rPr>
              <a:t>  - 精選（Decision Threshold）：θ_sim = 0.72</a:t>
            </a:r>
          </a:p>
          <a:p>
            <a:pPr>
              <a:spcBef>
                <a:spcPts val="800"/>
              </a:spcBef>
              <a:defRPr sz="1300">
                <a:solidFill>
                  <a:srgbClr val="0F172A"/>
                </a:solidFill>
              </a:defRPr>
            </a:pPr>
            <a:r>
              <a:rPr lang="ja-JP" dirty="0">
                <a:ea typeface="Meiryo"/>
              </a:rPr>
              <a:t>▸ 黄金バランス点 θ_sim = 0.72：</a:t>
            </a:r>
            <a:br/>
            <a:r>
              <a:rPr lang="ja-JP" dirty="0">
                <a:ea typeface="Meiryo"/>
              </a:rPr>
              <a:t>  - カバレッジ（Coverage）：55.2% のクエリを査核庫がミリ秒で判定</a:t>
            </a:r>
            <a:br/>
            <a:r>
              <a:rPr lang="ja-JP" dirty="0">
                <a:ea typeface="Meiryo"/>
              </a:rPr>
              <a:t>  - 正解率（Accuracy）：95.3% を達成、F1-Score は 0.974</a:t>
            </a:r>
          </a:p>
          <a:p>
            <a:pPr>
              <a:spcBef>
                <a:spcPts val="800"/>
              </a:spcBef>
              <a:defRPr sz="1300">
                <a:solidFill>
                  <a:srgbClr val="0F172A"/>
                </a:solidFill>
              </a:defRPr>
            </a:pPr>
            <a:r>
              <a:rPr lang="ja-JP" dirty="0">
                <a:ea typeface="Meiryo"/>
              </a:rPr>
              <a:t>▸ ⚡ 1.48 ms ファストパス：</a:t>
            </a:r>
            <a:br/>
            <a:r>
              <a:rPr lang="ja-JP" dirty="0">
                <a:ea typeface="Meiryo"/>
              </a:rPr>
              <a:t>  sim ≥ 0.72 のとき事実根拠を直接返し、時間のかかる LLM 生成を呼び出さず、体感ゼロの即時応答を実現！</a:t>
            </a:r>
          </a:p>
          <a:p>
            <a:pPr>
              <a:spcBef>
                <a:spcPts val="800"/>
              </a:spcBef>
              <a:defRPr sz="1300">
                <a:solidFill>
                  <a:srgbClr val="0F172A"/>
                </a:solidFill>
              </a:defRPr>
            </a:pPr>
            <a:r>
              <a:rPr lang="ja-JP" dirty="0">
                <a:ea typeface="Meiryo"/>
              </a:rPr>
              <a:t>▸ 同義語書き換えへの耐性：40% の同義語置換下でも正解率 95.4% を維持。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METADATA SCORING ENGINE</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中核モジュール2：多次元メタデータ評価行列と非テキスト特徴の抽出</a:t>
            </a:r>
          </a:p>
        </p:txBody>
      </p:sp>
      <p:sp>
        <p:nvSpPr>
          <p:cNvPr id="5" name="Rounded Rectangle 4"/>
          <p:cNvSpPr/>
          <p:nvPr/>
        </p:nvSpPr>
        <p:spPr>
          <a:xfrm>
            <a:off x="548640" y="1234440"/>
            <a:ext cx="5376672" cy="25146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4919472" cy="2240280"/>
          </a:xfrm>
          <a:prstGeom prst="rect">
            <a:avLst/>
          </a:prstGeom>
          <a:noFill/>
        </p:spPr>
        <p:txBody>
          <a:bodyPr wrap="square">
            <a:spAutoFit/>
          </a:bodyPr>
          <a:lstStyle/>
          <a:p>
            <a:pPr>
              <a:defRPr sz="1650" b="1">
                <a:solidFill>
                  <a:srgbClr val="0369A1"/>
                </a:solidFill>
              </a:defRPr>
            </a:pPr>
            <a:r>
              <a:rPr lang="ja-JP" dirty="0">
                <a:ea typeface="Meiryo"/>
              </a:rPr>
              <a:t>1. ドメイン評判とブラックリスト（M_dom）</a:t>
            </a:r>
          </a:p>
          <a:p>
            <a:pPr>
              <a:spcBef>
                <a:spcPts val="400"/>
              </a:spcBef>
              <a:defRPr sz="1300">
                <a:solidFill>
                  <a:srgbClr val="0F172A"/>
                </a:solidFill>
              </a:defRPr>
            </a:pPr>
            <a:r>
              <a:rPr lang="ja-JP" dirty="0">
                <a:ea typeface="Meiryo"/>
              </a:rPr>
              <a:t>▸ 地域特化のコンテンツファームブラックリストを内蔵</a:t>
            </a:r>
            <a:br/>
            <a:r>
              <a:rPr lang="ja-JP" dirty="0">
                <a:ea typeface="Meiryo"/>
              </a:rPr>
              <a:t>▸ 権威ある報道機関のホワイトリスト加点機構</a:t>
            </a:r>
            <a:br/>
            <a:r>
              <a:rPr lang="ja-JP" dirty="0">
                <a:ea typeface="Meiryo"/>
              </a:rPr>
              <a:t>▸ 非暗号化 HTTP と不審なサブドメインへの減点罰則</a:t>
            </a:r>
          </a:p>
        </p:txBody>
      </p:sp>
      <p:sp>
        <p:nvSpPr>
          <p:cNvPr id="7" name="Rounded Rectangle 6"/>
          <p:cNvSpPr/>
          <p:nvPr/>
        </p:nvSpPr>
        <p:spPr>
          <a:xfrm>
            <a:off x="6263640" y="1234440"/>
            <a:ext cx="5376672" cy="251460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71600"/>
            <a:ext cx="4919472" cy="2240280"/>
          </a:xfrm>
          <a:prstGeom prst="rect">
            <a:avLst/>
          </a:prstGeom>
          <a:noFill/>
        </p:spPr>
        <p:txBody>
          <a:bodyPr wrap="square">
            <a:spAutoFit/>
          </a:bodyPr>
          <a:lstStyle/>
          <a:p>
            <a:pPr>
              <a:defRPr sz="1650" b="1">
                <a:solidFill>
                  <a:srgbClr val="0F766E"/>
                </a:solidFill>
              </a:defRPr>
            </a:pPr>
            <a:r>
              <a:rPr lang="ja-JP" dirty="0">
                <a:ea typeface="Meiryo"/>
              </a:rPr>
              <a:t>2. 感情煽動とクリックベイト指標（M_sent）</a:t>
            </a:r>
          </a:p>
          <a:p>
            <a:pPr>
              <a:spcBef>
                <a:spcPts val="400"/>
              </a:spcBef>
              <a:defRPr sz="1300">
                <a:solidFill>
                  <a:srgbClr val="0F172A"/>
                </a:solidFill>
              </a:defRPr>
            </a:pPr>
            <a:r>
              <a:rPr lang="ja-JP" dirty="0">
                <a:ea typeface="Meiryo"/>
              </a:rPr>
              <a:t>▸ 蒸留感情分類モデル（DistilBERT）が記事の極性を即時測定</a:t>
            </a:r>
            <a:br/>
            <a:r>
              <a:rPr lang="ja-JP" dirty="0">
                <a:ea typeface="Meiryo"/>
              </a:rPr>
              <a:t>▸ 「衝撃」「必見」「今すぐ転送」「医師が隠している」等の煽動語を検出</a:t>
            </a:r>
            <a:br/>
            <a:r>
              <a:rPr lang="ja-JP" dirty="0">
                <a:ea typeface="Meiryo"/>
              </a:rPr>
              <a:t>▸ 見出しと本文の感情的な緊張を評価し、クリック誘導型の偽情報を抑制</a:t>
            </a:r>
          </a:p>
        </p:txBody>
      </p:sp>
      <p:sp>
        <p:nvSpPr>
          <p:cNvPr id="9" name="Rounded Rectangle 8"/>
          <p:cNvSpPr/>
          <p:nvPr/>
        </p:nvSpPr>
        <p:spPr>
          <a:xfrm>
            <a:off x="548640" y="3977639"/>
            <a:ext cx="5376672" cy="25146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4919472" cy="2240280"/>
          </a:xfrm>
          <a:prstGeom prst="rect">
            <a:avLst/>
          </a:prstGeom>
          <a:noFill/>
        </p:spPr>
        <p:txBody>
          <a:bodyPr wrap="square">
            <a:spAutoFit/>
          </a:bodyPr>
          <a:lstStyle/>
          <a:p>
            <a:pPr>
              <a:defRPr sz="1650" b="1">
                <a:solidFill>
                  <a:srgbClr val="D97706"/>
                </a:solidFill>
              </a:defRPr>
            </a:pPr>
            <a:r>
              <a:rPr lang="ja-JP" dirty="0">
                <a:ea typeface="Meiryo"/>
              </a:rPr>
              <a:t>3. 時間減衰ペナルティ（M_time）</a:t>
            </a:r>
          </a:p>
          <a:p>
            <a:pPr>
              <a:spcBef>
                <a:spcPts val="400"/>
              </a:spcBef>
              <a:defRPr sz="1300">
                <a:solidFill>
                  <a:srgbClr val="0F172A"/>
                </a:solidFill>
              </a:defRPr>
            </a:pPr>
            <a:r>
              <a:rPr lang="ja-JP" dirty="0">
                <a:ea typeface="Meiryo"/>
              </a:rPr>
              <a:t>▸ SNS で頻出する「数年前のデマを再パッケージして拡散」する現象に対処</a:t>
            </a:r>
            <a:br/>
            <a:r>
              <a:rPr lang="ja-JP" dirty="0">
                <a:ea typeface="Meiryo"/>
              </a:rPr>
              <a:t>▸ 時間の指数減衰モデルを導入</a:t>
            </a:r>
            <a:br/>
            <a:r>
              <a:rPr lang="ja-JP" dirty="0">
                <a:ea typeface="Meiryo"/>
              </a:rPr>
              <a:t>▸ 古く未検証で最近の裏付けがない事象には自動的に減点を加重</a:t>
            </a:r>
          </a:p>
        </p:txBody>
      </p:sp>
      <p:sp>
        <p:nvSpPr>
          <p:cNvPr id="11" name="Rounded Rectangle 10"/>
          <p:cNvSpPr/>
          <p:nvPr/>
        </p:nvSpPr>
        <p:spPr>
          <a:xfrm>
            <a:off x="6263640" y="3977639"/>
            <a:ext cx="5376672" cy="251460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114800"/>
            <a:ext cx="4919472" cy="2240280"/>
          </a:xfrm>
          <a:prstGeom prst="rect">
            <a:avLst/>
          </a:prstGeom>
          <a:noFill/>
        </p:spPr>
        <p:txBody>
          <a:bodyPr wrap="square">
            <a:spAutoFit/>
          </a:bodyPr>
          <a:lstStyle/>
          <a:p>
            <a:pPr>
              <a:defRPr sz="1650" b="1">
                <a:solidFill>
                  <a:srgbClr val="059669"/>
                </a:solidFill>
              </a:defRPr>
            </a:pPr>
            <a:r>
              <a:rPr lang="ja-JP" dirty="0">
                <a:ea typeface="Meiryo"/>
              </a:rPr>
              <a:t>4. クラウドソース報告シグナル（M_crowd）</a:t>
            </a:r>
          </a:p>
          <a:p>
            <a:pPr>
              <a:spcBef>
                <a:spcPts val="400"/>
              </a:spcBef>
              <a:defRPr sz="1300">
                <a:solidFill>
                  <a:srgbClr val="0F172A"/>
                </a:solidFill>
              </a:defRPr>
            </a:pPr>
            <a:r>
              <a:rPr lang="ja-JP" dirty="0">
                <a:ea typeface="Meiryo"/>
              </a:rPr>
              <a:t>▸ コミュニティ報告の頻度と係争度の指標を統合</a:t>
            </a:r>
            <a:br/>
            <a:r>
              <a:rPr lang="ja-JP" dirty="0">
                <a:ea typeface="Meiryo"/>
              </a:rPr>
              <a:t>▸ 同一テーマに対する複数査核者のコンセンサス度（Consensus Ratio）</a:t>
            </a:r>
            <a:br/>
            <a:r>
              <a:rPr lang="ja-JP" dirty="0">
                <a:ea typeface="Meiryo"/>
              </a:rPr>
              <a:t>▸ 基礎ルールスコア S_base ∈ [0, 100] を算出し、堅固な多特徴の土台を提供</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DYNAMIC EVIDENCE FUSION</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動的重み融合機構：実証主導と動的な適応重み付け</a:t>
            </a:r>
          </a:p>
        </p:txBody>
      </p:sp>
      <p:sp>
        <p:nvSpPr>
          <p:cNvPr id="5" name="Rounded Rectangle 4"/>
          <p:cNvSpPr/>
          <p:nvPr/>
        </p:nvSpPr>
        <p:spPr>
          <a:xfrm>
            <a:off x="548640" y="1234440"/>
            <a:ext cx="5376672" cy="52578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4919472" cy="365760"/>
          </a:xfrm>
          <a:prstGeom prst="rect">
            <a:avLst/>
          </a:prstGeom>
          <a:noFill/>
        </p:spPr>
        <p:txBody>
          <a:bodyPr wrap="none">
            <a:spAutoFit/>
          </a:bodyPr>
          <a:lstStyle/>
          <a:p>
            <a:pPr>
              <a:defRPr sz="1600" b="1">
                <a:solidFill>
                  <a:srgbClr val="0369A1"/>
                </a:solidFill>
              </a:defRPr>
            </a:pPr>
            <a:r>
              <a:rPr lang="ja-JP" dirty="0">
                <a:ea typeface="Meiryo"/>
              </a:rPr>
              <a:t>📐 動的融合の数理モデル</a:t>
            </a:r>
          </a:p>
        </p:txBody>
      </p:sp>
      <p:sp>
        <p:nvSpPr>
          <p:cNvPr id="7" name="Rounded Rectangle 6"/>
          <p:cNvSpPr/>
          <p:nvPr/>
        </p:nvSpPr>
        <p:spPr>
          <a:xfrm>
            <a:off x="777240" y="1783080"/>
            <a:ext cx="4919472" cy="105156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q_fusion.png"/>
          <p:cNvPicPr>
            <a:picLocks noChangeAspect="1"/>
          </p:cNvPicPr>
          <p:nvPr/>
        </p:nvPicPr>
        <p:blipFill>
          <a:blip r:embed="rId2"/>
          <a:stretch>
            <a:fillRect/>
          </a:stretch>
        </p:blipFill>
        <p:spPr>
          <a:xfrm>
            <a:off x="1042415" y="2167128"/>
            <a:ext cx="4389120" cy="283464"/>
          </a:xfrm>
          <a:prstGeom prst="rect">
            <a:avLst/>
          </a:prstGeom>
        </p:spPr>
      </p:pic>
      <p:sp>
        <p:nvSpPr>
          <p:cNvPr id="9" name="TextBox 8"/>
          <p:cNvSpPr txBox="1"/>
          <p:nvPr/>
        </p:nvSpPr>
        <p:spPr>
          <a:xfrm>
            <a:off x="777240" y="2926080"/>
            <a:ext cx="4919472" cy="320040"/>
          </a:xfrm>
          <a:prstGeom prst="rect">
            <a:avLst/>
          </a:prstGeom>
          <a:noFill/>
        </p:spPr>
        <p:txBody>
          <a:bodyPr wrap="none">
            <a:spAutoFit/>
          </a:bodyPr>
          <a:lstStyle/>
          <a:p>
            <a:pPr>
              <a:defRPr sz="1400" b="1">
                <a:solidFill>
                  <a:srgbClr val="0369A1"/>
                </a:solidFill>
              </a:defRPr>
            </a:pPr>
            <a:r>
              <a:rPr lang="ja-JP" dirty="0">
                <a:ea typeface="Meiryo"/>
              </a:rPr>
              <a:t>📊 適応的な重み配分関数</a:t>
            </a:r>
          </a:p>
        </p:txBody>
      </p:sp>
      <p:sp>
        <p:nvSpPr>
          <p:cNvPr id="10" name="Rounded Rectangle 9"/>
          <p:cNvSpPr/>
          <p:nvPr/>
        </p:nvSpPr>
        <p:spPr>
          <a:xfrm>
            <a:off x="777240" y="3291840"/>
            <a:ext cx="4919472" cy="146304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q_weights.png"/>
          <p:cNvPicPr>
            <a:picLocks noChangeAspect="1"/>
          </p:cNvPicPr>
          <p:nvPr/>
        </p:nvPicPr>
        <p:blipFill>
          <a:blip r:embed="rId3"/>
          <a:stretch>
            <a:fillRect/>
          </a:stretch>
        </p:blipFill>
        <p:spPr>
          <a:xfrm>
            <a:off x="1179576" y="3584448"/>
            <a:ext cx="4114800" cy="877824"/>
          </a:xfrm>
          <a:prstGeom prst="rect">
            <a:avLst/>
          </a:prstGeom>
        </p:spPr>
      </p:pic>
      <p:sp>
        <p:nvSpPr>
          <p:cNvPr id="12" name="TextBox 11"/>
          <p:cNvSpPr txBox="1"/>
          <p:nvPr/>
        </p:nvSpPr>
        <p:spPr>
          <a:xfrm>
            <a:off x="777240" y="4846320"/>
            <a:ext cx="4919472" cy="1463040"/>
          </a:xfrm>
          <a:prstGeom prst="rect">
            <a:avLst/>
          </a:prstGeom>
          <a:noFill/>
        </p:spPr>
        <p:txBody>
          <a:bodyPr wrap="square">
            <a:spAutoFit/>
          </a:bodyPr>
          <a:lstStyle/>
          <a:p>
            <a:pPr>
              <a:defRPr sz="1250">
                <a:solidFill>
                  <a:srgbClr val="0F172A"/>
                </a:solidFill>
              </a:defRPr>
            </a:pPr>
            <a:r>
              <a:rPr lang="ja-JP" dirty="0">
                <a:ea typeface="Meiryo"/>
              </a:rPr>
              <a:t>▸ S_base はドメインブラックリスト、感情煽動、時間減衰を統合</a:t>
            </a:r>
            <a:br/>
            <a:r>
              <a:rPr lang="ja-JP" dirty="0">
                <a:ea typeface="Meiryo"/>
              </a:rPr>
              <a:t>▸ 査核庫に実証がある場合は実証を主導（90%）とし、モデルのみによる誤判定を排除！</a:t>
            </a:r>
          </a:p>
        </p:txBody>
      </p:sp>
      <p:sp>
        <p:nvSpPr>
          <p:cNvPr id="13" name="Rounded Rectangle 12"/>
          <p:cNvSpPr/>
          <p:nvPr/>
        </p:nvSpPr>
        <p:spPr>
          <a:xfrm>
            <a:off x="6263640" y="1234440"/>
            <a:ext cx="5376672" cy="251460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371600"/>
            <a:ext cx="4919472" cy="2240280"/>
          </a:xfrm>
          <a:prstGeom prst="rect">
            <a:avLst/>
          </a:prstGeom>
          <a:noFill/>
        </p:spPr>
        <p:txBody>
          <a:bodyPr wrap="square">
            <a:spAutoFit/>
          </a:bodyPr>
          <a:lstStyle/>
          <a:p>
            <a:pPr>
              <a:defRPr sz="1700" b="1">
                <a:solidFill>
                  <a:srgbClr val="059669"/>
                </a:solidFill>
              </a:defRPr>
            </a:pPr>
            <a:r>
              <a:rPr lang="ja-JP" dirty="0">
                <a:ea typeface="Meiryo"/>
              </a:rPr>
              <a:t>🎯 ケース A：大盤に一致（fc_hit = True）</a:t>
            </a:r>
          </a:p>
          <a:p>
            <a:pPr>
              <a:spcBef>
                <a:spcPts val="500"/>
              </a:spcBef>
              <a:defRPr sz="1300">
                <a:solidFill>
                  <a:srgbClr val="0F172A"/>
                </a:solidFill>
              </a:defRPr>
            </a:pPr>
            <a:r>
              <a:rPr lang="ja-JP" dirty="0">
                <a:ea typeface="Meiryo"/>
              </a:rPr>
              <a:t>▸ 動的重み設定：w_fusion = 0.10（LLM は 10% のみ）</a:t>
            </a:r>
          </a:p>
          <a:p>
            <a:pPr>
              <a:spcBef>
                <a:spcPts val="500"/>
              </a:spcBef>
              <a:defRPr sz="1300">
                <a:solidFill>
                  <a:srgbClr val="0F172A"/>
                </a:solidFill>
              </a:defRPr>
            </a:pPr>
            <a:r>
              <a:rPr lang="ja-JP" dirty="0">
                <a:ea typeface="Meiryo"/>
              </a:rPr>
              <a:t>▸ 中核ロジック：IFCN の権威ある査核レポートが既に存在するため、「実証」を主導（比率 90%）とする</a:t>
            </a:r>
          </a:p>
          <a:p>
            <a:pPr>
              <a:spcBef>
                <a:spcPts val="500"/>
              </a:spcBef>
              <a:defRPr sz="1300">
                <a:solidFill>
                  <a:srgbClr val="0F172A"/>
                </a:solidFill>
              </a:defRPr>
            </a:pPr>
            <a:r>
              <a:rPr lang="ja-JP" dirty="0">
                <a:ea typeface="Meiryo"/>
              </a:rPr>
              <a:t>▸ 利点：モデルの自由な判断による逆方向の誤判定を避け、権威ある根拠チェーンを絶対的に優先</a:t>
            </a:r>
          </a:p>
        </p:txBody>
      </p:sp>
      <p:sp>
        <p:nvSpPr>
          <p:cNvPr id="15" name="Rounded Rectangle 14"/>
          <p:cNvSpPr/>
          <p:nvPr/>
        </p:nvSpPr>
        <p:spPr>
          <a:xfrm>
            <a:off x="6263640" y="3977639"/>
            <a:ext cx="5376672" cy="25146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114800"/>
            <a:ext cx="4919472" cy="2240280"/>
          </a:xfrm>
          <a:prstGeom prst="rect">
            <a:avLst/>
          </a:prstGeom>
          <a:noFill/>
        </p:spPr>
        <p:txBody>
          <a:bodyPr wrap="square">
            <a:spAutoFit/>
          </a:bodyPr>
          <a:lstStyle/>
          <a:p>
            <a:pPr>
              <a:defRPr sz="1700" b="1">
                <a:solidFill>
                  <a:srgbClr val="0D9488"/>
                </a:solidFill>
              </a:defRPr>
            </a:pPr>
            <a:r>
              <a:rPr lang="ja-JP" dirty="0">
                <a:ea typeface="Meiryo"/>
              </a:rPr>
              <a:t>🔍 ケース B：査核庫に未収録（fc_hit = False）</a:t>
            </a:r>
          </a:p>
          <a:p>
            <a:pPr>
              <a:spcBef>
                <a:spcPts val="500"/>
              </a:spcBef>
              <a:defRPr sz="1300">
                <a:solidFill>
                  <a:srgbClr val="0F172A"/>
                </a:solidFill>
              </a:defRPr>
            </a:pPr>
            <a:r>
              <a:rPr lang="ja-JP" dirty="0">
                <a:ea typeface="Meiryo"/>
              </a:rPr>
              <a:t>▸ 動的重み設定：w_fusion = 0.60（LLM を 60% へ引き上げ）</a:t>
            </a:r>
          </a:p>
          <a:p>
            <a:pPr>
              <a:spcBef>
                <a:spcPts val="500"/>
              </a:spcBef>
              <a:defRPr sz="1300">
                <a:solidFill>
                  <a:srgbClr val="0F172A"/>
                </a:solidFill>
              </a:defRPr>
            </a:pPr>
            <a:r>
              <a:rPr lang="ja-JP" dirty="0">
                <a:ea typeface="Meiryo"/>
              </a:rPr>
              <a:t>▸ 中核ロジック：全く新しい未収録の記事には、ローカル Gemma-4 が深い意味的・論理的分析を実施</a:t>
            </a:r>
          </a:p>
          <a:p>
            <a:pPr>
              <a:spcBef>
                <a:spcPts val="500"/>
              </a:spcBef>
              <a:defRPr sz="1300">
                <a:solidFill>
                  <a:srgbClr val="0F172A"/>
                </a:solidFill>
              </a:defRPr>
            </a:pPr>
            <a:r>
              <a:rPr lang="ja-JP" dirty="0">
                <a:ea typeface="Meiryo"/>
              </a:rPr>
              <a:t>▸ 安全下限：40% のメタデータ（ドメイン、感情）をルール防御線として保持し、モデルのみの誤りを防止</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ASYMMETRIC SAFETY ANCHORING</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非対称セーフティ・アンカリング：スコアを強制クランプし、モデルの偽陰性を排除</a:t>
            </a:r>
          </a:p>
        </p:txBody>
      </p:sp>
      <p:sp>
        <p:nvSpPr>
          <p:cNvPr id="5" name="Rounded Rectangle 4"/>
          <p:cNvSpPr/>
          <p:nvPr/>
        </p:nvSpPr>
        <p:spPr>
          <a:xfrm>
            <a:off x="548640" y="1234440"/>
            <a:ext cx="5376672" cy="52578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4919472" cy="1280160"/>
          </a:xfrm>
          <a:prstGeom prst="rect">
            <a:avLst/>
          </a:prstGeom>
          <a:noFill/>
        </p:spPr>
        <p:txBody>
          <a:bodyPr wrap="square">
            <a:spAutoFit/>
          </a:bodyPr>
          <a:lstStyle/>
          <a:p>
            <a:pPr>
              <a:defRPr sz="1700" b="1">
                <a:solidFill>
                  <a:srgbClr val="BE123C"/>
                </a:solidFill>
              </a:defRPr>
            </a:pPr>
            <a:r>
              <a:rPr lang="ja-JP" dirty="0">
                <a:ea typeface="Meiryo"/>
              </a:rPr>
              <a:t>🛡️ 非対称セーフティ・アンカリングの数理モデル</a:t>
            </a:r>
          </a:p>
          <a:p>
            <a:pPr>
              <a:spcBef>
                <a:spcPts val="300"/>
              </a:spcBef>
              <a:defRPr sz="1250">
                <a:solidFill>
                  <a:srgbClr val="0F172A"/>
                </a:solidFill>
              </a:defRPr>
            </a:pPr>
            <a:r>
              <a:rPr lang="ja-JP" dirty="0">
                <a:ea typeface="Meiryo"/>
              </a:rPr>
              <a:t>生成 AI による偽情報は文体が整っていることが多い。プロンプトのみの LLM が高スコアを付ける誤判定を防ぐため、非対称セーフティ・クランプを導入する。検索が既知デマと判定した時点で、スコア上限のクランプを直ちに強制する！</a:t>
            </a:r>
          </a:p>
        </p:txBody>
      </p:sp>
      <p:sp>
        <p:nvSpPr>
          <p:cNvPr id="7" name="Rounded Rectangle 6"/>
          <p:cNvSpPr/>
          <p:nvPr/>
        </p:nvSpPr>
        <p:spPr>
          <a:xfrm>
            <a:off x="777240" y="2743200"/>
            <a:ext cx="4919472" cy="2240280"/>
          </a:xfrm>
          <a:prstGeom prst="roundRect">
            <a:avLst/>
          </a:prstGeom>
          <a:solidFill>
            <a:srgbClr val="FFFFFF"/>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q_clamp.png"/>
          <p:cNvPicPr>
            <a:picLocks noChangeAspect="1"/>
          </p:cNvPicPr>
          <p:nvPr/>
        </p:nvPicPr>
        <p:blipFill>
          <a:blip r:embed="rId2"/>
          <a:stretch>
            <a:fillRect/>
          </a:stretch>
        </p:blipFill>
        <p:spPr>
          <a:xfrm>
            <a:off x="905256" y="3438144"/>
            <a:ext cx="4663440" cy="850392"/>
          </a:xfrm>
          <a:prstGeom prst="rect">
            <a:avLst/>
          </a:prstGeom>
        </p:spPr>
      </p:pic>
      <p:sp>
        <p:nvSpPr>
          <p:cNvPr id="9" name="TextBox 8"/>
          <p:cNvSpPr txBox="1"/>
          <p:nvPr/>
        </p:nvSpPr>
        <p:spPr>
          <a:xfrm>
            <a:off x="777240" y="5074920"/>
            <a:ext cx="4919472" cy="1280160"/>
          </a:xfrm>
          <a:prstGeom prst="rect">
            <a:avLst/>
          </a:prstGeom>
          <a:noFill/>
        </p:spPr>
        <p:txBody>
          <a:bodyPr wrap="square">
            <a:spAutoFit/>
          </a:bodyPr>
          <a:lstStyle/>
          <a:p>
            <a:pPr>
              <a:defRPr sz="1250" b="1">
                <a:solidFill>
                  <a:srgbClr val="BE123C"/>
                </a:solidFill>
              </a:defRPr>
            </a:pPr>
            <a:r>
              <a:rPr lang="ja-JP" dirty="0">
                <a:ea typeface="Meiryo"/>
              </a:rPr>
              <a:t>▸ 中核の保証：実証済みの偽情報であればスコア上限を S ≤ 25 に強制固定し、モデルが覆すことは絶対に不可能！</a:t>
            </a:r>
          </a:p>
        </p:txBody>
      </p:sp>
      <p:sp>
        <p:nvSpPr>
          <p:cNvPr id="10" name="Rounded Rectangle 9"/>
          <p:cNvSpPr/>
          <p:nvPr/>
        </p:nvSpPr>
        <p:spPr>
          <a:xfrm>
            <a:off x="6263640" y="1234440"/>
            <a:ext cx="5376672" cy="1664208"/>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344168"/>
            <a:ext cx="4919472" cy="1463040"/>
          </a:xfrm>
          <a:prstGeom prst="rect">
            <a:avLst/>
          </a:prstGeom>
          <a:noFill/>
        </p:spPr>
        <p:txBody>
          <a:bodyPr wrap="square">
            <a:spAutoFit/>
          </a:bodyPr>
          <a:lstStyle/>
          <a:p>
            <a:pPr>
              <a:defRPr sz="1500" b="1">
                <a:solidFill>
                  <a:srgbClr val="BE123C"/>
                </a:solidFill>
              </a:defRPr>
            </a:pPr>
            <a:r>
              <a:rPr lang="ja-JP" dirty="0">
                <a:ea typeface="Meiryo"/>
              </a:rPr>
              <a:t>Tier 1：高信頼度の捏造確定</a:t>
            </a:r>
          </a:p>
          <a:p>
            <a:pPr>
              <a:spcBef>
                <a:spcPts val="300"/>
              </a:spcBef>
              <a:defRPr sz="1200" b="1">
                <a:solidFill>
                  <a:srgbClr val="0F172A"/>
                </a:solidFill>
              </a:defRPr>
            </a:pPr>
            <a:r>
              <a:rPr lang="ja-JP" dirty="0">
                <a:ea typeface="Meiryo"/>
              </a:rPr>
              <a:t>条件：sim ≥ 0.85 かつ inaccurate ｜ 措置：S_final = min(S_fused, 25.0)</a:t>
            </a:r>
          </a:p>
          <a:p>
            <a:pPr>
              <a:spcBef>
                <a:spcPts val="300"/>
              </a:spcBef>
              <a:defRPr sz="1150">
                <a:solidFill>
                  <a:srgbClr val="475569"/>
                </a:solidFill>
              </a:defRPr>
            </a:pPr>
            <a:r>
              <a:rPr lang="ja-JP" dirty="0">
                <a:ea typeface="Meiryo"/>
              </a:rPr>
              <a:t>【重大な捏造の疑い】に強制固定、スコア上限 25、一切妥協しない。</a:t>
            </a:r>
          </a:p>
        </p:txBody>
      </p:sp>
      <p:sp>
        <p:nvSpPr>
          <p:cNvPr id="12" name="Rounded Rectangle 11"/>
          <p:cNvSpPr/>
          <p:nvPr/>
        </p:nvSpPr>
        <p:spPr>
          <a:xfrm>
            <a:off x="6263640" y="3044952"/>
            <a:ext cx="5376672" cy="1664208"/>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154680"/>
            <a:ext cx="4919472" cy="1463040"/>
          </a:xfrm>
          <a:prstGeom prst="rect">
            <a:avLst/>
          </a:prstGeom>
          <a:noFill/>
        </p:spPr>
        <p:txBody>
          <a:bodyPr wrap="square">
            <a:spAutoFit/>
          </a:bodyPr>
          <a:lstStyle/>
          <a:p>
            <a:pPr>
              <a:defRPr sz="1500" b="1">
                <a:solidFill>
                  <a:srgbClr val="D97706"/>
                </a:solidFill>
              </a:defRPr>
            </a:pPr>
            <a:r>
              <a:rPr lang="ja-JP" dirty="0">
                <a:ea typeface="Meiryo"/>
              </a:rPr>
              <a:t>Tier 2：中〜高信頼度のデマ一致</a:t>
            </a:r>
          </a:p>
          <a:p>
            <a:pPr>
              <a:spcBef>
                <a:spcPts val="300"/>
              </a:spcBef>
              <a:defRPr sz="1200" b="1">
                <a:solidFill>
                  <a:srgbClr val="0F172A"/>
                </a:solidFill>
              </a:defRPr>
            </a:pPr>
            <a:r>
              <a:rPr lang="ja-JP" dirty="0">
                <a:ea typeface="Meiryo"/>
              </a:rPr>
              <a:t>条件：0.72 ≤ sim &lt; 0.85 かつ inaccurate ｜ 措置：S_final = min(S_fused, 50.0)</a:t>
            </a:r>
          </a:p>
          <a:p>
            <a:pPr>
              <a:spcBef>
                <a:spcPts val="300"/>
              </a:spcBef>
              <a:defRPr sz="1150">
                <a:solidFill>
                  <a:srgbClr val="475569"/>
                </a:solidFill>
              </a:defRPr>
            </a:pPr>
            <a:r>
              <a:rPr lang="ja-JP" dirty="0">
                <a:ea typeface="Meiryo"/>
              </a:rPr>
              <a:t>【疑義警告】に固定、スコア上限 50、リスクを強制表示。</a:t>
            </a:r>
          </a:p>
        </p:txBody>
      </p:sp>
      <p:sp>
        <p:nvSpPr>
          <p:cNvPr id="14" name="Rounded Rectangle 13"/>
          <p:cNvSpPr/>
          <p:nvPr/>
        </p:nvSpPr>
        <p:spPr>
          <a:xfrm>
            <a:off x="6263640" y="4855464"/>
            <a:ext cx="5376672" cy="1664208"/>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965192"/>
            <a:ext cx="4919472" cy="1463040"/>
          </a:xfrm>
          <a:prstGeom prst="rect">
            <a:avLst/>
          </a:prstGeom>
          <a:noFill/>
        </p:spPr>
        <p:txBody>
          <a:bodyPr wrap="square">
            <a:spAutoFit/>
          </a:bodyPr>
          <a:lstStyle/>
          <a:p>
            <a:pPr>
              <a:defRPr sz="1500" b="1">
                <a:solidFill>
                  <a:srgbClr val="0284C7"/>
                </a:solidFill>
              </a:defRPr>
            </a:pPr>
            <a:r>
              <a:rPr lang="ja-JP" dirty="0">
                <a:ea typeface="Meiryo"/>
              </a:rPr>
              <a:t>Tier 3：一部虚偽または係争中</a:t>
            </a:r>
          </a:p>
          <a:p>
            <a:pPr>
              <a:spcBef>
                <a:spcPts val="300"/>
              </a:spcBef>
              <a:defRPr sz="1200" b="1">
                <a:solidFill>
                  <a:srgbClr val="0F172A"/>
                </a:solidFill>
              </a:defRPr>
            </a:pPr>
            <a:r>
              <a:rPr lang="ja-JP" dirty="0">
                <a:ea typeface="Meiryo"/>
              </a:rPr>
              <a:t>条件：status ∈ {partial} ｜ 措置：S_final = min(S_fused, 55.0)</a:t>
            </a:r>
          </a:p>
          <a:p>
            <a:pPr>
              <a:spcBef>
                <a:spcPts val="300"/>
              </a:spcBef>
              <a:defRPr sz="1150">
                <a:solidFill>
                  <a:srgbClr val="475569"/>
                </a:solidFill>
              </a:defRPr>
            </a:pPr>
            <a:r>
              <a:rPr lang="ja-JP" dirty="0">
                <a:ea typeface="Meiryo"/>
              </a:rPr>
              <a:t>【一部真実／係争中】に固定、スコア上限 55、読者に細部の確認を促す。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0C4A6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38BDF8"/>
                </a:solidFill>
                <a:latin typeface="Calibri"/>
              </a:defRPr>
            </a:pPr>
            <a:r>
              <a:rPr lang="ja-JP" dirty="0">
                <a:ea typeface="Meiryo"/>
              </a:rPr>
              <a:t>LOCAL AUXILIARY LLM</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FFFFFF"/>
                </a:solidFill>
                <a:latin typeface="Calibri"/>
              </a:defRPr>
            </a:pPr>
            <a:r>
              <a:rPr lang="ja-JP" dirty="0">
                <a:ea typeface="Meiryo"/>
              </a:rPr>
              <a:t>端末内補助 LLM の配備：厳格な JSON 文法制約と観点抽出</a:t>
            </a:r>
          </a:p>
        </p:txBody>
      </p:sp>
      <p:sp>
        <p:nvSpPr>
          <p:cNvPr id="5" name="Rounded Rectangle 4"/>
          <p:cNvSpPr/>
          <p:nvPr/>
        </p:nvSpPr>
        <p:spPr>
          <a:xfrm>
            <a:off x="548640" y="1234440"/>
            <a:ext cx="5376672" cy="52578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4919472" cy="4892040"/>
          </a:xfrm>
          <a:prstGeom prst="rect">
            <a:avLst/>
          </a:prstGeom>
          <a:noFill/>
        </p:spPr>
        <p:txBody>
          <a:bodyPr wrap="square">
            <a:spAutoFit/>
          </a:bodyPr>
          <a:lstStyle/>
          <a:p>
            <a:pPr>
              <a:defRPr sz="1800" b="1">
                <a:solidFill>
                  <a:srgbClr val="38BDF8"/>
                </a:solidFill>
              </a:defRPr>
            </a:pPr>
            <a:r>
              <a:rPr lang="ja-JP" dirty="0">
                <a:ea typeface="Meiryo"/>
              </a:rPr>
              <a:t>🤖 モデルの役割と文法制約デコーディング</a:t>
            </a:r>
          </a:p>
          <a:p>
            <a:pPr>
              <a:spcBef>
                <a:spcPts val="800"/>
              </a:spcBef>
              <a:defRPr sz="1300">
                <a:solidFill>
                  <a:srgbClr val="E2E8F0"/>
                </a:solidFill>
              </a:defRPr>
            </a:pPr>
            <a:r>
              <a:rPr lang="ja-JP" dirty="0">
                <a:ea typeface="Meiryo"/>
              </a:rPr>
              <a:t>▸ モデル構成：Gemma-4-12B（Q4_K_M 4bit 量子化）。「観点抽出と賛否の整理」を専任とし、単独の裁定者にはしない。</a:t>
            </a:r>
          </a:p>
          <a:p>
            <a:pPr>
              <a:spcBef>
                <a:spcPts val="800"/>
              </a:spcBef>
              <a:defRPr sz="1300">
                <a:solidFill>
                  <a:srgbClr val="E2E8F0"/>
                </a:solidFill>
              </a:defRPr>
            </a:pPr>
            <a:r>
              <a:rPr lang="ja-JP" dirty="0">
                <a:ea typeface="Meiryo"/>
              </a:rPr>
              <a:t>▸ 課題の解消：従来の自由文生成では 15〜20% の確率で Markdown、思考タグ（&lt;thought&gt;）、挨拶文が混入し JSON 解析が失敗していた。</a:t>
            </a:r>
          </a:p>
          <a:p>
            <a:pPr>
              <a:spcBef>
                <a:spcPts val="800"/>
              </a:spcBef>
              <a:defRPr sz="1300">
                <a:solidFill>
                  <a:srgbClr val="E2E8F0"/>
                </a:solidFill>
              </a:defRPr>
            </a:pPr>
            <a:r>
              <a:rPr lang="ja-JP" dirty="0">
                <a:ea typeface="Meiryo"/>
              </a:rPr>
              <a:t>▸ 文法制約デコーディング：format:json と think:false を設定し、トークン復号層で不正な文法を直接マスクして 100%（100/100）の完全な解析率を達成！</a:t>
            </a:r>
          </a:p>
          <a:p>
            <a:pPr>
              <a:spcBef>
                <a:spcPts val="800"/>
              </a:spcBef>
              <a:defRPr sz="1300">
                <a:solidFill>
                  <a:srgbClr val="E2E8F0"/>
                </a:solidFill>
              </a:defRPr>
            </a:pPr>
            <a:r>
              <a:rPr lang="ja-JP" dirty="0">
                <a:ea typeface="Meiryo"/>
              </a:rPr>
              <a:t>▸ 安定した資源：VRAM 使用量は 9.2 GB で安定し、RTX 2080 Ti 1枚で快適に動作。</a:t>
            </a:r>
          </a:p>
        </p:txBody>
      </p:sp>
      <p:sp>
        <p:nvSpPr>
          <p:cNvPr id="7" name="Rounded Rectangle 6"/>
          <p:cNvSpPr/>
          <p:nvPr/>
        </p:nvSpPr>
        <p:spPr>
          <a:xfrm>
            <a:off x="6263640" y="1234440"/>
            <a:ext cx="5376672" cy="52578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20"/>
            <a:ext cx="4919472" cy="4892040"/>
          </a:xfrm>
          <a:prstGeom prst="rect">
            <a:avLst/>
          </a:prstGeom>
          <a:noFill/>
        </p:spPr>
        <p:txBody>
          <a:bodyPr wrap="square">
            <a:spAutoFit/>
          </a:bodyPr>
          <a:lstStyle/>
          <a:p>
            <a:pPr>
              <a:defRPr sz="1700" b="1">
                <a:solidFill>
                  <a:srgbClr val="38BDF8"/>
                </a:solidFill>
              </a:defRPr>
            </a:pPr>
            <a:r>
              <a:rPr lang="ja-JP" dirty="0">
                <a:ea typeface="Meiryo"/>
              </a:rPr>
              <a:t>📋 厳格な JSON 構造化出力スキーマ</a:t>
            </a:r>
          </a:p>
          <a:p>
            <a:pPr>
              <a:spcBef>
                <a:spcPts val="600"/>
              </a:spcBef>
              <a:defRPr sz="1250">
                <a:solidFill>
                  <a:srgbClr val="94A3B8"/>
                </a:solidFill>
              </a:defRPr>
            </a:pPr>
            <a:r>
              <a:rPr lang="ja-JP" dirty="0">
                <a:ea typeface="Meiryo"/>
              </a:rPr>
              <a:t>4つの標準キー・バリューを強制出力し、フロントエンド UI が即時描画する：</a:t>
            </a:r>
          </a:p>
          <a:p>
            <a:pPr>
              <a:spcBef>
                <a:spcPts val="800"/>
              </a:spcBef>
              <a:defRPr sz="1250">
                <a:solidFill>
                  <a:srgbClr val="E2E8F0"/>
                </a:solidFill>
              </a:defRPr>
            </a:pPr>
            <a:r>
              <a:rPr lang="ja-JP" dirty="0">
                <a:ea typeface="Meiryo"/>
              </a:rPr>
              <a:t>• key_points (Array&lt;string&gt;)：記事の中核的主張と論点の一覧</a:t>
            </a:r>
          </a:p>
          <a:p>
            <a:pPr>
              <a:spcBef>
                <a:spcPts val="800"/>
              </a:spcBef>
              <a:defRPr sz="1250">
                <a:solidFill>
                  <a:srgbClr val="E2E8F0"/>
                </a:solidFill>
              </a:defRPr>
            </a:pPr>
            <a:r>
              <a:rPr lang="ja-JP" dirty="0">
                <a:ea typeface="Meiryo"/>
              </a:rPr>
              <a:t>• viewpoints (string)：第三者の権威による賛否の均衡した立場（80字以内）</a:t>
            </a:r>
          </a:p>
          <a:p>
            <a:pPr>
              <a:spcBef>
                <a:spcPts val="800"/>
              </a:spcBef>
              <a:defRPr sz="1250">
                <a:solidFill>
                  <a:srgbClr val="E2E8F0"/>
                </a:solidFill>
              </a:defRPr>
            </a:pPr>
            <a:r>
              <a:rPr lang="ja-JP" dirty="0">
                <a:ea typeface="Meiryo"/>
              </a:rPr>
              <a:t>• credibility_score (integer)：意味的・論理的な信頼度スコア（0-100）</a:t>
            </a:r>
          </a:p>
          <a:p>
            <a:pPr>
              <a:spcBef>
                <a:spcPts val="800"/>
              </a:spcBef>
              <a:defRPr sz="1250">
                <a:solidFill>
                  <a:srgbClr val="E2E8F0"/>
                </a:solidFill>
              </a:defRPr>
            </a:pPr>
            <a:r>
              <a:rPr lang="ja-JP" dirty="0">
                <a:ea typeface="Meiryo"/>
              </a:rPr>
              <a:t>• analysis (string)：簡潔なファクトチェック判定の要約（100字以内）</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CLIENT-SIDE IMPLEMENTATION</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クライアント拡張の実装：Chrome Manifest V3 とストレスのない操作体験</a:t>
            </a:r>
          </a:p>
        </p:txBody>
      </p:sp>
      <p:sp>
        <p:nvSpPr>
          <p:cNvPr id="5" name="Rounded Rectangle 4"/>
          <p:cNvSpPr/>
          <p:nvPr/>
        </p:nvSpPr>
        <p:spPr>
          <a:xfrm>
            <a:off x="548640" y="1234440"/>
            <a:ext cx="3520440" cy="52578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3063240" cy="4892040"/>
          </a:xfrm>
          <a:prstGeom prst="rect">
            <a:avLst/>
          </a:prstGeom>
          <a:noFill/>
        </p:spPr>
        <p:txBody>
          <a:bodyPr wrap="square">
            <a:spAutoFit/>
          </a:bodyPr>
          <a:lstStyle/>
          <a:p>
            <a:pPr>
              <a:defRPr sz="1800" b="1">
                <a:solidFill>
                  <a:srgbClr val="0369A1"/>
                </a:solidFill>
              </a:defRPr>
            </a:pPr>
            <a:r>
              <a:rPr lang="ja-JP" dirty="0">
                <a:ea typeface="Meiryo"/>
              </a:rPr>
              <a:t>🧩 Chrome MV3 アーキテクチャ</a:t>
            </a:r>
          </a:p>
          <a:p>
            <a:pPr>
              <a:spcBef>
                <a:spcPts val="1000"/>
              </a:spcBef>
              <a:defRPr sz="1300">
                <a:solidFill>
                  <a:srgbClr val="0F172A"/>
                </a:solidFill>
              </a:defRPr>
            </a:pPr>
            <a:r>
              <a:rPr lang="ja-JP" dirty="0">
                <a:ea typeface="Meiryo"/>
              </a:rPr>
              <a:t>▸ 最新の Google Chrome Manifest V3 仕様に準拠</a:t>
            </a:r>
          </a:p>
          <a:p>
            <a:pPr>
              <a:spcBef>
                <a:spcPts val="1000"/>
              </a:spcBef>
              <a:defRPr sz="1300">
                <a:solidFill>
                  <a:srgbClr val="0F172A"/>
                </a:solidFill>
              </a:defRPr>
            </a:pPr>
            <a:r>
              <a:rPr lang="ja-JP" dirty="0">
                <a:ea typeface="Meiryo"/>
              </a:rPr>
              <a:t>▸ Service Worker によるバックグラウンド処理でリソース消費が極小</a:t>
            </a:r>
          </a:p>
          <a:p>
            <a:pPr>
              <a:spcBef>
                <a:spcPts val="1000"/>
              </a:spcBef>
              <a:defRPr sz="1300">
                <a:solidFill>
                  <a:srgbClr val="0F172A"/>
                </a:solidFill>
              </a:defRPr>
            </a:pPr>
            <a:r>
              <a:rPr lang="ja-JP" dirty="0">
                <a:ea typeface="Meiryo"/>
              </a:rPr>
              <a:t>▸ Facebook News Feed、LINE Web、X（Twitter）、ニュースサイトなど多様な DOM を自動解析</a:t>
            </a:r>
          </a:p>
          <a:p>
            <a:pPr>
              <a:spcBef>
                <a:spcPts val="1000"/>
              </a:spcBef>
              <a:defRPr sz="1300">
                <a:solidFill>
                  <a:srgbClr val="0F172A"/>
                </a:solidFill>
              </a:defRPr>
            </a:pPr>
            <a:r>
              <a:rPr lang="ja-JP" dirty="0">
                <a:ea typeface="Meiryo"/>
              </a:rPr>
              <a:t>▸ ローカルループバック（127.0.0.1:5000）通信で、クロスオリジンのリスクなし</a:t>
            </a:r>
          </a:p>
        </p:txBody>
      </p:sp>
      <p:sp>
        <p:nvSpPr>
          <p:cNvPr id="7" name="Rounded Rectangle 6"/>
          <p:cNvSpPr/>
          <p:nvPr/>
        </p:nvSpPr>
        <p:spPr>
          <a:xfrm>
            <a:off x="4334256" y="1234440"/>
            <a:ext cx="3520440" cy="525780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417320"/>
            <a:ext cx="3063240" cy="4892040"/>
          </a:xfrm>
          <a:prstGeom prst="rect">
            <a:avLst/>
          </a:prstGeom>
          <a:noFill/>
        </p:spPr>
        <p:txBody>
          <a:bodyPr wrap="square">
            <a:spAutoFit/>
          </a:bodyPr>
          <a:lstStyle/>
          <a:p>
            <a:pPr>
              <a:defRPr sz="1800" b="1">
                <a:solidFill>
                  <a:srgbClr val="0F766E"/>
                </a:solidFill>
              </a:defRPr>
            </a:pPr>
            <a:r>
              <a:rPr lang="ja-JP" dirty="0">
                <a:ea typeface="Meiryo"/>
              </a:rPr>
              <a:t>👀 MutationObserver による監視</a:t>
            </a:r>
          </a:p>
          <a:p>
            <a:pPr>
              <a:spcBef>
                <a:spcPts val="1000"/>
              </a:spcBef>
              <a:defRPr sz="1300">
                <a:solidFill>
                  <a:srgbClr val="0F172A"/>
                </a:solidFill>
              </a:defRPr>
            </a:pPr>
            <a:r>
              <a:rPr lang="ja-JP" dirty="0">
                <a:ea typeface="Meiryo"/>
              </a:rPr>
              <a:t>▸ 無限スクロール（Infinite Scroll）型の SNS フィードに最適化</a:t>
            </a:r>
          </a:p>
          <a:p>
            <a:pPr>
              <a:spcBef>
                <a:spcPts val="1000"/>
              </a:spcBef>
              <a:defRPr sz="1300">
                <a:solidFill>
                  <a:srgbClr val="0F172A"/>
                </a:solidFill>
              </a:defRPr>
            </a:pPr>
            <a:r>
              <a:rPr lang="ja-JP" dirty="0">
                <a:ea typeface="Meiryo"/>
              </a:rPr>
              <a:t>▸ 投稿ノードがビューポートに入ると見出し・本文・発信元を自動取得</a:t>
            </a:r>
          </a:p>
          <a:p>
            <a:pPr>
              <a:spcBef>
                <a:spcPts val="1000"/>
              </a:spcBef>
              <a:defRPr sz="1300">
                <a:solidFill>
                  <a:srgbClr val="0F172A"/>
                </a:solidFill>
              </a:defRPr>
            </a:pPr>
            <a:r>
              <a:rPr lang="ja-JP" dirty="0">
                <a:ea typeface="Meiryo"/>
              </a:rPr>
              <a:t>▸ 非同期のバックグラウンド一括配信で、日常のスクロール操作を妨げない</a:t>
            </a:r>
          </a:p>
          <a:p>
            <a:pPr>
              <a:spcBef>
                <a:spcPts val="1000"/>
              </a:spcBef>
              <a:defRPr sz="1300">
                <a:solidFill>
                  <a:srgbClr val="0F172A"/>
                </a:solidFill>
              </a:defRPr>
            </a:pPr>
            <a:r>
              <a:rPr lang="ja-JP" dirty="0">
                <a:ea typeface="Meiryo"/>
              </a:rPr>
              <a:t>▸ 広告や無関係な UI ノードを自動除去し、記事本体を正確に特定</a:t>
            </a:r>
          </a:p>
        </p:txBody>
      </p:sp>
      <p:sp>
        <p:nvSpPr>
          <p:cNvPr id="9" name="Rounded Rectangle 8"/>
          <p:cNvSpPr/>
          <p:nvPr/>
        </p:nvSpPr>
        <p:spPr>
          <a:xfrm>
            <a:off x="8119872" y="1234440"/>
            <a:ext cx="3520440" cy="525780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417320"/>
            <a:ext cx="3063240" cy="4892040"/>
          </a:xfrm>
          <a:prstGeom prst="rect">
            <a:avLst/>
          </a:prstGeom>
          <a:noFill/>
        </p:spPr>
        <p:txBody>
          <a:bodyPr wrap="square">
            <a:spAutoFit/>
          </a:bodyPr>
          <a:lstStyle/>
          <a:p>
            <a:pPr>
              <a:defRPr sz="1800" b="1">
                <a:solidFill>
                  <a:srgbClr val="059669"/>
                </a:solidFill>
              </a:defRPr>
            </a:pPr>
            <a:r>
              <a:rPr lang="ja-JP" dirty="0">
                <a:ea typeface="Meiryo"/>
              </a:rPr>
              <a:t>🏷️ フローティング型の操作可能バッジ UI</a:t>
            </a:r>
          </a:p>
          <a:p>
            <a:pPr>
              <a:spcBef>
                <a:spcPts val="1000"/>
              </a:spcBef>
              <a:defRPr sz="1300">
                <a:solidFill>
                  <a:srgbClr val="0F172A"/>
                </a:solidFill>
              </a:defRPr>
            </a:pPr>
            <a:r>
              <a:rPr lang="ja-JP" dirty="0">
                <a:ea typeface="Meiryo"/>
              </a:rPr>
              <a:t>▸ 投稿の右上に軽量なスコアバッジを注入：</a:t>
            </a:r>
            <a:br/>
            <a:r>
              <a:rPr lang="ja-JP" dirty="0">
                <a:ea typeface="Meiryo"/>
              </a:rPr>
              <a:t>  🔴 赤：偽情報の可能性が高い（0-39点）</a:t>
            </a:r>
            <a:br/>
            <a:r>
              <a:rPr lang="ja-JP" dirty="0">
                <a:ea typeface="Meiryo"/>
              </a:rPr>
              <a:t>  🟡 黄：疑義あり／一部虚偽（40-69点）</a:t>
            </a:r>
            <a:br/>
            <a:r>
              <a:rPr lang="ja-JP" dirty="0">
                <a:ea typeface="Meiryo"/>
              </a:rPr>
              <a:t>  🟢 緑：権威ある信頼できる情報源（70-100点）</a:t>
            </a:r>
          </a:p>
          <a:p>
            <a:pPr>
              <a:spcBef>
                <a:spcPts val="1000"/>
              </a:spcBef>
              <a:defRPr sz="1300">
                <a:solidFill>
                  <a:srgbClr val="0F172A"/>
                </a:solidFill>
              </a:defRPr>
            </a:pPr>
            <a:r>
              <a:rPr lang="ja-JP" dirty="0">
                <a:ea typeface="Meiryo"/>
              </a:rPr>
              <a:t>▸ クリックでファクトチェック詳細パネルを即時表示</a:t>
            </a:r>
          </a:p>
          <a:p>
            <a:pPr>
              <a:spcBef>
                <a:spcPts val="1000"/>
              </a:spcBef>
              <a:defRPr sz="1300">
                <a:solidFill>
                  <a:srgbClr val="0F172A"/>
                </a:solidFill>
              </a:defRPr>
            </a:pPr>
            <a:r>
              <a:rPr lang="ja-JP" dirty="0">
                <a:ea typeface="Meiryo"/>
              </a:rPr>
              <a:t>▸ IFCN 原本レポートへのリンク、要約、賛否双方の観点を対照表示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EVALUATION: LATENCY &amp; HARDWARE</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実験評価1：多層の遅延測定と民生向けハードウェアでの実測性能</a:t>
            </a:r>
          </a:p>
        </p:txBody>
      </p:sp>
      <p:sp>
        <p:nvSpPr>
          <p:cNvPr id="5" name="Rounded Rectangle 4"/>
          <p:cNvSpPr/>
          <p:nvPr/>
        </p:nvSpPr>
        <p:spPr>
          <a:xfrm>
            <a:off x="548640" y="1234440"/>
            <a:ext cx="3520440" cy="1600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44168"/>
            <a:ext cx="3063240" cy="1380744"/>
          </a:xfrm>
          <a:prstGeom prst="rect">
            <a:avLst/>
          </a:prstGeom>
          <a:noFill/>
        </p:spPr>
        <p:txBody>
          <a:bodyPr wrap="square" lIns="0" tIns="0" rIns="0" bIns="0">
            <a:spAutoFit/>
          </a:bodyPr>
          <a:lstStyle/>
          <a:p>
            <a:pPr>
              <a:defRPr sz="3800" b="1">
                <a:solidFill>
                  <a:srgbClr val="0284C7"/>
                </a:solidFill>
                <a:latin typeface="Calibri"/>
              </a:defRPr>
            </a:pPr>
            <a:r>
              <a:rPr lang="ja-JP" dirty="0">
                <a:ea typeface="Meiryo"/>
              </a:rPr>
              <a:t>1.48 ms</a:t>
            </a:r>
          </a:p>
          <a:p>
            <a:pPr>
              <a:spcBef>
                <a:spcPts val="200"/>
              </a:spcBef>
              <a:defRPr sz="1550" b="1">
                <a:solidFill>
                  <a:srgbClr val="0F172A"/>
                </a:solidFill>
                <a:latin typeface="Calibri"/>
              </a:defRPr>
            </a:pPr>
            <a:r>
              <a:rPr lang="ja-JP" dirty="0">
                <a:ea typeface="Meiryo"/>
              </a:rPr>
              <a:t>SBERT による査核検索の遅延</a:t>
            </a:r>
          </a:p>
          <a:p>
            <a:pPr>
              <a:spcBef>
                <a:spcPts val="200"/>
              </a:spcBef>
              <a:defRPr sz="1200">
                <a:solidFill>
                  <a:srgbClr val="475569"/>
                </a:solidFill>
                <a:latin typeface="Calibri"/>
              </a:defRPr>
            </a:pPr>
            <a:r>
              <a:rPr lang="ja-JP" dirty="0">
                <a:ea typeface="Meiryo"/>
              </a:rPr>
              <a:t>CPU メモリマップ検索でほぼゼロ遅延</a:t>
            </a:r>
          </a:p>
        </p:txBody>
      </p:sp>
      <p:sp>
        <p:nvSpPr>
          <p:cNvPr id="7" name="Rounded Rectangle 6"/>
          <p:cNvSpPr/>
          <p:nvPr/>
        </p:nvSpPr>
        <p:spPr>
          <a:xfrm>
            <a:off x="4334256" y="1234440"/>
            <a:ext cx="3520440" cy="1600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344168"/>
            <a:ext cx="3063240" cy="1380744"/>
          </a:xfrm>
          <a:prstGeom prst="rect">
            <a:avLst/>
          </a:prstGeom>
          <a:noFill/>
        </p:spPr>
        <p:txBody>
          <a:bodyPr wrap="square" lIns="0" tIns="0" rIns="0" bIns="0">
            <a:spAutoFit/>
          </a:bodyPr>
          <a:lstStyle/>
          <a:p>
            <a:pPr>
              <a:defRPr sz="3800" b="1">
                <a:solidFill>
                  <a:srgbClr val="0D9488"/>
                </a:solidFill>
                <a:latin typeface="Calibri"/>
              </a:defRPr>
            </a:pPr>
            <a:r>
              <a:rPr lang="ja-JP" dirty="0">
                <a:ea typeface="Meiryo"/>
              </a:rPr>
              <a:t>46.7 tok/s</a:t>
            </a:r>
          </a:p>
          <a:p>
            <a:pPr>
              <a:spcBef>
                <a:spcPts val="200"/>
              </a:spcBef>
              <a:defRPr sz="1550" b="1">
                <a:solidFill>
                  <a:srgbClr val="0F172A"/>
                </a:solidFill>
                <a:latin typeface="Calibri"/>
              </a:defRPr>
            </a:pPr>
            <a:r>
              <a:rPr lang="ja-JP" dirty="0">
                <a:ea typeface="Meiryo"/>
              </a:rPr>
              <a:t>Gemma-4-12B の生成速度</a:t>
            </a:r>
          </a:p>
          <a:p>
            <a:pPr>
              <a:spcBef>
                <a:spcPts val="200"/>
              </a:spcBef>
              <a:defRPr sz="1200">
                <a:solidFill>
                  <a:srgbClr val="475569"/>
                </a:solidFill>
                <a:latin typeface="Calibri"/>
              </a:defRPr>
            </a:pPr>
            <a:r>
              <a:rPr lang="ja-JP" dirty="0">
                <a:ea typeface="Meiryo"/>
              </a:rPr>
              <a:t>初回トークン遅延（TTFT）はわずか 200 ms の高速出力</a:t>
            </a:r>
          </a:p>
        </p:txBody>
      </p:sp>
      <p:sp>
        <p:nvSpPr>
          <p:cNvPr id="9" name="Rounded Rectangle 8"/>
          <p:cNvSpPr/>
          <p:nvPr/>
        </p:nvSpPr>
        <p:spPr>
          <a:xfrm>
            <a:off x="8119872" y="1234440"/>
            <a:ext cx="3520440" cy="1600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344168"/>
            <a:ext cx="3063240" cy="1380744"/>
          </a:xfrm>
          <a:prstGeom prst="rect">
            <a:avLst/>
          </a:prstGeom>
          <a:noFill/>
        </p:spPr>
        <p:txBody>
          <a:bodyPr wrap="square" lIns="0" tIns="0" rIns="0" bIns="0">
            <a:spAutoFit/>
          </a:bodyPr>
          <a:lstStyle/>
          <a:p>
            <a:pPr>
              <a:defRPr sz="3800" b="1">
                <a:solidFill>
                  <a:srgbClr val="10B981"/>
                </a:solidFill>
                <a:latin typeface="Calibri"/>
              </a:defRPr>
            </a:pPr>
            <a:r>
              <a:rPr lang="ja-JP" dirty="0">
                <a:ea typeface="Meiryo"/>
              </a:rPr>
              <a:t>9.2 GB</a:t>
            </a:r>
          </a:p>
          <a:p>
            <a:pPr>
              <a:spcBef>
                <a:spcPts val="200"/>
              </a:spcBef>
              <a:defRPr sz="1550" b="1">
                <a:solidFill>
                  <a:srgbClr val="0F172A"/>
                </a:solidFill>
                <a:latin typeface="Calibri"/>
              </a:defRPr>
            </a:pPr>
            <a:r>
              <a:rPr lang="ja-JP" dirty="0">
                <a:ea typeface="Meiryo"/>
              </a:rPr>
              <a:t>GPU の VRAM ピーク使用量</a:t>
            </a:r>
          </a:p>
          <a:p>
            <a:pPr>
              <a:spcBef>
                <a:spcPts val="200"/>
              </a:spcBef>
              <a:defRPr sz="1200">
                <a:solidFill>
                  <a:srgbClr val="475569"/>
                </a:solidFill>
                <a:latin typeface="Calibri"/>
              </a:defRPr>
            </a:pPr>
            <a:r>
              <a:rPr lang="ja-JP" dirty="0">
                <a:ea typeface="Meiryo"/>
              </a:rPr>
              <a:t>RTX 2080 Ti 1枚で快適に動作</a:t>
            </a:r>
          </a:p>
        </p:txBody>
      </p:sp>
      <p:graphicFrame>
        <p:nvGraphicFramePr>
          <p:cNvPr id="11" name="Table 10"/>
          <p:cNvGraphicFramePr>
            <a:graphicFrameLocks noGrp="1"/>
          </p:cNvGraphicFramePr>
          <p:nvPr/>
        </p:nvGraphicFramePr>
        <p:xfrm>
          <a:off x="548640" y="3063240"/>
          <a:ext cx="11094415" cy="3429000"/>
        </p:xfrm>
        <a:graphic>
          <a:graphicData uri="http://schemas.openxmlformats.org/drawingml/2006/table">
            <a:tbl>
              <a:tblPr firstRow="1" bandRow="1">
                <a:tableStyleId>{5C22544A-7EE6-4342-B048-85BDC9FD1C3A}</a:tableStyleId>
              </a:tblPr>
              <a:tblGrid>
                <a:gridCol w="3474720"/>
                <a:gridCol w="2560320"/>
                <a:gridCol w="5059375"/>
              </a:tblGrid>
              <a:tr h="571500">
                <a:tc>
                  <a:txBody>
                    <a:bodyPr/>
                    <a:lstStyle/>
                    <a:p>
                      <a:pPr algn="ctr">
                        <a:defRPr sz="1300" b="1">
                          <a:solidFill>
                            <a:srgbClr val="FFFFFF"/>
                          </a:solidFill>
                          <a:latin typeface="Calibri"/>
                        </a:defRPr>
                      </a:pPr>
                      <a:r>
                        <a:rPr lang="ja-JP" dirty="0">
                          <a:ea typeface="Meiryo"/>
                        </a:rPr>
                        <a:t>演算層／評価指標（Operational Tier）</a:t>
                      </a:r>
                    </a:p>
                  </a:txBody>
                  <a:tcPr anchor="ctr">
                    <a:solidFill>
                      <a:srgbClr val="1E293B"/>
                    </a:solidFill>
                  </a:tcPr>
                </a:tc>
                <a:tc>
                  <a:txBody>
                    <a:bodyPr/>
                    <a:lstStyle/>
                    <a:p>
                      <a:pPr algn="ctr">
                        <a:defRPr sz="1300" b="1">
                          <a:solidFill>
                            <a:srgbClr val="FFFFFF"/>
                          </a:solidFill>
                          <a:latin typeface="Calibri"/>
                        </a:defRPr>
                      </a:pPr>
                      <a:r>
                        <a:rPr lang="ja-JP" dirty="0">
                          <a:ea typeface="Meiryo"/>
                        </a:rPr>
                        <a:t>実測データ（Empirical Measurement）</a:t>
                      </a:r>
                    </a:p>
                  </a:txBody>
                  <a:tcPr anchor="ctr">
                    <a:solidFill>
                      <a:srgbClr val="059669"/>
                    </a:solidFill>
                  </a:tcPr>
                </a:tc>
                <a:tc>
                  <a:txBody>
                    <a:bodyPr/>
                    <a:lstStyle/>
                    <a:p>
                      <a:pPr algn="ctr">
                        <a:defRPr sz="1300" b="1">
                          <a:solidFill>
                            <a:srgbClr val="FFFFFF"/>
                          </a:solidFill>
                          <a:latin typeface="Calibri"/>
                        </a:defRPr>
                      </a:pPr>
                      <a:r>
                        <a:rPr lang="ja-JP" dirty="0">
                          <a:ea typeface="Meiryo"/>
                        </a:rPr>
                        <a:t>アーキテクチャと設計の説明</a:t>
                      </a:r>
                    </a:p>
                  </a:txBody>
                  <a:tcPr anchor="ctr">
                    <a:solidFill>
                      <a:srgbClr val="1E293B"/>
                    </a:solidFill>
                  </a:tcPr>
                </a:tc>
              </a:tr>
              <a:tr h="571500">
                <a:tc>
                  <a:txBody>
                    <a:bodyPr/>
                    <a:lstStyle/>
                    <a:p>
                      <a:pPr algn="l">
                        <a:defRPr sz="1200" b="1">
                          <a:solidFill>
                            <a:srgbClr val="0F172A"/>
                          </a:solidFill>
                          <a:latin typeface="Calibri"/>
                        </a:defRPr>
                      </a:pPr>
                      <a:r>
                        <a:rPr lang="ja-JP" dirty="0">
                          <a:ea typeface="Meiryo"/>
                        </a:rPr>
                        <a:t>SBERT ファクトチェック大盤検索（Fast-Path）</a:t>
                      </a:r>
                    </a:p>
                  </a:txBody>
                  <a:tcPr anchor="ctr">
                    <a:solidFill>
                      <a:srgbClr val="F8FAFC"/>
                    </a:solidFill>
                  </a:tcPr>
                </a:tc>
                <a:tc>
                  <a:txBody>
                    <a:bodyPr/>
                    <a:lstStyle/>
                    <a:p>
                      <a:pPr algn="ctr">
                        <a:defRPr sz="1200" b="1">
                          <a:solidFill>
                            <a:srgbClr val="059669"/>
                          </a:solidFill>
                          <a:latin typeface="Calibri"/>
                        </a:defRPr>
                      </a:pPr>
                      <a:r>
                        <a:rPr lang="ja-JP" dirty="0">
                          <a:ea typeface="Meiryo"/>
                        </a:rPr>
                        <a:t>1.48 ms（中央値 &lt; 2 ms）</a:t>
                      </a:r>
                    </a:p>
                  </a:txBody>
                  <a:tcPr anchor="ctr">
                    <a:solidFill>
                      <a:srgbClr val="ECFDF5"/>
                    </a:solidFill>
                  </a:tcPr>
                </a:tc>
                <a:tc>
                  <a:txBody>
                    <a:bodyPr/>
                    <a:lstStyle/>
                    <a:p>
                      <a:pPr algn="ctr">
                        <a:defRPr sz="1200">
                          <a:solidFill>
                            <a:srgbClr val="0F172A"/>
                          </a:solidFill>
                          <a:latin typeface="Calibri"/>
                        </a:defRPr>
                      </a:pPr>
                      <a:r>
                        <a:rPr lang="ja-JP" dirty="0">
                          <a:ea typeface="Meiryo"/>
                        </a:rPr>
                        <a:t>CPU 常駐メモリで一致時は即応答、GPU 競合ゼロ</a:t>
                      </a:r>
                    </a:p>
                  </a:txBody>
                  <a:tcPr anchor="ctr">
                    <a:solidFill>
                      <a:srgbClr val="F8FAFC"/>
                    </a:solidFill>
                  </a:tcPr>
                </a:tc>
              </a:tr>
              <a:tr h="571500">
                <a:tc>
                  <a:txBody>
                    <a:bodyPr/>
                    <a:lstStyle/>
                    <a:p>
                      <a:pPr algn="l">
                        <a:defRPr sz="1200" b="1">
                          <a:solidFill>
                            <a:srgbClr val="0F172A"/>
                          </a:solidFill>
                          <a:latin typeface="Calibri"/>
                        </a:defRPr>
                      </a:pPr>
                      <a:r>
                        <a:rPr lang="ja-JP" dirty="0">
                          <a:ea typeface="Meiryo"/>
                        </a:rPr>
                        <a:t>端末内 LLM の初回トークン遅延（TTFT Proxy）</a:t>
                      </a:r>
                    </a:p>
                  </a:txBody>
                  <a:tcPr anchor="ctr">
                    <a:solidFill>
                      <a:srgbClr val="FFFFFF"/>
                    </a:solidFill>
                  </a:tcPr>
                </a:tc>
                <a:tc>
                  <a:txBody>
                    <a:bodyPr/>
                    <a:lstStyle/>
                    <a:p>
                      <a:pPr algn="ctr">
                        <a:defRPr sz="1200" b="1">
                          <a:solidFill>
                            <a:srgbClr val="059669"/>
                          </a:solidFill>
                          <a:latin typeface="Calibri"/>
                        </a:defRPr>
                      </a:pPr>
                      <a:r>
                        <a:rPr lang="ja-JP" dirty="0">
                          <a:ea typeface="Meiryo"/>
                        </a:rPr>
                        <a:t>200 ms</a:t>
                      </a:r>
                    </a:p>
                  </a:txBody>
                  <a:tcPr anchor="ctr">
                    <a:solidFill>
                      <a:srgbClr val="ECFDF5"/>
                    </a:solidFill>
                  </a:tcPr>
                </a:tc>
                <a:tc>
                  <a:txBody>
                    <a:bodyPr/>
                    <a:lstStyle/>
                    <a:p>
                      <a:pPr algn="ctr">
                        <a:defRPr sz="1200">
                          <a:solidFill>
                            <a:srgbClr val="0F172A"/>
                          </a:solidFill>
                          <a:latin typeface="Calibri"/>
                        </a:defRPr>
                      </a:pPr>
                      <a:r>
                        <a:rPr lang="ja-JP" dirty="0">
                          <a:ea typeface="Meiryo"/>
                        </a:rPr>
                        <a:t>Ollama のローカルデーモンが重みを事前ロードし、即座にトークン生成を開始</a:t>
                      </a:r>
                    </a:p>
                  </a:txBody>
                  <a:tcPr anchor="ctr">
                    <a:solidFill>
                      <a:srgbClr val="FFFFFF"/>
                    </a:solidFill>
                  </a:tcPr>
                </a:tc>
              </a:tr>
              <a:tr h="571500">
                <a:tc>
                  <a:txBody>
                    <a:bodyPr/>
                    <a:lstStyle/>
                    <a:p>
                      <a:pPr algn="l">
                        <a:defRPr sz="1200" b="1">
                          <a:solidFill>
                            <a:srgbClr val="0F172A"/>
                          </a:solidFill>
                          <a:latin typeface="Calibri"/>
                        </a:defRPr>
                      </a:pPr>
                      <a:r>
                        <a:rPr lang="ja-JP" dirty="0">
                          <a:ea typeface="Meiryo"/>
                        </a:rPr>
                        <a:t>端末内 LLM の生成スループット（Throughput）</a:t>
                      </a:r>
                    </a:p>
                  </a:txBody>
                  <a:tcPr anchor="ctr">
                    <a:solidFill>
                      <a:srgbClr val="F8FAFC"/>
                    </a:solidFill>
                  </a:tcPr>
                </a:tc>
                <a:tc>
                  <a:txBody>
                    <a:bodyPr/>
                    <a:lstStyle/>
                    <a:p>
                      <a:pPr algn="ctr">
                        <a:defRPr sz="1200" b="1">
                          <a:solidFill>
                            <a:srgbClr val="059669"/>
                          </a:solidFill>
                          <a:latin typeface="Calibri"/>
                        </a:defRPr>
                      </a:pPr>
                      <a:r>
                        <a:rPr lang="ja-JP" dirty="0">
                          <a:ea typeface="Meiryo"/>
                        </a:rPr>
                        <a:t>46.7 tok/s</a:t>
                      </a:r>
                    </a:p>
                  </a:txBody>
                  <a:tcPr anchor="ctr">
                    <a:solidFill>
                      <a:srgbClr val="ECFDF5"/>
                    </a:solidFill>
                  </a:tcPr>
                </a:tc>
                <a:tc>
                  <a:txBody>
                    <a:bodyPr/>
                    <a:lstStyle/>
                    <a:p>
                      <a:pPr algn="ctr">
                        <a:defRPr sz="1200">
                          <a:solidFill>
                            <a:srgbClr val="0F172A"/>
                          </a:solidFill>
                          <a:latin typeface="Calibri"/>
                        </a:defRPr>
                      </a:pPr>
                      <a:r>
                        <a:rPr lang="ja-JP" dirty="0">
                          <a:ea typeface="Meiryo"/>
                        </a:rPr>
                        <a:t>4bit Q4_K_M 量子化で高速化、1回の観点分析（約 150 tok）は 3.2 秒</a:t>
                      </a:r>
                    </a:p>
                  </a:txBody>
                  <a:tcPr anchor="ctr">
                    <a:solidFill>
                      <a:srgbClr val="F8FAFC"/>
                    </a:solidFill>
                  </a:tcPr>
                </a:tc>
              </a:tr>
              <a:tr h="571500">
                <a:tc>
                  <a:txBody>
                    <a:bodyPr/>
                    <a:lstStyle/>
                    <a:p>
                      <a:pPr algn="l">
                        <a:defRPr sz="1200" b="1">
                          <a:solidFill>
                            <a:srgbClr val="0F172A"/>
                          </a:solidFill>
                          <a:latin typeface="Calibri"/>
                        </a:defRPr>
                      </a:pPr>
                      <a:r>
                        <a:rPr lang="ja-JP" dirty="0">
                          <a:ea typeface="Meiryo"/>
                        </a:rPr>
                        <a:t>JSON 文法の準拠率（Schema Compliance）</a:t>
                      </a:r>
                    </a:p>
                  </a:txBody>
                  <a:tcPr anchor="ctr">
                    <a:solidFill>
                      <a:srgbClr val="FFFFFF"/>
                    </a:solidFill>
                  </a:tcPr>
                </a:tc>
                <a:tc>
                  <a:txBody>
                    <a:bodyPr/>
                    <a:lstStyle/>
                    <a:p>
                      <a:pPr algn="ctr">
                        <a:defRPr sz="1200" b="1">
                          <a:solidFill>
                            <a:srgbClr val="059669"/>
                          </a:solidFill>
                          <a:latin typeface="Calibri"/>
                        </a:defRPr>
                      </a:pPr>
                      <a:r>
                        <a:rPr lang="ja-JP" dirty="0">
                          <a:ea typeface="Meiryo"/>
                        </a:rPr>
                        <a:t>100%（100 / 100 回）</a:t>
                      </a:r>
                    </a:p>
                  </a:txBody>
                  <a:tcPr anchor="ctr">
                    <a:solidFill>
                      <a:srgbClr val="ECFDF5"/>
                    </a:solidFill>
                  </a:tcPr>
                </a:tc>
                <a:tc>
                  <a:txBody>
                    <a:bodyPr/>
                    <a:lstStyle/>
                    <a:p>
                      <a:pPr algn="ctr">
                        <a:defRPr sz="1200">
                          <a:solidFill>
                            <a:srgbClr val="0F172A"/>
                          </a:solidFill>
                          <a:latin typeface="Calibri"/>
                        </a:defRPr>
                      </a:pPr>
                      <a:r>
                        <a:rPr lang="ja-JP" dirty="0">
                          <a:ea typeface="Meiryo"/>
                        </a:rPr>
                        <a:t>format:json の文法制約マスクで構文崩壊とタグ汚染を完全に排除</a:t>
                      </a:r>
                    </a:p>
                  </a:txBody>
                  <a:tcPr anchor="ctr">
                    <a:solidFill>
                      <a:srgbClr val="FFFFFF"/>
                    </a:solidFill>
                  </a:tcPr>
                </a:tc>
              </a:tr>
              <a:tr h="571500">
                <a:tc>
                  <a:txBody>
                    <a:bodyPr/>
                    <a:lstStyle/>
                    <a:p>
                      <a:pPr algn="l">
                        <a:defRPr sz="1200" b="1">
                          <a:solidFill>
                            <a:srgbClr val="0F172A"/>
                          </a:solidFill>
                          <a:latin typeface="Calibri"/>
                        </a:defRPr>
                      </a:pPr>
                      <a:r>
                        <a:rPr lang="ja-JP" dirty="0">
                          <a:ea typeface="Meiryo"/>
                        </a:rPr>
                        <a:t>エンドツーエンドの /judge 応答（Single-Pass）</a:t>
                      </a:r>
                    </a:p>
                  </a:txBody>
                  <a:tcPr anchor="ctr">
                    <a:solidFill>
                      <a:srgbClr val="F8FAFC"/>
                    </a:solidFill>
                  </a:tcPr>
                </a:tc>
                <a:tc>
                  <a:txBody>
                    <a:bodyPr/>
                    <a:lstStyle/>
                    <a:p>
                      <a:pPr algn="ctr">
                        <a:defRPr sz="1200" b="1">
                          <a:solidFill>
                            <a:srgbClr val="059669"/>
                          </a:solidFill>
                          <a:latin typeface="Calibri"/>
                        </a:defRPr>
                      </a:pPr>
                      <a:r>
                        <a:rPr lang="ja-JP" dirty="0">
                          <a:ea typeface="Meiryo"/>
                        </a:rPr>
                        <a:t>3.5 秒（DOM と監査を含む）</a:t>
                      </a:r>
                    </a:p>
                  </a:txBody>
                  <a:tcPr anchor="ctr">
                    <a:solidFill>
                      <a:srgbClr val="ECFDF5"/>
                    </a:solidFill>
                  </a:tcPr>
                </a:tc>
                <a:tc>
                  <a:txBody>
                    <a:bodyPr/>
                    <a:lstStyle/>
                    <a:p>
                      <a:pPr algn="ctr">
                        <a:defRPr sz="1200">
                          <a:solidFill>
                            <a:srgbClr val="0F172A"/>
                          </a:solidFill>
                          <a:latin typeface="Calibri"/>
                        </a:defRPr>
                      </a:pPr>
                      <a:r>
                        <a:rPr lang="ja-JP" dirty="0">
                          <a:ea typeface="Meiryo"/>
                        </a:rPr>
                        <a:t>RTX 2080 Ti 1枚で VRAM 9.2 GB を安定維持し、スワップなし</a:t>
                      </a:r>
                    </a:p>
                  </a:txBody>
                  <a:tcPr anchor="ctr">
                    <a:solidFill>
                      <a:srgbClr val="F8FA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EVALUATION: 5-FOLD CROSS-VALIDATION</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実験評価2：全庫の5分割交差検証と多段のテキスト摂動耐性テスト</a:t>
            </a:r>
          </a:p>
        </p:txBody>
      </p:sp>
      <p:graphicFrame>
        <p:nvGraphicFramePr>
          <p:cNvPr id="5" name="Table 4"/>
          <p:cNvGraphicFramePr>
            <a:graphicFrameLocks noGrp="1"/>
          </p:cNvGraphicFramePr>
          <p:nvPr/>
        </p:nvGraphicFramePr>
        <p:xfrm>
          <a:off x="548640" y="1234440"/>
          <a:ext cx="11082528" cy="3429000"/>
        </p:xfrm>
        <a:graphic>
          <a:graphicData uri="http://schemas.openxmlformats.org/drawingml/2006/table">
            <a:tbl>
              <a:tblPr firstRow="1" bandRow="1">
                <a:tableStyleId>{5C22544A-7EE6-4342-B048-85BDC9FD1C3A}</a:tableStyleId>
              </a:tblPr>
              <a:tblGrid>
                <a:gridCol w="1645920"/>
                <a:gridCol w="2359152"/>
                <a:gridCol w="2359152"/>
                <a:gridCol w="2359152"/>
                <a:gridCol w="2359152"/>
              </a:tblGrid>
              <a:tr h="685800">
                <a:tc>
                  <a:txBody>
                    <a:bodyPr/>
                    <a:lstStyle/>
                    <a:p>
                      <a:pPr algn="ctr">
                        <a:defRPr sz="1300" b="1">
                          <a:solidFill>
                            <a:srgbClr val="FFFFFF"/>
                          </a:solidFill>
                          <a:latin typeface="Calibri"/>
                        </a:defRPr>
                      </a:pPr>
                      <a:r>
                        <a:rPr lang="ja-JP" dirty="0">
                          <a:ea typeface="Meiryo"/>
                        </a:rPr>
                        <a:t>閾値 θ_sim</a:t>
                      </a:r>
                    </a:p>
                  </a:txBody>
                  <a:tcPr anchor="ctr">
                    <a:solidFill>
                      <a:srgbClr val="1E293B"/>
                    </a:solidFill>
                  </a:tcPr>
                </a:tc>
                <a:tc>
                  <a:txBody>
                    <a:bodyPr/>
                    <a:lstStyle/>
                    <a:p>
                      <a:pPr algn="ctr">
                        <a:defRPr sz="1300" b="1">
                          <a:solidFill>
                            <a:srgbClr val="FFFFFF"/>
                          </a:solidFill>
                          <a:latin typeface="Calibri"/>
                        </a:defRPr>
                      </a:pPr>
                      <a:r>
                        <a:rPr lang="ja-JP" dirty="0">
                          <a:ea typeface="Meiryo"/>
                        </a:rPr>
                        <a:t>Verbatim（原文・摂動なし）</a:t>
                      </a:r>
                    </a:p>
                  </a:txBody>
                  <a:tcPr anchor="ctr">
                    <a:solidFill>
                      <a:srgbClr val="1E293B"/>
                    </a:solidFill>
                  </a:tcPr>
                </a:tc>
                <a:tc>
                  <a:txBody>
                    <a:bodyPr/>
                    <a:lstStyle/>
                    <a:p>
                      <a:pPr algn="ctr">
                        <a:defRPr sz="1300" b="1">
                          <a:solidFill>
                            <a:srgbClr val="FFFFFF"/>
                          </a:solidFill>
                          <a:latin typeface="Calibri"/>
                        </a:defRPr>
                      </a:pPr>
                      <a:r>
                        <a:rPr lang="ja-JP" dirty="0">
                          <a:ea typeface="Meiryo"/>
                        </a:rPr>
                        <a:t>Mild（軽度の接頭辞摂動）</a:t>
                      </a:r>
                    </a:p>
                  </a:txBody>
                  <a:tcPr anchor="ctr">
                    <a:solidFill>
                      <a:srgbClr val="1E293B"/>
                    </a:solidFill>
                  </a:tcPr>
                </a:tc>
                <a:tc>
                  <a:txBody>
                    <a:bodyPr/>
                    <a:lstStyle/>
                    <a:p>
                      <a:pPr algn="ctr">
                        <a:defRPr sz="1300" b="1">
                          <a:solidFill>
                            <a:srgbClr val="FFFFFF"/>
                          </a:solidFill>
                          <a:latin typeface="Calibri"/>
                        </a:defRPr>
                      </a:pPr>
                      <a:r>
                        <a:rPr lang="ja-JP" dirty="0">
                          <a:ea typeface="Meiryo"/>
                        </a:rPr>
                        <a:t>Medium（中度の同義語書き換え）</a:t>
                      </a:r>
                    </a:p>
                  </a:txBody>
                  <a:tcPr anchor="ctr">
                    <a:solidFill>
                      <a:srgbClr val="1E293B"/>
                    </a:solidFill>
                  </a:tcPr>
                </a:tc>
                <a:tc>
                  <a:txBody>
                    <a:bodyPr/>
                    <a:lstStyle/>
                    <a:p>
                      <a:pPr algn="ctr">
                        <a:defRPr sz="1300" b="1">
                          <a:solidFill>
                            <a:srgbClr val="FFFFFF"/>
                          </a:solidFill>
                          <a:latin typeface="Calibri"/>
                        </a:defRPr>
                      </a:pPr>
                      <a:r>
                        <a:rPr lang="ja-JP" dirty="0">
                          <a:ea typeface="Meiryo"/>
                        </a:rPr>
                        <a:t>Heavy（重度の構造撹乱）</a:t>
                      </a:r>
                    </a:p>
                  </a:txBody>
                  <a:tcPr anchor="ctr">
                    <a:solidFill>
                      <a:srgbClr val="1E293B"/>
                    </a:solidFill>
                  </a:tcPr>
                </a:tc>
              </a:tr>
              <a:tr h="685800">
                <a:tc>
                  <a:txBody>
                    <a:bodyPr/>
                    <a:lstStyle/>
                    <a:p>
                      <a:pPr algn="l">
                        <a:defRPr sz="1200" b="1">
                          <a:solidFill>
                            <a:srgbClr val="0F172A"/>
                          </a:solidFill>
                          <a:latin typeface="Calibri"/>
                        </a:defRPr>
                      </a:pPr>
                      <a:r>
                        <a:rPr lang="ja-JP" dirty="0">
                          <a:ea typeface="Meiryo"/>
                        </a:rPr>
                        <a:t>θ = 0.55</a:t>
                      </a:r>
                    </a:p>
                  </a:txBody>
                  <a:tcPr anchor="ctr">
                    <a:solidFill>
                      <a:srgbClr val="F8FAFC"/>
                    </a:solidFill>
                  </a:tcPr>
                </a:tc>
                <a:tc>
                  <a:txBody>
                    <a:bodyPr/>
                    <a:lstStyle/>
                    <a:p>
                      <a:pPr algn="ctr">
                        <a:defRPr sz="1200">
                          <a:solidFill>
                            <a:srgbClr val="0F172A"/>
                          </a:solidFill>
                          <a:latin typeface="Calibri"/>
                        </a:defRPr>
                      </a:pPr>
                      <a:r>
                        <a:rPr lang="ja-JP" dirty="0">
                          <a:ea typeface="Meiryo"/>
                        </a:rPr>
                        <a:t>Cov: 95% ｜ Acc: 91% ｜ F1: 0.95</a:t>
                      </a:r>
                    </a:p>
                  </a:txBody>
                  <a:tcPr anchor="ctr">
                    <a:solidFill>
                      <a:srgbClr val="F8FAFC"/>
                    </a:solidFill>
                  </a:tcPr>
                </a:tc>
                <a:tc>
                  <a:txBody>
                    <a:bodyPr/>
                    <a:lstStyle/>
                    <a:p>
                      <a:pPr algn="ctr">
                        <a:defRPr sz="1200">
                          <a:solidFill>
                            <a:srgbClr val="0F172A"/>
                          </a:solidFill>
                          <a:latin typeface="Calibri"/>
                        </a:defRPr>
                      </a:pPr>
                      <a:r>
                        <a:rPr lang="ja-JP" dirty="0">
                          <a:ea typeface="Meiryo"/>
                        </a:rPr>
                        <a:t>Cov: 95% ｜ Acc: 89% ｜ F1: 0.94</a:t>
                      </a:r>
                    </a:p>
                  </a:txBody>
                  <a:tcPr anchor="ctr">
                    <a:solidFill>
                      <a:srgbClr val="F8FAFC"/>
                    </a:solidFill>
                  </a:tcPr>
                </a:tc>
                <a:tc>
                  <a:txBody>
                    <a:bodyPr/>
                    <a:lstStyle/>
                    <a:p>
                      <a:pPr algn="ctr">
                        <a:defRPr sz="1200">
                          <a:solidFill>
                            <a:srgbClr val="0F172A"/>
                          </a:solidFill>
                          <a:latin typeface="Calibri"/>
                        </a:defRPr>
                      </a:pPr>
                      <a:r>
                        <a:rPr lang="ja-JP" dirty="0">
                          <a:ea typeface="Meiryo"/>
                        </a:rPr>
                        <a:t>Cov: 95% ｜ Acc: 90% ｜ F1: 0.94</a:t>
                      </a:r>
                    </a:p>
                  </a:txBody>
                  <a:tcPr anchor="ctr">
                    <a:solidFill>
                      <a:srgbClr val="F8FAFC"/>
                    </a:solidFill>
                  </a:tcPr>
                </a:tc>
                <a:tc>
                  <a:txBody>
                    <a:bodyPr/>
                    <a:lstStyle/>
                    <a:p>
                      <a:pPr algn="ctr">
                        <a:defRPr sz="1200">
                          <a:solidFill>
                            <a:srgbClr val="0F172A"/>
                          </a:solidFill>
                          <a:latin typeface="Calibri"/>
                        </a:defRPr>
                      </a:pPr>
                      <a:r>
                        <a:rPr lang="ja-JP" dirty="0">
                          <a:ea typeface="Meiryo"/>
                        </a:rPr>
                        <a:t>Cov: 92% ｜ Acc: 89% ｜ F1: 0.94</a:t>
                      </a:r>
                    </a:p>
                  </a:txBody>
                  <a:tcPr anchor="ctr">
                    <a:solidFill>
                      <a:srgbClr val="F8FAFC"/>
                    </a:solidFill>
                  </a:tcPr>
                </a:tc>
              </a:tr>
              <a:tr h="685800">
                <a:tc>
                  <a:txBody>
                    <a:bodyPr/>
                    <a:lstStyle/>
                    <a:p>
                      <a:pPr algn="l">
                        <a:defRPr sz="1200" b="1">
                          <a:solidFill>
                            <a:srgbClr val="0F172A"/>
                          </a:solidFill>
                          <a:latin typeface="Calibri"/>
                        </a:defRPr>
                      </a:pPr>
                      <a:r>
                        <a:rPr lang="ja-JP" dirty="0">
                          <a:ea typeface="Meiryo"/>
                        </a:rPr>
                        <a:t>θ = 0.65</a:t>
                      </a:r>
                    </a:p>
                  </a:txBody>
                  <a:tcPr anchor="ctr">
                    <a:solidFill>
                      <a:srgbClr val="FFFFFF"/>
                    </a:solidFill>
                  </a:tcPr>
                </a:tc>
                <a:tc>
                  <a:txBody>
                    <a:bodyPr/>
                    <a:lstStyle/>
                    <a:p>
                      <a:pPr algn="ctr">
                        <a:defRPr sz="1200">
                          <a:solidFill>
                            <a:srgbClr val="0F172A"/>
                          </a:solidFill>
                          <a:latin typeface="Calibri"/>
                        </a:defRPr>
                      </a:pPr>
                      <a:r>
                        <a:rPr lang="ja-JP" dirty="0">
                          <a:ea typeface="Meiryo"/>
                        </a:rPr>
                        <a:t>Cov: 75% ｜ Acc: 94% ｜ F1: 0.96</a:t>
                      </a:r>
                    </a:p>
                  </a:txBody>
                  <a:tcPr anchor="ctr">
                    <a:solidFill>
                      <a:srgbClr val="FFFFFF"/>
                    </a:solidFill>
                  </a:tcPr>
                </a:tc>
                <a:tc>
                  <a:txBody>
                    <a:bodyPr/>
                    <a:lstStyle/>
                    <a:p>
                      <a:pPr algn="ctr">
                        <a:defRPr sz="1200">
                          <a:solidFill>
                            <a:srgbClr val="0F172A"/>
                          </a:solidFill>
                          <a:latin typeface="Calibri"/>
                        </a:defRPr>
                      </a:pPr>
                      <a:r>
                        <a:rPr lang="ja-JP" dirty="0">
                          <a:ea typeface="Meiryo"/>
                        </a:rPr>
                        <a:t>Cov: 75% ｜ Acc: 92% ｜ F1: 0.96</a:t>
                      </a:r>
                    </a:p>
                  </a:txBody>
                  <a:tcPr anchor="ctr">
                    <a:solidFill>
                      <a:srgbClr val="FFFFFF"/>
                    </a:solidFill>
                  </a:tcPr>
                </a:tc>
                <a:tc>
                  <a:txBody>
                    <a:bodyPr/>
                    <a:lstStyle/>
                    <a:p>
                      <a:pPr algn="ctr">
                        <a:defRPr sz="1200">
                          <a:solidFill>
                            <a:srgbClr val="0F172A"/>
                          </a:solidFill>
                          <a:latin typeface="Calibri"/>
                        </a:defRPr>
                      </a:pPr>
                      <a:r>
                        <a:rPr lang="ja-JP" dirty="0">
                          <a:ea typeface="Meiryo"/>
                        </a:rPr>
                        <a:t>Cov: 73% ｜ Acc: 93% ｜ F1: 0.96</a:t>
                      </a:r>
                    </a:p>
                  </a:txBody>
                  <a:tcPr anchor="ctr">
                    <a:solidFill>
                      <a:srgbClr val="FFFFFF"/>
                    </a:solidFill>
                  </a:tcPr>
                </a:tc>
                <a:tc>
                  <a:txBody>
                    <a:bodyPr/>
                    <a:lstStyle/>
                    <a:p>
                      <a:pPr algn="ctr">
                        <a:defRPr sz="1200">
                          <a:solidFill>
                            <a:srgbClr val="0F172A"/>
                          </a:solidFill>
                          <a:latin typeface="Calibri"/>
                        </a:defRPr>
                      </a:pPr>
                      <a:r>
                        <a:rPr lang="ja-JP" dirty="0">
                          <a:ea typeface="Meiryo"/>
                        </a:rPr>
                        <a:t>Cov: 63% ｜ Acc: 92% ｜ F1: 0.96</a:t>
                      </a:r>
                    </a:p>
                  </a:txBody>
                  <a:tcPr anchor="ctr">
                    <a:solidFill>
                      <a:srgbClr val="FFFFFF"/>
                    </a:solidFill>
                  </a:tcPr>
                </a:tc>
              </a:tr>
              <a:tr h="685800">
                <a:tc>
                  <a:txBody>
                    <a:bodyPr/>
                    <a:lstStyle/>
                    <a:p>
                      <a:pPr algn="l">
                        <a:defRPr sz="1200" b="1">
                          <a:solidFill>
                            <a:srgbClr val="0F172A"/>
                          </a:solidFill>
                          <a:latin typeface="Calibri"/>
                        </a:defRPr>
                      </a:pPr>
                      <a:r>
                        <a:rPr lang="ja-JP" dirty="0">
                          <a:ea typeface="Meiryo"/>
                        </a:rPr>
                        <a:t>★ θ = 0.72 ★</a:t>
                      </a:r>
                    </a:p>
                  </a:txBody>
                  <a:tcPr anchor="ctr">
                    <a:solidFill>
                      <a:srgbClr val="FEF3C7"/>
                    </a:solidFill>
                  </a:tcPr>
                </a:tc>
                <a:tc>
                  <a:txBody>
                    <a:bodyPr/>
                    <a:lstStyle/>
                    <a:p>
                      <a:pPr algn="ctr">
                        <a:defRPr sz="1200" b="1">
                          <a:solidFill>
                            <a:srgbClr val="0F172A"/>
                          </a:solidFill>
                          <a:latin typeface="Calibri"/>
                        </a:defRPr>
                      </a:pPr>
                      <a:r>
                        <a:rPr lang="ja-JP" dirty="0">
                          <a:ea typeface="Meiryo"/>
                        </a:rPr>
                        <a:t>Cov: 55.2% ｜ Acc: 95.3% ｜ F1: 0.974</a:t>
                      </a:r>
                    </a:p>
                  </a:txBody>
                  <a:tcPr anchor="ctr">
                    <a:solidFill>
                      <a:srgbClr val="FEF3C7"/>
                    </a:solidFill>
                  </a:tcPr>
                </a:tc>
                <a:tc>
                  <a:txBody>
                    <a:bodyPr/>
                    <a:lstStyle/>
                    <a:p>
                      <a:pPr algn="ctr">
                        <a:defRPr sz="1200" b="1">
                          <a:solidFill>
                            <a:srgbClr val="0F172A"/>
                          </a:solidFill>
                          <a:latin typeface="Calibri"/>
                        </a:defRPr>
                      </a:pPr>
                      <a:r>
                        <a:rPr lang="ja-JP" dirty="0">
                          <a:ea typeface="Meiryo"/>
                        </a:rPr>
                        <a:t>Cov: 54.0% ｜ Acc: 95.0% ｜ F1: 0.970</a:t>
                      </a:r>
                    </a:p>
                  </a:txBody>
                  <a:tcPr anchor="ctr">
                    <a:solidFill>
                      <a:srgbClr val="FEF3C7"/>
                    </a:solidFill>
                  </a:tcPr>
                </a:tc>
                <a:tc>
                  <a:txBody>
                    <a:bodyPr/>
                    <a:lstStyle/>
                    <a:p>
                      <a:pPr algn="ctr">
                        <a:defRPr sz="1200" b="1">
                          <a:solidFill>
                            <a:srgbClr val="0F172A"/>
                          </a:solidFill>
                          <a:latin typeface="Calibri"/>
                        </a:defRPr>
                      </a:pPr>
                      <a:r>
                        <a:rPr lang="ja-JP" dirty="0">
                          <a:ea typeface="Meiryo"/>
                        </a:rPr>
                        <a:t>Cov: 50.0% ｜ Acc: 95.4% ｜ F1: 0.975</a:t>
                      </a:r>
                    </a:p>
                  </a:txBody>
                  <a:tcPr anchor="ctr">
                    <a:solidFill>
                      <a:srgbClr val="FEF3C7"/>
                    </a:solidFill>
                  </a:tcPr>
                </a:tc>
                <a:tc>
                  <a:txBody>
                    <a:bodyPr/>
                    <a:lstStyle/>
                    <a:p>
                      <a:pPr algn="ctr">
                        <a:defRPr sz="1200" b="1">
                          <a:solidFill>
                            <a:srgbClr val="0F172A"/>
                          </a:solidFill>
                          <a:latin typeface="Calibri"/>
                        </a:defRPr>
                      </a:pPr>
                      <a:r>
                        <a:rPr lang="ja-JP" dirty="0">
                          <a:ea typeface="Meiryo"/>
                        </a:rPr>
                        <a:t>Cov: 39.0% ｜ Acc: 94.4% ｜ F1: 0.970</a:t>
                      </a:r>
                    </a:p>
                  </a:txBody>
                  <a:tcPr anchor="ctr">
                    <a:solidFill>
                      <a:srgbClr val="FEF3C7"/>
                    </a:solidFill>
                  </a:tcPr>
                </a:tc>
              </a:tr>
              <a:tr h="685800">
                <a:tc>
                  <a:txBody>
                    <a:bodyPr/>
                    <a:lstStyle/>
                    <a:p>
                      <a:pPr algn="l">
                        <a:defRPr sz="1200" b="1">
                          <a:solidFill>
                            <a:srgbClr val="0F172A"/>
                          </a:solidFill>
                          <a:latin typeface="Calibri"/>
                        </a:defRPr>
                      </a:pPr>
                      <a:r>
                        <a:rPr lang="ja-JP" dirty="0">
                          <a:ea typeface="Meiryo"/>
                        </a:rPr>
                        <a:t>θ = 0.85</a:t>
                      </a:r>
                    </a:p>
                  </a:txBody>
                  <a:tcPr anchor="ctr">
                    <a:solidFill>
                      <a:srgbClr val="FFFFFF"/>
                    </a:solidFill>
                  </a:tcPr>
                </a:tc>
                <a:tc>
                  <a:txBody>
                    <a:bodyPr/>
                    <a:lstStyle/>
                    <a:p>
                      <a:pPr algn="ctr">
                        <a:defRPr sz="1200">
                          <a:solidFill>
                            <a:srgbClr val="0F172A"/>
                          </a:solidFill>
                          <a:latin typeface="Calibri"/>
                        </a:defRPr>
                      </a:pPr>
                      <a:r>
                        <a:rPr lang="ja-JP" dirty="0">
                          <a:ea typeface="Meiryo"/>
                        </a:rPr>
                        <a:t>Cov: 27% ｜ Acc: 97% ｜ F1: 0.98</a:t>
                      </a:r>
                    </a:p>
                  </a:txBody>
                  <a:tcPr anchor="ctr">
                    <a:solidFill>
                      <a:srgbClr val="FFFFFF"/>
                    </a:solidFill>
                  </a:tcPr>
                </a:tc>
                <a:tc>
                  <a:txBody>
                    <a:bodyPr/>
                    <a:lstStyle/>
                    <a:p>
                      <a:pPr algn="ctr">
                        <a:defRPr sz="1200">
                          <a:solidFill>
                            <a:srgbClr val="0F172A"/>
                          </a:solidFill>
                          <a:latin typeface="Calibri"/>
                        </a:defRPr>
                      </a:pPr>
                      <a:r>
                        <a:rPr lang="ja-JP" dirty="0">
                          <a:ea typeface="Meiryo"/>
                        </a:rPr>
                        <a:t>Cov: 24% ｜ Acc: 96% ｜ F1: 0.98</a:t>
                      </a:r>
                    </a:p>
                  </a:txBody>
                  <a:tcPr anchor="ctr">
                    <a:solidFill>
                      <a:srgbClr val="FFFFFF"/>
                    </a:solidFill>
                  </a:tcPr>
                </a:tc>
                <a:tc>
                  <a:txBody>
                    <a:bodyPr/>
                    <a:lstStyle/>
                    <a:p>
                      <a:pPr algn="ctr">
                        <a:defRPr sz="1200">
                          <a:solidFill>
                            <a:srgbClr val="0F172A"/>
                          </a:solidFill>
                          <a:latin typeface="Calibri"/>
                        </a:defRPr>
                      </a:pPr>
                      <a:r>
                        <a:rPr lang="ja-JP" dirty="0">
                          <a:ea typeface="Meiryo"/>
                        </a:rPr>
                        <a:t>Cov: 20% ｜ Acc: 96% ｜ F1: 0.98</a:t>
                      </a:r>
                    </a:p>
                  </a:txBody>
                  <a:tcPr anchor="ctr">
                    <a:solidFill>
                      <a:srgbClr val="FFFFFF"/>
                    </a:solidFill>
                  </a:tcPr>
                </a:tc>
                <a:tc>
                  <a:txBody>
                    <a:bodyPr/>
                    <a:lstStyle/>
                    <a:p>
                      <a:pPr algn="ctr">
                        <a:defRPr sz="1200">
                          <a:solidFill>
                            <a:srgbClr val="0F172A"/>
                          </a:solidFill>
                          <a:latin typeface="Calibri"/>
                        </a:defRPr>
                      </a:pPr>
                      <a:r>
                        <a:rPr lang="ja-JP" dirty="0">
                          <a:ea typeface="Meiryo"/>
                        </a:rPr>
                        <a:t>Cov: 8% ｜ Acc: 97% ｜ F1: 0.99</a:t>
                      </a:r>
                    </a:p>
                  </a:txBody>
                  <a:tcPr anchor="ctr">
                    <a:solidFill>
                      <a:srgbClr val="FFFFFF"/>
                    </a:solidFill>
                  </a:tcPr>
                </a:tc>
              </a:tr>
            </a:tbl>
          </a:graphicData>
        </a:graphic>
      </p:graphicFrame>
      <p:sp>
        <p:nvSpPr>
          <p:cNvPr id="6" name="Rounded Rectangle 5"/>
          <p:cNvSpPr/>
          <p:nvPr/>
        </p:nvSpPr>
        <p:spPr>
          <a:xfrm>
            <a:off x="548640" y="4892040"/>
            <a:ext cx="11094415" cy="16002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010912"/>
            <a:ext cx="10637215" cy="1371600"/>
          </a:xfrm>
          <a:prstGeom prst="rect">
            <a:avLst/>
          </a:prstGeom>
          <a:noFill/>
        </p:spPr>
        <p:txBody>
          <a:bodyPr wrap="square">
            <a:spAutoFit/>
          </a:bodyPr>
          <a:lstStyle/>
          <a:p>
            <a:pPr>
              <a:defRPr sz="1500" b="1">
                <a:solidFill>
                  <a:srgbClr val="0369A1"/>
                </a:solidFill>
              </a:defRPr>
            </a:pPr>
            <a:r>
              <a:rPr lang="ja-JP" dirty="0">
                <a:ea typeface="Meiryo"/>
              </a:rPr>
              <a:t>💡 交差検証の主要な知見と頑健性の分析</a:t>
            </a:r>
          </a:p>
          <a:p>
            <a:pPr>
              <a:spcBef>
                <a:spcPts val="300"/>
              </a:spcBef>
              <a:defRPr sz="1200">
                <a:solidFill>
                  <a:srgbClr val="0F172A"/>
                </a:solidFill>
              </a:defRPr>
            </a:pPr>
            <a:r>
              <a:rPr lang="ja-JP" dirty="0">
                <a:ea typeface="Meiryo"/>
              </a:rPr>
              <a:t>▸【黄金バランス点 θ_sim = 0.72】：カバレッジ 55.2%、正解率 95.3%（F1 = 0.974）で、カバレッジと精度の最適なトレードオフを実現。</a:t>
            </a:r>
          </a:p>
          <a:p>
            <a:pPr>
              <a:spcBef>
                <a:spcPts val="300"/>
              </a:spcBef>
              <a:defRPr sz="1200">
                <a:solidFill>
                  <a:srgbClr val="0F172A"/>
                </a:solidFill>
              </a:defRPr>
            </a:pPr>
            <a:r>
              <a:rPr lang="ja-JP" dirty="0">
                <a:ea typeface="Meiryo"/>
              </a:rPr>
              <a:t>▸【摂動への高い耐性】：中度の同義語置換・書き換え下でも正解率は 95.4%（F1 = 0.975）を維持し、SBERT 意味空間の優れた汎化性を実証。</a:t>
            </a:r>
          </a:p>
          <a:p>
            <a:pPr>
              <a:spcBef>
                <a:spcPts val="300"/>
              </a:spcBef>
              <a:defRPr sz="1200">
                <a:solidFill>
                  <a:srgbClr val="0F172A"/>
                </a:solidFill>
              </a:defRPr>
            </a:pPr>
            <a:r>
              <a:rPr lang="ja-JP" dirty="0">
                <a:ea typeface="Meiryo"/>
              </a:rPr>
              <a:t>▸【厳格なリークなしテスト】：各フォールドのテストセットを候補庫から厳密に除外して「自己照合」のリークを排除、Top-1 の真の再現率は 99.9%。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PARADIGM BENCHMARK</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実験評価3：4つの技術パラダイムの横断的ベンチマーク比較</a:t>
            </a:r>
          </a:p>
        </p:txBody>
      </p:sp>
      <p:graphicFrame>
        <p:nvGraphicFramePr>
          <p:cNvPr id="5" name="Table 4"/>
          <p:cNvGraphicFramePr>
            <a:graphicFrameLocks noGrp="1"/>
          </p:cNvGraphicFramePr>
          <p:nvPr/>
        </p:nvGraphicFramePr>
        <p:xfrm>
          <a:off x="548640" y="1234440"/>
          <a:ext cx="11094415" cy="5257800"/>
        </p:xfrm>
        <a:graphic>
          <a:graphicData uri="http://schemas.openxmlformats.org/drawingml/2006/table">
            <a:tbl>
              <a:tblPr firstRow="1" bandRow="1">
                <a:tableStyleId>{5C22544A-7EE6-4342-B048-85BDC9FD1C3A}</a:tableStyleId>
              </a:tblPr>
              <a:tblGrid>
                <a:gridCol w="2407615"/>
                <a:gridCol w="1645920"/>
                <a:gridCol w="1645920"/>
                <a:gridCol w="1645920"/>
                <a:gridCol w="1645920"/>
                <a:gridCol w="2103120"/>
              </a:tblGrid>
              <a:tr h="584200">
                <a:tc>
                  <a:txBody>
                    <a:bodyPr/>
                    <a:lstStyle/>
                    <a:p>
                      <a:pPr algn="ctr">
                        <a:defRPr sz="1300" b="1">
                          <a:solidFill>
                            <a:srgbClr val="FFFFFF"/>
                          </a:solidFill>
                          <a:latin typeface="Calibri"/>
                        </a:defRPr>
                      </a:pPr>
                      <a:r>
                        <a:rPr lang="ja-JP" dirty="0">
                          <a:ea typeface="Meiryo"/>
                        </a:rPr>
                        <a:t>評価次元／特徴指標</a:t>
                      </a:r>
                    </a:p>
                  </a:txBody>
                  <a:tcPr anchor="ctr">
                    <a:solidFill>
                      <a:srgbClr val="1E293B"/>
                    </a:solidFill>
                  </a:tcPr>
                </a:tc>
                <a:tc>
                  <a:txBody>
                    <a:bodyPr/>
                    <a:lstStyle/>
                    <a:p>
                      <a:pPr algn="ctr">
                        <a:defRPr sz="1300" b="1">
                          <a:solidFill>
                            <a:srgbClr val="FFFFFF"/>
                          </a:solidFill>
                          <a:latin typeface="Calibri"/>
                        </a:defRPr>
                      </a:pPr>
                      <a:r>
                        <a:rPr lang="ja-JP" dirty="0">
                          <a:ea typeface="Meiryo"/>
                        </a:rPr>
                        <a:t>多数クラス基準</a:t>
                      </a:r>
                    </a:p>
                  </a:txBody>
                  <a:tcPr anchor="ctr">
                    <a:solidFill>
                      <a:srgbClr val="1E293B"/>
                    </a:solidFill>
                  </a:tcPr>
                </a:tc>
                <a:tc>
                  <a:txBody>
                    <a:bodyPr/>
                    <a:lstStyle/>
                    <a:p>
                      <a:pPr algn="ctr">
                        <a:defRPr sz="1300" b="1">
                          <a:solidFill>
                            <a:srgbClr val="FFFFFF"/>
                          </a:solidFill>
                          <a:latin typeface="Calibri"/>
                        </a:defRPr>
                      </a:pPr>
                      <a:r>
                        <a:rPr lang="ja-JP" dirty="0">
                          <a:ea typeface="Meiryo"/>
                        </a:rPr>
                        <a:t>従来の特徴（TF-IDF）</a:t>
                      </a:r>
                    </a:p>
                  </a:txBody>
                  <a:tcPr anchor="ctr">
                    <a:solidFill>
                      <a:srgbClr val="1E293B"/>
                    </a:solidFill>
                  </a:tcPr>
                </a:tc>
                <a:tc>
                  <a:txBody>
                    <a:bodyPr/>
                    <a:lstStyle/>
                    <a:p>
                      <a:pPr algn="ctr">
                        <a:defRPr sz="1300" b="1">
                          <a:solidFill>
                            <a:srgbClr val="FFFFFF"/>
                          </a:solidFill>
                          <a:latin typeface="Calibri"/>
                        </a:defRPr>
                      </a:pPr>
                      <a:r>
                        <a:rPr lang="ja-JP" dirty="0">
                          <a:ea typeface="Meiryo"/>
                        </a:rPr>
                        <a:t>ドメインのみ（NewsGuard）</a:t>
                      </a:r>
                    </a:p>
                  </a:txBody>
                  <a:tcPr anchor="ctr">
                    <a:solidFill>
                      <a:srgbClr val="1E293B"/>
                    </a:solidFill>
                  </a:tcPr>
                </a:tc>
                <a:tc>
                  <a:txBody>
                    <a:bodyPr/>
                    <a:lstStyle/>
                    <a:p>
                      <a:pPr algn="ctr">
                        <a:defRPr sz="1300" b="1">
                          <a:solidFill>
                            <a:srgbClr val="FFFFFF"/>
                          </a:solidFill>
                          <a:latin typeface="Calibri"/>
                        </a:defRPr>
                      </a:pPr>
                      <a:r>
                        <a:rPr lang="ja-JP" dirty="0">
                          <a:ea typeface="Meiryo"/>
                        </a:rPr>
                        <a:t>Zero-Shot LLM のみ</a:t>
                      </a:r>
                    </a:p>
                  </a:txBody>
                  <a:tcPr anchor="ctr">
                    <a:solidFill>
                      <a:srgbClr val="1E293B"/>
                    </a:solidFill>
                  </a:tcPr>
                </a:tc>
                <a:tc>
                  <a:txBody>
                    <a:bodyPr/>
                    <a:lstStyle/>
                    <a:p>
                      <a:pPr algn="ctr">
                        <a:defRPr sz="1300" b="1">
                          <a:solidFill>
                            <a:srgbClr val="FFFFFF"/>
                          </a:solidFill>
                          <a:latin typeface="Calibri"/>
                        </a:defRPr>
                      </a:pPr>
                      <a:r>
                        <a:rPr lang="ja-JP" dirty="0">
                          <a:ea typeface="Meiryo"/>
                        </a:rPr>
                        <a:t>NewsAnalyzer（提案）</a:t>
                      </a:r>
                    </a:p>
                  </a:txBody>
                  <a:tcPr anchor="ctr">
                    <a:solidFill>
                      <a:srgbClr val="059669"/>
                    </a:solidFill>
                  </a:tcPr>
                </a:tc>
              </a:tr>
              <a:tr h="584200">
                <a:tc>
                  <a:txBody>
                    <a:bodyPr/>
                    <a:lstStyle/>
                    <a:p>
                      <a:pPr algn="l">
                        <a:defRPr sz="1200" b="1">
                          <a:solidFill>
                            <a:srgbClr val="0F172A"/>
                          </a:solidFill>
                          <a:latin typeface="Calibri"/>
                        </a:defRPr>
                      </a:pPr>
                      <a:r>
                        <a:rPr lang="ja-JP" dirty="0">
                          <a:ea typeface="Meiryo"/>
                        </a:rPr>
                        <a:t>査核の正解率（Accuracy）</a:t>
                      </a:r>
                    </a:p>
                  </a:txBody>
                  <a:tcPr anchor="ctr">
                    <a:solidFill>
                      <a:srgbClr val="F8FAFC"/>
                    </a:solidFill>
                  </a:tcPr>
                </a:tc>
                <a:tc>
                  <a:txBody>
                    <a:bodyPr/>
                    <a:lstStyle/>
                    <a:p>
                      <a:pPr algn="ctr">
                        <a:defRPr sz="1200">
                          <a:solidFill>
                            <a:srgbClr val="0F172A"/>
                          </a:solidFill>
                          <a:latin typeface="Calibri"/>
                        </a:defRPr>
                      </a:pPr>
                      <a:r>
                        <a:rPr lang="ja-JP" dirty="0">
                          <a:ea typeface="Meiryo"/>
                        </a:rPr>
                        <a:t>88.4%（見かけ上）</a:t>
                      </a:r>
                    </a:p>
                  </a:txBody>
                  <a:tcPr anchor="ctr">
                    <a:solidFill>
                      <a:srgbClr val="F8FAFC"/>
                    </a:solidFill>
                  </a:tcPr>
                </a:tc>
                <a:tc>
                  <a:txBody>
                    <a:bodyPr/>
                    <a:lstStyle/>
                    <a:p>
                      <a:pPr algn="ctr">
                        <a:defRPr sz="1200">
                          <a:solidFill>
                            <a:srgbClr val="0F172A"/>
                          </a:solidFill>
                          <a:latin typeface="Calibri"/>
                        </a:defRPr>
                      </a:pPr>
                      <a:r>
                        <a:rPr lang="ja-JP" dirty="0">
                          <a:ea typeface="Meiryo"/>
                        </a:rPr>
                        <a:t>86.2%</a:t>
                      </a:r>
                    </a:p>
                  </a:txBody>
                  <a:tcPr anchor="ctr">
                    <a:solidFill>
                      <a:srgbClr val="F8FAFC"/>
                    </a:solidFill>
                  </a:tcPr>
                </a:tc>
                <a:tc>
                  <a:txBody>
                    <a:bodyPr/>
                    <a:lstStyle/>
                    <a:p>
                      <a:pPr algn="ctr">
                        <a:defRPr sz="1200">
                          <a:solidFill>
                            <a:srgbClr val="0F172A"/>
                          </a:solidFill>
                          <a:latin typeface="Calibri"/>
                        </a:defRPr>
                      </a:pPr>
                      <a:r>
                        <a:rPr lang="ja-JP" dirty="0">
                          <a:ea typeface="Meiryo"/>
                        </a:rPr>
                        <a:t>52.1%</a:t>
                      </a:r>
                    </a:p>
                  </a:txBody>
                  <a:tcPr anchor="ctr">
                    <a:solidFill>
                      <a:srgbClr val="F8FAFC"/>
                    </a:solidFill>
                  </a:tcPr>
                </a:tc>
                <a:tc>
                  <a:txBody>
                    <a:bodyPr/>
                    <a:lstStyle/>
                    <a:p>
                      <a:pPr algn="ctr">
                        <a:defRPr sz="1200">
                          <a:solidFill>
                            <a:srgbClr val="0F172A"/>
                          </a:solidFill>
                          <a:latin typeface="Calibri"/>
                        </a:defRPr>
                      </a:pPr>
                      <a:r>
                        <a:rPr lang="ja-JP" dirty="0">
                          <a:ea typeface="Meiryo"/>
                        </a:rPr>
                        <a:t>78.4%</a:t>
                      </a:r>
                    </a:p>
                  </a:txBody>
                  <a:tcPr anchor="ctr">
                    <a:solidFill>
                      <a:srgbClr val="F8FAFC"/>
                    </a:solidFill>
                  </a:tcPr>
                </a:tc>
                <a:tc>
                  <a:txBody>
                    <a:bodyPr/>
                    <a:lstStyle/>
                    <a:p>
                      <a:pPr algn="ctr">
                        <a:defRPr sz="1200" b="1">
                          <a:solidFill>
                            <a:srgbClr val="059669"/>
                          </a:solidFill>
                          <a:latin typeface="Calibri"/>
                        </a:defRPr>
                      </a:pPr>
                      <a:r>
                        <a:rPr lang="ja-JP" dirty="0">
                          <a:ea typeface="Meiryo"/>
                        </a:rPr>
                        <a:t>★ 95.3% ★</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総合 F1-Score</a:t>
                      </a:r>
                    </a:p>
                  </a:txBody>
                  <a:tcPr anchor="ctr">
                    <a:solidFill>
                      <a:srgbClr val="FFFFFF"/>
                    </a:solidFill>
                  </a:tcPr>
                </a:tc>
                <a:tc>
                  <a:txBody>
                    <a:bodyPr/>
                    <a:lstStyle/>
                    <a:p>
                      <a:pPr algn="ctr">
                        <a:defRPr sz="1200">
                          <a:solidFill>
                            <a:srgbClr val="0F172A"/>
                          </a:solidFill>
                          <a:latin typeface="Calibri"/>
                        </a:defRPr>
                      </a:pPr>
                      <a:r>
                        <a:rPr lang="ja-JP" dirty="0">
                          <a:ea typeface="Meiryo"/>
                        </a:rPr>
                        <a:t>0.938</a:t>
                      </a:r>
                    </a:p>
                  </a:txBody>
                  <a:tcPr anchor="ctr">
                    <a:solidFill>
                      <a:srgbClr val="FFFFFF"/>
                    </a:solidFill>
                  </a:tcPr>
                </a:tc>
                <a:tc>
                  <a:txBody>
                    <a:bodyPr/>
                    <a:lstStyle/>
                    <a:p>
                      <a:pPr algn="ctr">
                        <a:defRPr sz="1200">
                          <a:solidFill>
                            <a:srgbClr val="0F172A"/>
                          </a:solidFill>
                          <a:latin typeface="Calibri"/>
                        </a:defRPr>
                      </a:pPr>
                      <a:r>
                        <a:rPr lang="ja-JP" dirty="0">
                          <a:ea typeface="Meiryo"/>
                        </a:rPr>
                        <a:t>0.912</a:t>
                      </a:r>
                    </a:p>
                  </a:txBody>
                  <a:tcPr anchor="ctr">
                    <a:solidFill>
                      <a:srgbClr val="FFFFFF"/>
                    </a:solidFill>
                  </a:tcPr>
                </a:tc>
                <a:tc>
                  <a:txBody>
                    <a:bodyPr/>
                    <a:lstStyle/>
                    <a:p>
                      <a:pPr algn="ctr">
                        <a:defRPr sz="1200">
                          <a:solidFill>
                            <a:srgbClr val="0F172A"/>
                          </a:solidFill>
                          <a:latin typeface="Calibri"/>
                        </a:defRPr>
                      </a:pPr>
                      <a:r>
                        <a:rPr lang="ja-JP" dirty="0">
                          <a:ea typeface="Meiryo"/>
                        </a:rPr>
                        <a:t>0.634</a:t>
                      </a:r>
                    </a:p>
                  </a:txBody>
                  <a:tcPr anchor="ctr">
                    <a:solidFill>
                      <a:srgbClr val="FFFFFF"/>
                    </a:solidFill>
                  </a:tcPr>
                </a:tc>
                <a:tc>
                  <a:txBody>
                    <a:bodyPr/>
                    <a:lstStyle/>
                    <a:p>
                      <a:pPr algn="ctr">
                        <a:defRPr sz="1200">
                          <a:solidFill>
                            <a:srgbClr val="0F172A"/>
                          </a:solidFill>
                          <a:latin typeface="Calibri"/>
                        </a:defRPr>
                      </a:pPr>
                      <a:r>
                        <a:rPr lang="ja-JP" dirty="0">
                          <a:ea typeface="Meiryo"/>
                        </a:rPr>
                        <a:t>0.852</a:t>
                      </a:r>
                    </a:p>
                  </a:txBody>
                  <a:tcPr anchor="ctr">
                    <a:solidFill>
                      <a:srgbClr val="FFFFFF"/>
                    </a:solidFill>
                  </a:tcPr>
                </a:tc>
                <a:tc>
                  <a:txBody>
                    <a:bodyPr/>
                    <a:lstStyle/>
                    <a:p>
                      <a:pPr algn="ctr">
                        <a:defRPr sz="1200" b="1">
                          <a:solidFill>
                            <a:srgbClr val="059669"/>
                          </a:solidFill>
                          <a:latin typeface="Calibri"/>
                        </a:defRPr>
                      </a:pPr>
                      <a:r>
                        <a:rPr lang="ja-JP" dirty="0">
                          <a:ea typeface="Meiryo"/>
                        </a:rPr>
                        <a:t>★ 0.974 ★</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SNS フィードの動的投稿への対応</a:t>
                      </a:r>
                    </a:p>
                  </a:txBody>
                  <a:tcPr anchor="ctr">
                    <a:solidFill>
                      <a:srgbClr val="F8FAFC"/>
                    </a:solidFill>
                  </a:tcPr>
                </a:tc>
                <a:tc>
                  <a:txBody>
                    <a:bodyPr/>
                    <a:lstStyle/>
                    <a:p>
                      <a:pPr algn="ctr">
                        <a:defRPr sz="1200">
                          <a:solidFill>
                            <a:srgbClr val="0F172A"/>
                          </a:solidFill>
                          <a:latin typeface="Calibri"/>
                        </a:defRPr>
                      </a:pPr>
                      <a:r>
                        <a:rPr lang="ja-JP" dirty="0">
                          <a:ea typeface="Meiryo"/>
                        </a:rPr>
                        <a:t>不可</a:t>
                      </a:r>
                    </a:p>
                  </a:txBody>
                  <a:tcPr anchor="ctr">
                    <a:solidFill>
                      <a:srgbClr val="F8FAFC"/>
                    </a:solidFill>
                  </a:tcPr>
                </a:tc>
                <a:tc>
                  <a:txBody>
                    <a:bodyPr/>
                    <a:lstStyle/>
                    <a:p>
                      <a:pPr algn="ctr">
                        <a:defRPr sz="1200">
                          <a:solidFill>
                            <a:srgbClr val="0F172A"/>
                          </a:solidFill>
                          <a:latin typeface="Calibri"/>
                        </a:defRPr>
                      </a:pPr>
                      <a:r>
                        <a:rPr lang="ja-JP" dirty="0">
                          <a:ea typeface="Meiryo"/>
                        </a:rPr>
                        <a:t>一部対応</a:t>
                      </a:r>
                    </a:p>
                  </a:txBody>
                  <a:tcPr anchor="ctr">
                    <a:solidFill>
                      <a:srgbClr val="F8FAFC"/>
                    </a:solidFill>
                  </a:tcPr>
                </a:tc>
                <a:tc>
                  <a:txBody>
                    <a:bodyPr/>
                    <a:lstStyle/>
                    <a:p>
                      <a:pPr algn="ctr">
                        <a:defRPr sz="1200">
                          <a:solidFill>
                            <a:srgbClr val="0F172A"/>
                          </a:solidFill>
                          <a:latin typeface="Calibri"/>
                        </a:defRPr>
                      </a:pPr>
                      <a:r>
                        <a:rPr lang="ja-JP" dirty="0">
                          <a:ea typeface="Meiryo"/>
                        </a:rPr>
                        <a:t>❌ 完全に無効（同一ドメイン）</a:t>
                      </a:r>
                    </a:p>
                  </a:txBody>
                  <a:tcPr anchor="ctr">
                    <a:solidFill>
                      <a:srgbClr val="F8FAFC"/>
                    </a:solidFill>
                  </a:tcPr>
                </a:tc>
                <a:tc>
                  <a:txBody>
                    <a:bodyPr/>
                    <a:lstStyle/>
                    <a:p>
                      <a:pPr algn="ctr">
                        <a:defRPr sz="1200">
                          <a:solidFill>
                            <a:srgbClr val="0F172A"/>
                          </a:solidFill>
                          <a:latin typeface="Calibri"/>
                        </a:defRPr>
                      </a:pPr>
                      <a:r>
                        <a:rPr lang="ja-JP" dirty="0">
                          <a:ea typeface="Meiryo"/>
                        </a:rPr>
                        <a:t>可</a:t>
                      </a:r>
                    </a:p>
                  </a:txBody>
                  <a:tcPr anchor="ctr">
                    <a:solidFill>
                      <a:srgbClr val="F8FAFC"/>
                    </a:solidFill>
                  </a:tcPr>
                </a:tc>
                <a:tc>
                  <a:txBody>
                    <a:bodyPr/>
                    <a:lstStyle/>
                    <a:p>
                      <a:pPr algn="ctr">
                        <a:defRPr sz="1200" b="1">
                          <a:solidFill>
                            <a:srgbClr val="059669"/>
                          </a:solidFill>
                          <a:latin typeface="Calibri"/>
                        </a:defRPr>
                      </a:pPr>
                      <a:r>
                        <a:rPr lang="ja-JP" dirty="0">
                          <a:ea typeface="Meiryo"/>
                        </a:rPr>
                        <a:t>✅ 完全対応（DOM レベル）</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鮮度と動的更新</a:t>
                      </a:r>
                    </a:p>
                  </a:txBody>
                  <a:tcPr anchor="ctr">
                    <a:solidFill>
                      <a:srgbClr val="FFFFFF"/>
                    </a:solidFill>
                  </a:tcPr>
                </a:tc>
                <a:tc>
                  <a:txBody>
                    <a:bodyPr/>
                    <a:lstStyle/>
                    <a:p>
                      <a:pPr algn="ctr">
                        <a:defRPr sz="1200">
                          <a:solidFill>
                            <a:srgbClr val="0F172A"/>
                          </a:solidFill>
                          <a:latin typeface="Calibri"/>
                        </a:defRPr>
                      </a:pPr>
                      <a:r>
                        <a:rPr lang="ja-JP" dirty="0">
                          <a:ea typeface="Meiryo"/>
                        </a:rPr>
                        <a:t>静的データ</a:t>
                      </a:r>
                    </a:p>
                  </a:txBody>
                  <a:tcPr anchor="ctr">
                    <a:solidFill>
                      <a:srgbClr val="FFFFFF"/>
                    </a:solidFill>
                  </a:tcPr>
                </a:tc>
                <a:tc>
                  <a:txBody>
                    <a:bodyPr/>
                    <a:lstStyle/>
                    <a:p>
                      <a:pPr algn="ctr">
                        <a:defRPr sz="1200">
                          <a:solidFill>
                            <a:srgbClr val="0F172A"/>
                          </a:solidFill>
                          <a:latin typeface="Calibri"/>
                        </a:defRPr>
                      </a:pPr>
                      <a:r>
                        <a:rPr lang="ja-JP" dirty="0">
                          <a:ea typeface="Meiryo"/>
                        </a:rPr>
                        <a:t>静的モデル</a:t>
                      </a:r>
                    </a:p>
                  </a:txBody>
                  <a:tcPr anchor="ctr">
                    <a:solidFill>
                      <a:srgbClr val="FFFFFF"/>
                    </a:solidFill>
                  </a:tcPr>
                </a:tc>
                <a:tc>
                  <a:txBody>
                    <a:bodyPr/>
                    <a:lstStyle/>
                    <a:p>
                      <a:pPr algn="ctr">
                        <a:defRPr sz="1200">
                          <a:solidFill>
                            <a:srgbClr val="0F172A"/>
                          </a:solidFill>
                          <a:latin typeface="Calibri"/>
                        </a:defRPr>
                      </a:pPr>
                      <a:r>
                        <a:rPr lang="ja-JP" dirty="0">
                          <a:ea typeface="Meiryo"/>
                        </a:rPr>
                        <a:t>静的リスト</a:t>
                      </a:r>
                    </a:p>
                  </a:txBody>
                  <a:tcPr anchor="ctr">
                    <a:solidFill>
                      <a:srgbClr val="FFFFFF"/>
                    </a:solidFill>
                  </a:tcPr>
                </a:tc>
                <a:tc>
                  <a:txBody>
                    <a:bodyPr/>
                    <a:lstStyle/>
                    <a:p>
                      <a:pPr algn="ctr">
                        <a:defRPr sz="1200">
                          <a:solidFill>
                            <a:srgbClr val="0F172A"/>
                          </a:solidFill>
                          <a:latin typeface="Calibri"/>
                        </a:defRPr>
                      </a:pPr>
                      <a:r>
                        <a:rPr lang="ja-JP" dirty="0">
                          <a:ea typeface="Meiryo"/>
                        </a:rPr>
                        <a:t>❌ 知識カットオフの盲点</a:t>
                      </a:r>
                    </a:p>
                  </a:txBody>
                  <a:tcPr anchor="ctr">
                    <a:solidFill>
                      <a:srgbClr val="FFFFFF"/>
                    </a:solidFill>
                  </a:tcPr>
                </a:tc>
                <a:tc>
                  <a:txBody>
                    <a:bodyPr/>
                    <a:lstStyle/>
                    <a:p>
                      <a:pPr algn="ctr">
                        <a:defRPr sz="1200" b="1">
                          <a:solidFill>
                            <a:srgbClr val="059669"/>
                          </a:solidFill>
                          <a:latin typeface="Calibri"/>
                        </a:defRPr>
                      </a:pPr>
                      <a:r>
                        <a:rPr lang="ja-JP" dirty="0">
                          <a:ea typeface="Meiryo"/>
                        </a:rPr>
                        <a:t>✅ 動的な大盤コーパス</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文体偽装への耐性</a:t>
                      </a:r>
                    </a:p>
                  </a:txBody>
                  <a:tcPr anchor="ctr">
                    <a:solidFill>
                      <a:srgbClr val="F8FAFC"/>
                    </a:solidFill>
                  </a:tcPr>
                </a:tc>
                <a:tc>
                  <a:txBody>
                    <a:bodyPr/>
                    <a:lstStyle/>
                    <a:p>
                      <a:pPr algn="ctr">
                        <a:defRPr sz="1200">
                          <a:solidFill>
                            <a:srgbClr val="0F172A"/>
                          </a:solidFill>
                          <a:latin typeface="Calibri"/>
                        </a:defRPr>
                      </a:pPr>
                      <a:r>
                        <a:rPr lang="ja-JP" dirty="0">
                          <a:ea typeface="Meiryo"/>
                        </a:rPr>
                        <a:t>なし</a:t>
                      </a:r>
                    </a:p>
                  </a:txBody>
                  <a:tcPr anchor="ctr">
                    <a:solidFill>
                      <a:srgbClr val="F8FAFC"/>
                    </a:solidFill>
                  </a:tcPr>
                </a:tc>
                <a:tc>
                  <a:txBody>
                    <a:bodyPr/>
                    <a:lstStyle/>
                    <a:p>
                      <a:pPr algn="ctr">
                        <a:defRPr sz="1200">
                          <a:solidFill>
                            <a:srgbClr val="0F172A"/>
                          </a:solidFill>
                          <a:latin typeface="Calibri"/>
                        </a:defRPr>
                      </a:pPr>
                      <a:r>
                        <a:rPr lang="ja-JP" dirty="0">
                          <a:ea typeface="Meiryo"/>
                        </a:rPr>
                        <a:t>低い（書き換えに弱い）</a:t>
                      </a:r>
                    </a:p>
                  </a:txBody>
                  <a:tcPr anchor="ctr">
                    <a:solidFill>
                      <a:srgbClr val="F8FAFC"/>
                    </a:solidFill>
                  </a:tcPr>
                </a:tc>
                <a:tc>
                  <a:txBody>
                    <a:bodyPr/>
                    <a:lstStyle/>
                    <a:p>
                      <a:pPr algn="ctr">
                        <a:defRPr sz="1200">
                          <a:solidFill>
                            <a:srgbClr val="0F172A"/>
                          </a:solidFill>
                          <a:latin typeface="Calibri"/>
                        </a:defRPr>
                      </a:pPr>
                      <a:r>
                        <a:rPr lang="ja-JP" dirty="0">
                          <a:ea typeface="Meiryo"/>
                        </a:rPr>
                        <a:t>なし</a:t>
                      </a:r>
                    </a:p>
                  </a:txBody>
                  <a:tcPr anchor="ctr">
                    <a:solidFill>
                      <a:srgbClr val="F8FAFC"/>
                    </a:solidFill>
                  </a:tcPr>
                </a:tc>
                <a:tc>
                  <a:txBody>
                    <a:bodyPr/>
                    <a:lstStyle/>
                    <a:p>
                      <a:pPr algn="ctr">
                        <a:defRPr sz="1200">
                          <a:solidFill>
                            <a:srgbClr val="0F172A"/>
                          </a:solidFill>
                          <a:latin typeface="Calibri"/>
                        </a:defRPr>
                      </a:pPr>
                      <a:r>
                        <a:rPr lang="ja-JP" dirty="0">
                          <a:ea typeface="Meiryo"/>
                        </a:rPr>
                        <a:t>❌ 客観的な語調に欺かれる</a:t>
                      </a:r>
                    </a:p>
                  </a:txBody>
                  <a:tcPr anchor="ctr">
                    <a:solidFill>
                      <a:srgbClr val="F8FAFC"/>
                    </a:solidFill>
                  </a:tcPr>
                </a:tc>
                <a:tc>
                  <a:txBody>
                    <a:bodyPr/>
                    <a:lstStyle/>
                    <a:p>
                      <a:pPr algn="ctr">
                        <a:defRPr sz="1200" b="1">
                          <a:solidFill>
                            <a:srgbClr val="059669"/>
                          </a:solidFill>
                          <a:latin typeface="Calibri"/>
                        </a:defRPr>
                      </a:pPr>
                      <a:r>
                        <a:rPr lang="ja-JP" dirty="0">
                          <a:ea typeface="Meiryo"/>
                        </a:rPr>
                        <a:t>✅ 高い（実証にアンカー）</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追跡可能な査核根拠（Audit）</a:t>
                      </a:r>
                    </a:p>
                  </a:txBody>
                  <a:tcPr anchor="ctr">
                    <a:solidFill>
                      <a:srgbClr val="FFFFFF"/>
                    </a:solidFill>
                  </a:tcPr>
                </a:tc>
                <a:tc>
                  <a:txBody>
                    <a:bodyPr/>
                    <a:lstStyle/>
                    <a:p>
                      <a:pPr algn="ctr">
                        <a:defRPr sz="1200">
                          <a:solidFill>
                            <a:srgbClr val="0F172A"/>
                          </a:solidFill>
                          <a:latin typeface="Calibri"/>
                        </a:defRPr>
                      </a:pPr>
                      <a:r>
                        <a:rPr lang="ja-JP" dirty="0">
                          <a:ea typeface="Meiryo"/>
                        </a:rPr>
                        <a:t>なし</a:t>
                      </a:r>
                    </a:p>
                  </a:txBody>
                  <a:tcPr anchor="ctr">
                    <a:solidFill>
                      <a:srgbClr val="FFFFFF"/>
                    </a:solidFill>
                  </a:tcPr>
                </a:tc>
                <a:tc>
                  <a:txBody>
                    <a:bodyPr/>
                    <a:lstStyle/>
                    <a:p>
                      <a:pPr algn="ctr">
                        <a:defRPr sz="1200">
                          <a:solidFill>
                            <a:srgbClr val="0F172A"/>
                          </a:solidFill>
                          <a:latin typeface="Calibri"/>
                        </a:defRPr>
                      </a:pPr>
                      <a:r>
                        <a:rPr lang="ja-JP" dirty="0">
                          <a:ea typeface="Meiryo"/>
                        </a:rPr>
                        <a:t>なし</a:t>
                      </a:r>
                    </a:p>
                  </a:txBody>
                  <a:tcPr anchor="ctr">
                    <a:solidFill>
                      <a:srgbClr val="FFFFFF"/>
                    </a:solidFill>
                  </a:tcPr>
                </a:tc>
                <a:tc>
                  <a:txBody>
                    <a:bodyPr/>
                    <a:lstStyle/>
                    <a:p>
                      <a:pPr algn="ctr">
                        <a:defRPr sz="1200">
                          <a:solidFill>
                            <a:srgbClr val="0F172A"/>
                          </a:solidFill>
                          <a:latin typeface="Calibri"/>
                        </a:defRPr>
                      </a:pPr>
                      <a:r>
                        <a:rPr lang="ja-JP" dirty="0">
                          <a:ea typeface="Meiryo"/>
                        </a:rPr>
                        <a:t>ホスト名のみ</a:t>
                      </a:r>
                    </a:p>
                  </a:txBody>
                  <a:tcPr anchor="ctr">
                    <a:solidFill>
                      <a:srgbClr val="FFFFFF"/>
                    </a:solidFill>
                  </a:tcPr>
                </a:tc>
                <a:tc>
                  <a:txBody>
                    <a:bodyPr/>
                    <a:lstStyle/>
                    <a:p>
                      <a:pPr algn="ctr">
                        <a:defRPr sz="1200">
                          <a:solidFill>
                            <a:srgbClr val="0F172A"/>
                          </a:solidFill>
                          <a:latin typeface="Calibri"/>
                        </a:defRPr>
                      </a:pPr>
                      <a:r>
                        <a:rPr lang="ja-JP" dirty="0">
                          <a:ea typeface="Meiryo"/>
                        </a:rPr>
                        <a:t>❌ ハルシネーションの危険</a:t>
                      </a:r>
                    </a:p>
                  </a:txBody>
                  <a:tcPr anchor="ctr">
                    <a:solidFill>
                      <a:srgbClr val="FFFFFF"/>
                    </a:solidFill>
                  </a:tcPr>
                </a:tc>
                <a:tc>
                  <a:txBody>
                    <a:bodyPr/>
                    <a:lstStyle/>
                    <a:p>
                      <a:pPr algn="ctr">
                        <a:defRPr sz="1200" b="1">
                          <a:solidFill>
                            <a:srgbClr val="059669"/>
                          </a:solidFill>
                          <a:latin typeface="Calibri"/>
                        </a:defRPr>
                      </a:pPr>
                      <a:r>
                        <a:rPr lang="ja-JP" dirty="0">
                          <a:ea typeface="Meiryo"/>
                        </a:rPr>
                        <a:t>✅ IFCN/Cofacts リンク</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推論応答の遅延（Latency）</a:t>
                      </a:r>
                    </a:p>
                  </a:txBody>
                  <a:tcPr anchor="ctr">
                    <a:solidFill>
                      <a:srgbClr val="F8FAFC"/>
                    </a:solidFill>
                  </a:tcPr>
                </a:tc>
                <a:tc>
                  <a:txBody>
                    <a:bodyPr/>
                    <a:lstStyle/>
                    <a:p>
                      <a:pPr algn="ctr">
                        <a:defRPr sz="1200">
                          <a:solidFill>
                            <a:srgbClr val="0F172A"/>
                          </a:solidFill>
                          <a:latin typeface="Calibri"/>
                        </a:defRPr>
                      </a:pPr>
                      <a:r>
                        <a:rPr lang="ja-JP" dirty="0">
                          <a:ea typeface="Meiryo"/>
                        </a:rPr>
                        <a:t>&lt; 1 ms</a:t>
                      </a:r>
                    </a:p>
                  </a:txBody>
                  <a:tcPr anchor="ctr">
                    <a:solidFill>
                      <a:srgbClr val="F8FAFC"/>
                    </a:solidFill>
                  </a:tcPr>
                </a:tc>
                <a:tc>
                  <a:txBody>
                    <a:bodyPr/>
                    <a:lstStyle/>
                    <a:p>
                      <a:pPr algn="ctr">
                        <a:defRPr sz="1200">
                          <a:solidFill>
                            <a:srgbClr val="0F172A"/>
                          </a:solidFill>
                          <a:latin typeface="Calibri"/>
                        </a:defRPr>
                      </a:pPr>
                      <a:r>
                        <a:rPr lang="ja-JP" dirty="0">
                          <a:ea typeface="Meiryo"/>
                        </a:rPr>
                        <a:t>5 ms</a:t>
                      </a:r>
                    </a:p>
                  </a:txBody>
                  <a:tcPr anchor="ctr">
                    <a:solidFill>
                      <a:srgbClr val="F8FAFC"/>
                    </a:solidFill>
                  </a:tcPr>
                </a:tc>
                <a:tc>
                  <a:txBody>
                    <a:bodyPr/>
                    <a:lstStyle/>
                    <a:p>
                      <a:pPr algn="ctr">
                        <a:defRPr sz="1200">
                          <a:solidFill>
                            <a:srgbClr val="0F172A"/>
                          </a:solidFill>
                          <a:latin typeface="Calibri"/>
                        </a:defRPr>
                      </a:pPr>
                      <a:r>
                        <a:rPr lang="ja-JP" dirty="0">
                          <a:ea typeface="Meiryo"/>
                        </a:rPr>
                        <a:t>&lt; 1 ms</a:t>
                      </a:r>
                    </a:p>
                  </a:txBody>
                  <a:tcPr anchor="ctr">
                    <a:solidFill>
                      <a:srgbClr val="F8FAFC"/>
                    </a:solidFill>
                  </a:tcPr>
                </a:tc>
                <a:tc>
                  <a:txBody>
                    <a:bodyPr/>
                    <a:lstStyle/>
                    <a:p>
                      <a:pPr algn="ctr">
                        <a:defRPr sz="1200">
                          <a:solidFill>
                            <a:srgbClr val="0F172A"/>
                          </a:solidFill>
                          <a:latin typeface="Calibri"/>
                        </a:defRPr>
                      </a:pPr>
                      <a:r>
                        <a:rPr lang="ja-JP" dirty="0">
                          <a:ea typeface="Meiryo"/>
                        </a:rPr>
                        <a:t>3.5 〜 8.0 秒</a:t>
                      </a:r>
                    </a:p>
                  </a:txBody>
                  <a:tcPr anchor="ctr">
                    <a:solidFill>
                      <a:srgbClr val="F8FAFC"/>
                    </a:solidFill>
                  </a:tcPr>
                </a:tc>
                <a:tc>
                  <a:txBody>
                    <a:bodyPr/>
                    <a:lstStyle/>
                    <a:p>
                      <a:pPr algn="ctr">
                        <a:defRPr sz="1200" b="1">
                          <a:solidFill>
                            <a:srgbClr val="059669"/>
                          </a:solidFill>
                          <a:latin typeface="Calibri"/>
                        </a:defRPr>
                      </a:pPr>
                      <a:r>
                        <a:rPr lang="ja-JP" dirty="0">
                          <a:ea typeface="Meiryo"/>
                        </a:rPr>
                        <a:t>⚡ 1.48 ms（ファストパス）</a:t>
                      </a:r>
                    </a:p>
                  </a:txBody>
                  <a:tcPr anchor="ctr">
                    <a:solidFill>
                      <a:srgbClr val="ECFDF5"/>
                    </a:solidFill>
                  </a:tcPr>
                </a:tc>
              </a:tr>
              <a:tr h="584200">
                <a:tc>
                  <a:txBody>
                    <a:bodyPr/>
                    <a:lstStyle/>
                    <a:p>
                      <a:pPr algn="l">
                        <a:defRPr sz="1200" b="1">
                          <a:solidFill>
                            <a:srgbClr val="0F172A"/>
                          </a:solidFill>
                          <a:latin typeface="Calibri"/>
                        </a:defRPr>
                      </a:pPr>
                      <a:r>
                        <a:rPr lang="ja-JP" dirty="0">
                          <a:ea typeface="Meiryo"/>
                        </a:rPr>
                        <a:t>データ漏洩とプライバシー（Privacy）</a:t>
                      </a:r>
                    </a:p>
                  </a:txBody>
                  <a:tcPr anchor="ctr">
                    <a:solidFill>
                      <a:srgbClr val="FFFFFF"/>
                    </a:solidFill>
                  </a:tcPr>
                </a:tc>
                <a:tc>
                  <a:txBody>
                    <a:bodyPr/>
                    <a:lstStyle/>
                    <a:p>
                      <a:pPr algn="ctr">
                        <a:defRPr sz="1200">
                          <a:solidFill>
                            <a:srgbClr val="0F172A"/>
                          </a:solidFill>
                          <a:latin typeface="Calibri"/>
                        </a:defRPr>
                      </a:pPr>
                      <a:r>
                        <a:rPr lang="ja-JP" dirty="0">
                          <a:ea typeface="Meiryo"/>
                        </a:rPr>
                        <a:t>漏洩ゼロ</a:t>
                      </a:r>
                    </a:p>
                  </a:txBody>
                  <a:tcPr anchor="ctr">
                    <a:solidFill>
                      <a:srgbClr val="FFFFFF"/>
                    </a:solidFill>
                  </a:tcPr>
                </a:tc>
                <a:tc>
                  <a:txBody>
                    <a:bodyPr/>
                    <a:lstStyle/>
                    <a:p>
                      <a:pPr algn="ctr">
                        <a:defRPr sz="1200">
                          <a:solidFill>
                            <a:srgbClr val="0F172A"/>
                          </a:solidFill>
                          <a:latin typeface="Calibri"/>
                        </a:defRPr>
                      </a:pPr>
                      <a:r>
                        <a:rPr lang="ja-JP" dirty="0">
                          <a:ea typeface="Meiryo"/>
                        </a:rPr>
                        <a:t>漏洩ゼロ</a:t>
                      </a:r>
                    </a:p>
                  </a:txBody>
                  <a:tcPr anchor="ctr">
                    <a:solidFill>
                      <a:srgbClr val="FFFFFF"/>
                    </a:solidFill>
                  </a:tcPr>
                </a:tc>
                <a:tc>
                  <a:txBody>
                    <a:bodyPr/>
                    <a:lstStyle/>
                    <a:p>
                      <a:pPr algn="ctr">
                        <a:defRPr sz="1200">
                          <a:solidFill>
                            <a:srgbClr val="0F172A"/>
                          </a:solidFill>
                          <a:latin typeface="Calibri"/>
                        </a:defRPr>
                      </a:pPr>
                      <a:r>
                        <a:rPr lang="ja-JP" dirty="0">
                          <a:ea typeface="Meiryo"/>
                        </a:rPr>
                        <a:t>ドメイン照会のみ</a:t>
                      </a:r>
                    </a:p>
                  </a:txBody>
                  <a:tcPr anchor="ctr">
                    <a:solidFill>
                      <a:srgbClr val="FFFFFF"/>
                    </a:solidFill>
                  </a:tcPr>
                </a:tc>
                <a:tc>
                  <a:txBody>
                    <a:bodyPr/>
                    <a:lstStyle/>
                    <a:p>
                      <a:pPr algn="ctr">
                        <a:defRPr sz="1200">
                          <a:solidFill>
                            <a:srgbClr val="0F172A"/>
                          </a:solidFill>
                          <a:latin typeface="Calibri"/>
                        </a:defRPr>
                      </a:pPr>
                      <a:r>
                        <a:rPr lang="ja-JP" dirty="0">
                          <a:ea typeface="Meiryo"/>
                        </a:rPr>
                        <a:t>❌ クラウド API の高リスク</a:t>
                      </a:r>
                    </a:p>
                  </a:txBody>
                  <a:tcPr anchor="ctr">
                    <a:solidFill>
                      <a:srgbClr val="FFFFFF"/>
                    </a:solidFill>
                  </a:tcPr>
                </a:tc>
                <a:tc>
                  <a:txBody>
                    <a:bodyPr/>
                    <a:lstStyle/>
                    <a:p>
                      <a:pPr algn="ctr">
                        <a:defRPr sz="1200" b="1">
                          <a:solidFill>
                            <a:srgbClr val="059669"/>
                          </a:solidFill>
                          <a:latin typeface="Calibri"/>
                        </a:defRPr>
                      </a:pPr>
                      <a:r>
                        <a:rPr lang="ja-JP" dirty="0">
                          <a:ea typeface="Meiryo"/>
                        </a:rPr>
                        <a:t>🔒 漏洩ゼロ（端末内）</a:t>
                      </a:r>
                    </a:p>
                  </a:txBody>
                  <a:tcPr anchor="ctr">
                    <a:solidFill>
                      <a:srgbClr val="ECFD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LIVE CASE STUDY</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実測ケース：実在するコンテンツファーム記事のエンドツーエンド検証</a:t>
            </a:r>
          </a:p>
        </p:txBody>
      </p:sp>
      <p:sp>
        <p:nvSpPr>
          <p:cNvPr id="5" name="Rounded Rectangle 4"/>
          <p:cNvSpPr/>
          <p:nvPr/>
        </p:nvSpPr>
        <p:spPr>
          <a:xfrm>
            <a:off x="548640" y="1234440"/>
            <a:ext cx="5376672" cy="52578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4919472" cy="4892040"/>
          </a:xfrm>
          <a:prstGeom prst="rect">
            <a:avLst/>
          </a:prstGeom>
          <a:noFill/>
        </p:spPr>
        <p:txBody>
          <a:bodyPr wrap="square">
            <a:spAutoFit/>
          </a:bodyPr>
          <a:lstStyle/>
          <a:p>
            <a:pPr>
              <a:defRPr sz="1800" b="1">
                <a:solidFill>
                  <a:srgbClr val="0369A1"/>
                </a:solidFill>
              </a:defRPr>
            </a:pPr>
            <a:r>
              <a:rPr lang="ja-JP" dirty="0">
                <a:ea typeface="Meiryo"/>
              </a:rPr>
              <a:t>🌐 実在ファーム URL の攻防フロー</a:t>
            </a:r>
          </a:p>
          <a:p>
            <a:pPr>
              <a:spcBef>
                <a:spcPts val="800"/>
              </a:spcBef>
              <a:defRPr sz="1300">
                <a:solidFill>
                  <a:srgbClr val="0F172A"/>
                </a:solidFill>
              </a:defRPr>
            </a:pPr>
            <a:r>
              <a:rPr lang="ja-JP" dirty="0">
                <a:ea typeface="Meiryo"/>
              </a:rPr>
              <a:t>▸ テストケース：実在する健康詐欺ファームの記事（https://www.pco.tw/news/html/?276.html）。特定のハーブが慢性疾患を治すと主張。</a:t>
            </a:r>
          </a:p>
          <a:p>
            <a:pPr>
              <a:spcBef>
                <a:spcPts val="800"/>
              </a:spcBef>
              <a:defRPr sz="1300">
                <a:solidFill>
                  <a:srgbClr val="0F172A"/>
                </a:solidFill>
              </a:defRPr>
            </a:pPr>
            <a:r>
              <a:rPr lang="ja-JP" dirty="0">
                <a:ea typeface="Meiryo"/>
              </a:rPr>
              <a:t>▸ ステップ1（DOM 取得）：拡張が記事の見出しと本文 1,200 字を自動取得し、POST /judge へ送信。</a:t>
            </a:r>
          </a:p>
          <a:p>
            <a:pPr>
              <a:spcBef>
                <a:spcPts val="800"/>
              </a:spcBef>
              <a:defRPr sz="1300">
                <a:solidFill>
                  <a:srgbClr val="0F172A"/>
                </a:solidFill>
              </a:defRPr>
            </a:pPr>
            <a:r>
              <a:rPr lang="ja-JP" dirty="0">
                <a:ea typeface="Meiryo"/>
              </a:rPr>
              <a:t>▸ ステップ2（SBERT 検索）：査核庫に完全一致する履歴がなく（sim &lt; 0.72）、not_found を返す。</a:t>
            </a:r>
          </a:p>
          <a:p>
            <a:pPr>
              <a:spcBef>
                <a:spcPts val="800"/>
              </a:spcBef>
              <a:defRPr sz="1300">
                <a:solidFill>
                  <a:srgbClr val="0F172A"/>
                </a:solidFill>
              </a:defRPr>
            </a:pPr>
            <a:r>
              <a:rPr lang="ja-JP" dirty="0">
                <a:ea typeface="Meiryo"/>
              </a:rPr>
              <a:t>▸ ステップ3（メタデータエンジン起動）：</a:t>
            </a:r>
            <a:br/>
            <a:r>
              <a:rPr lang="ja-JP" dirty="0">
                <a:ea typeface="Meiryo"/>
              </a:rPr>
              <a:t>  - pco.tw が地域のコンテンツファームブラックリストに一致</a:t>
            </a:r>
            <a:br/>
            <a:r>
              <a:rPr lang="ja-JP" dirty="0">
                <a:ea typeface="Meiryo"/>
              </a:rPr>
              <a:t>  - 誇張された健康用語と極端な感情的緊張を検出</a:t>
            </a:r>
            <a:br/>
            <a:r>
              <a:rPr lang="ja-JP" dirty="0">
                <a:ea typeface="Meiryo"/>
              </a:rPr>
              <a:t>  - HTTP の基礎ルールスコアを大幅減点（S_base = 12.5）</a:t>
            </a:r>
          </a:p>
        </p:txBody>
      </p:sp>
      <p:sp>
        <p:nvSpPr>
          <p:cNvPr id="7" name="Rounded Rectangle 6"/>
          <p:cNvSpPr/>
          <p:nvPr/>
        </p:nvSpPr>
        <p:spPr>
          <a:xfrm>
            <a:off x="6263640" y="1234440"/>
            <a:ext cx="5376672" cy="52578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20"/>
            <a:ext cx="4919472" cy="4892040"/>
          </a:xfrm>
          <a:prstGeom prst="rect">
            <a:avLst/>
          </a:prstGeom>
          <a:noFill/>
        </p:spPr>
        <p:txBody>
          <a:bodyPr wrap="square">
            <a:spAutoFit/>
          </a:bodyPr>
          <a:lstStyle/>
          <a:p>
            <a:pPr>
              <a:defRPr sz="1800" b="1">
                <a:solidFill>
                  <a:srgbClr val="BE123C"/>
                </a:solidFill>
              </a:defRPr>
            </a:pPr>
            <a:r>
              <a:rPr lang="ja-JP" dirty="0">
                <a:ea typeface="Meiryo"/>
              </a:rPr>
              <a:t>🚨 最終判定と観点抽出の結果</a:t>
            </a:r>
          </a:p>
          <a:p>
            <a:pPr>
              <a:spcBef>
                <a:spcPts val="800"/>
              </a:spcBef>
              <a:defRPr sz="1300">
                <a:solidFill>
                  <a:srgbClr val="0F172A"/>
                </a:solidFill>
              </a:defRPr>
            </a:pPr>
            <a:r>
              <a:rPr lang="ja-JP" dirty="0">
                <a:ea typeface="Meiryo"/>
              </a:rPr>
              <a:t>▸ ステップ4（ローカル Gemma による補助抽出）：</a:t>
            </a:r>
            <a:br/>
            <a:r>
              <a:rPr lang="ja-JP" dirty="0">
                <a:ea typeface="Meiryo"/>
              </a:rPr>
              <a:t>  - 中核の論点を抽出（効果の誇張）</a:t>
            </a:r>
            <a:br/>
            <a:r>
              <a:rPr lang="ja-JP" dirty="0">
                <a:ea typeface="Meiryo"/>
              </a:rPr>
              <a:t>  - 正規の医学に基づく反対観点を提示（viewpoints ≤80字）</a:t>
            </a:r>
          </a:p>
          <a:p>
            <a:pPr>
              <a:spcBef>
                <a:spcPts val="800"/>
              </a:spcBef>
              <a:defRPr sz="1300">
                <a:solidFill>
                  <a:srgbClr val="0F172A"/>
                </a:solidFill>
              </a:defRPr>
            </a:pPr>
            <a:r>
              <a:rPr lang="ja-JP" dirty="0">
                <a:ea typeface="Meiryo"/>
              </a:rPr>
              <a:t>▸ ステップ5（動的融合の計算）：</a:t>
            </a:r>
            <a:br/>
            <a:r>
              <a:rPr lang="ja-JP" dirty="0">
                <a:ea typeface="Meiryo"/>
              </a:rPr>
              <a:t>  - 査核に未収録のため w_fusion = 0.60 を割当</a:t>
            </a:r>
            <a:br/>
            <a:r>
              <a:rPr lang="ja-JP" dirty="0">
                <a:ea typeface="Meiryo"/>
              </a:rPr>
              <a:t>  - 融合スコア：S_fused = 0.40×(12.5) + 0.60×(18.0) = 15.8 点</a:t>
            </a:r>
          </a:p>
          <a:p>
            <a:pPr>
              <a:spcBef>
                <a:spcPts val="800"/>
              </a:spcBef>
              <a:defRPr sz="1300">
                <a:solidFill>
                  <a:srgbClr val="0F172A"/>
                </a:solidFill>
              </a:defRPr>
            </a:pPr>
            <a:r>
              <a:rPr lang="ja-JP" dirty="0">
                <a:ea typeface="Meiryo"/>
              </a:rPr>
              <a:t>▸ 最終裁定：【高度に捏造の疑い】（Score: 15.9 / 100）</a:t>
            </a:r>
            <a:br/>
            <a:r>
              <a:rPr lang="ja-JP" dirty="0">
                <a:ea typeface="Meiryo"/>
              </a:rPr>
              <a:t>  - フロントのバッジが即時に赤色警告を点灯</a:t>
            </a:r>
            <a:br/>
            <a:r>
              <a:rPr lang="ja-JP" dirty="0">
                <a:ea typeface="Meiryo"/>
              </a:rPr>
              <a:t>  - 「未収録」の場合でも多信号メタデータが高精度に防御できることを実証！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256032"/>
            <a:ext cx="2926080" cy="292608"/>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369A1"/>
                </a:solidFill>
                <a:latin typeface="Calibri"/>
              </a:defRPr>
            </a:pPr>
            <a:r>
              <a:rPr lang="ja-JP" dirty="0">
                <a:ea typeface="Meiryo"/>
              </a:rPr>
              <a:t>DISCUSSION &amp; BOUNDARIES</a:t>
            </a:r>
          </a:p>
        </p:txBody>
      </p:sp>
      <p:sp>
        <p:nvSpPr>
          <p:cNvPr id="4" name="TextBox 3"/>
          <p:cNvSpPr txBox="1"/>
          <p:nvPr/>
        </p:nvSpPr>
        <p:spPr>
          <a:xfrm>
            <a:off x="548640" y="566928"/>
            <a:ext cx="11094415" cy="594360"/>
          </a:xfrm>
          <a:prstGeom prst="rect">
            <a:avLst/>
          </a:prstGeom>
          <a:noFill/>
        </p:spPr>
        <p:txBody>
          <a:bodyPr wrap="square" lIns="0" tIns="0" rIns="0" bIns="0">
            <a:spAutoFit/>
          </a:bodyPr>
          <a:lstStyle/>
          <a:p>
            <a:pPr>
              <a:defRPr sz="2400" b="1">
                <a:solidFill>
                  <a:srgbClr val="0F172A"/>
                </a:solidFill>
                <a:latin typeface="Calibri"/>
              </a:defRPr>
            </a:pPr>
            <a:r>
              <a:rPr lang="ja-JP" dirty="0">
                <a:ea typeface="Meiryo"/>
              </a:rPr>
              <a:t>研究の限界と考察：繁体字・簡体字間の意味転移の課題とシードコーパスの境界</a:t>
            </a:r>
          </a:p>
        </p:txBody>
      </p:sp>
      <p:sp>
        <p:nvSpPr>
          <p:cNvPr id="5" name="Rounded Rectangle 4"/>
          <p:cNvSpPr/>
          <p:nvPr/>
        </p:nvSpPr>
        <p:spPr>
          <a:xfrm>
            <a:off x="548640" y="1234440"/>
            <a:ext cx="5376672" cy="5257800"/>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20"/>
            <a:ext cx="4919472" cy="4892040"/>
          </a:xfrm>
          <a:prstGeom prst="rect">
            <a:avLst/>
          </a:prstGeom>
          <a:noFill/>
        </p:spPr>
        <p:txBody>
          <a:bodyPr wrap="square">
            <a:spAutoFit/>
          </a:bodyPr>
          <a:lstStyle/>
          <a:p>
            <a:pPr>
              <a:defRPr sz="1800" b="1">
                <a:solidFill>
                  <a:srgbClr val="BE123C"/>
                </a:solidFill>
              </a:defRPr>
            </a:pPr>
            <a:r>
              <a:rPr lang="ja-JP" dirty="0">
                <a:ea typeface="Meiryo"/>
              </a:rPr>
              <a:t>📉 繁体字・簡体字間の実測ギャップ（Transfer Gap）</a:t>
            </a:r>
          </a:p>
          <a:p>
            <a:pPr>
              <a:spcBef>
                <a:spcPts val="800"/>
              </a:spcBef>
              <a:defRPr sz="1300">
                <a:solidFill>
                  <a:srgbClr val="0F172A"/>
                </a:solidFill>
              </a:defRPr>
            </a:pPr>
            <a:r>
              <a:rPr lang="ja-JP" dirty="0">
                <a:ea typeface="Meiryo"/>
              </a:rPr>
              <a:t>▸ 越境ベンチマーク：台湾 Cofacts で学習した SBERT 索引を、中国の簡体字 WSDM 2019 偽情報データセットで直接評価。</a:t>
            </a:r>
          </a:p>
          <a:p>
            <a:pPr>
              <a:spcBef>
                <a:spcPts val="800"/>
              </a:spcBef>
              <a:defRPr sz="1300">
                <a:solidFill>
                  <a:srgbClr val="0F172A"/>
                </a:solidFill>
              </a:defRPr>
            </a:pPr>
            <a:r>
              <a:rPr lang="ja-JP" dirty="0">
                <a:ea typeface="Meiryo"/>
              </a:rPr>
              <a:t>▸ 実測結果：検索の正解率が 100% から 55.3% へ急落。</a:t>
            </a:r>
          </a:p>
          <a:p>
            <a:pPr>
              <a:spcBef>
                <a:spcPts val="800"/>
              </a:spcBef>
              <a:defRPr sz="1300">
                <a:solidFill>
                  <a:srgbClr val="0F172A"/>
                </a:solidFill>
              </a:defRPr>
            </a:pPr>
            <a:r>
              <a:rPr lang="ja-JP" dirty="0">
                <a:ea typeface="Meiryo"/>
              </a:rPr>
              <a:t>▸ 主要原因の分解：</a:t>
            </a:r>
            <a:br/>
            <a:r>
              <a:rPr lang="ja-JP" dirty="0">
                <a:ea typeface="Meiryo"/>
              </a:rPr>
              <a:t>  1. 語彙と地域名称の差異（例：台湾「健保/食藥署/外送員」対 中国「醫保/市監局/外賣小哥」）</a:t>
            </a:r>
            <a:br/>
            <a:r>
              <a:rPr lang="ja-JP" dirty="0">
                <a:ea typeface="Meiryo"/>
              </a:rPr>
              <a:t>  2. 政治・社会の時事背景が全く異なる</a:t>
            </a:r>
            <a:br/>
            <a:r>
              <a:rPr lang="ja-JP" dirty="0">
                <a:ea typeface="Meiryo"/>
              </a:rPr>
              <a:t>  3. 構文文法と流行スラングに明らかな意味空間のずれ（Domain Shift）</a:t>
            </a:r>
          </a:p>
        </p:txBody>
      </p:sp>
      <p:sp>
        <p:nvSpPr>
          <p:cNvPr id="7" name="Rounded Rectangle 6"/>
          <p:cNvSpPr/>
          <p:nvPr/>
        </p:nvSpPr>
        <p:spPr>
          <a:xfrm>
            <a:off x="6263640" y="1234440"/>
            <a:ext cx="5376672" cy="5257800"/>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20"/>
            <a:ext cx="4919472" cy="4892040"/>
          </a:xfrm>
          <a:prstGeom prst="rect">
            <a:avLst/>
          </a:prstGeom>
          <a:noFill/>
        </p:spPr>
        <p:txBody>
          <a:bodyPr wrap="square">
            <a:spAutoFit/>
          </a:bodyPr>
          <a:lstStyle/>
          <a:p>
            <a:pPr>
              <a:defRPr sz="1800" b="1">
                <a:solidFill>
                  <a:srgbClr val="0369A1"/>
                </a:solidFill>
              </a:defRPr>
            </a:pPr>
            <a:r>
              <a:rPr lang="ja-JP" dirty="0">
                <a:ea typeface="Meiryo"/>
              </a:rPr>
              <a:t>💡 学術的示唆とシステム構築の原則</a:t>
            </a:r>
          </a:p>
          <a:p>
            <a:pPr>
              <a:spcBef>
                <a:spcPts val="800"/>
              </a:spcBef>
              <a:defRPr sz="1300">
                <a:solidFill>
                  <a:srgbClr val="0F172A"/>
                </a:solidFill>
              </a:defRPr>
            </a:pPr>
            <a:r>
              <a:rPr lang="ja-JP" dirty="0">
                <a:ea typeface="Meiryo"/>
              </a:rPr>
              <a:t>▸ 「万能（One-size-fits-all）」の偽情報モデルは存在しない：</a:t>
            </a:r>
            <a:br/>
            <a:r>
              <a:rPr lang="ja-JP" dirty="0">
                <a:ea typeface="Meiryo"/>
              </a:rPr>
              <a:t>  偽情報は本質的に「地域の社会的文脈と文化的語境」に強く依存する。</a:t>
            </a:r>
          </a:p>
          <a:p>
            <a:pPr>
              <a:spcBef>
                <a:spcPts val="800"/>
              </a:spcBef>
              <a:defRPr sz="1300">
                <a:solidFill>
                  <a:srgbClr val="0F172A"/>
                </a:solidFill>
              </a:defRPr>
            </a:pPr>
            <a:r>
              <a:rPr lang="ja-JP" dirty="0">
                <a:ea typeface="Meiryo"/>
              </a:rPr>
              <a:t>▸ 地域特化シードコーパス（Localized Seed Corpus）の必要性：</a:t>
            </a:r>
            <a:br/>
            <a:r>
              <a:rPr lang="ja-JP" dirty="0">
                <a:ea typeface="Meiryo"/>
              </a:rPr>
              <a:t>  ファクトチェックシステムは対象地域の市民査核組織と深く連携し、地域の事実データベースを定期的に同期する必要がある。</a:t>
            </a:r>
          </a:p>
          <a:p>
            <a:pPr>
              <a:spcBef>
                <a:spcPts val="800"/>
              </a:spcBef>
              <a:defRPr sz="1300">
                <a:solidFill>
                  <a:srgbClr val="0F172A"/>
                </a:solidFill>
              </a:defRPr>
            </a:pPr>
            <a:r>
              <a:rPr lang="ja-JP" dirty="0">
                <a:ea typeface="Meiryo"/>
              </a:rPr>
              <a:t>▸ 起動遅延の最適化（Cold-Start Optimization）：</a:t>
            </a:r>
            <a:br/>
            <a:r>
              <a:rPr lang="ja-JP" dirty="0">
                <a:ea typeface="Meiryo"/>
              </a:rPr>
              <a:t>  初期の SBERT 読み込みは 108 秒を要したが、静的メモリマップ（mmap）により常駐起動時間を秒単位へ短縮。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48640"/>
            <a:ext cx="11094415" cy="57607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822960"/>
            <a:ext cx="10180015" cy="320040"/>
          </a:xfrm>
          <a:prstGeom prst="rect">
            <a:avLst/>
          </a:prstGeom>
          <a:noFill/>
        </p:spPr>
        <p:txBody>
          <a:bodyPr wrap="none">
            <a:spAutoFit/>
          </a:bodyPr>
          <a:lstStyle/>
          <a:p>
            <a:pPr>
              <a:defRPr sz="1200" b="1">
                <a:solidFill>
                  <a:srgbClr val="38BDF8"/>
                </a:solidFill>
              </a:defRPr>
            </a:pPr>
            <a:r>
              <a:rPr lang="ja-JP" dirty="0">
                <a:ea typeface="Meiryo"/>
              </a:rPr>
              <a:t>CONCLUSION &amp; FUTURE WORK</a:t>
            </a:r>
          </a:p>
        </p:txBody>
      </p:sp>
      <p:sp>
        <p:nvSpPr>
          <p:cNvPr id="5" name="TextBox 4"/>
          <p:cNvSpPr txBox="1"/>
          <p:nvPr/>
        </p:nvSpPr>
        <p:spPr>
          <a:xfrm>
            <a:off x="1005840" y="1234440"/>
            <a:ext cx="10180015" cy="1371600"/>
          </a:xfrm>
          <a:prstGeom prst="rect">
            <a:avLst/>
          </a:prstGeom>
          <a:noFill/>
        </p:spPr>
        <p:txBody>
          <a:bodyPr wrap="square">
            <a:spAutoFit/>
          </a:bodyPr>
          <a:lstStyle/>
          <a:p>
            <a:pPr>
              <a:defRPr sz="2600" b="1">
                <a:solidFill>
                  <a:srgbClr val="FFFFFF"/>
                </a:solidFill>
              </a:defRPr>
            </a:pPr>
            <a:r>
              <a:rPr lang="ja-JP" dirty="0">
                <a:ea typeface="Meiryo"/>
              </a:rPr>
              <a:t>結論：実証的な大盤調査と多信号融合でファクトチェックの防線を再構築</a:t>
            </a:r>
          </a:p>
          <a:p>
            <a:pPr>
              <a:spcBef>
                <a:spcPts val="600"/>
              </a:spcBef>
              <a:defRPr sz="1400">
                <a:solidFill>
                  <a:srgbClr val="CBD5E1"/>
                </a:solidFill>
              </a:defRPr>
            </a:pPr>
            <a:r>
              <a:rPr lang="ja-JP" dirty="0">
                <a:ea typeface="Meiryo"/>
              </a:rPr>
              <a:t>NewsAnalyzer は「大盤調査＋メタデータ融合」が、SNS の偽情報に対処する上で最も信頼性が高くプライバシーを守るアーキテクチャであることを実証した。2,292 件の実査核サンプルで正解率 95.3%、1.48 ms の超高速応答を達成し、プロンプトのみの LLM 判断が抱えるハルシネーションの限界を打ち破った。</a:t>
            </a:r>
          </a:p>
        </p:txBody>
      </p:sp>
      <p:sp>
        <p:nvSpPr>
          <p:cNvPr id="6" name="Rounded Rectangle 5"/>
          <p:cNvSpPr/>
          <p:nvPr/>
        </p:nvSpPr>
        <p:spPr>
          <a:xfrm>
            <a:off x="1005840" y="2834640"/>
            <a:ext cx="3154680" cy="18288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2971800"/>
            <a:ext cx="2825496" cy="1554480"/>
          </a:xfrm>
          <a:prstGeom prst="rect">
            <a:avLst/>
          </a:prstGeom>
          <a:noFill/>
        </p:spPr>
        <p:txBody>
          <a:bodyPr wrap="square">
            <a:spAutoFit/>
          </a:bodyPr>
          <a:lstStyle/>
          <a:p>
            <a:pPr>
              <a:defRPr sz="1500" b="1">
                <a:solidFill>
                  <a:srgbClr val="38BDF8"/>
                </a:solidFill>
              </a:defRPr>
            </a:pPr>
            <a:r>
              <a:rPr lang="ja-JP" dirty="0">
                <a:ea typeface="Meiryo"/>
              </a:rPr>
              <a:t>🎬 1. マルチモーダルな越境メディア検出</a:t>
            </a:r>
          </a:p>
          <a:p>
            <a:pPr>
              <a:spcBef>
                <a:spcPts val="600"/>
              </a:spcBef>
              <a:defRPr sz="1250">
                <a:solidFill>
                  <a:srgbClr val="94A3B8"/>
                </a:solidFill>
              </a:defRPr>
            </a:pPr>
            <a:r>
              <a:rPr lang="ja-JP" dirty="0">
                <a:ea typeface="Meiryo"/>
              </a:rPr>
              <a:t>加工された「長輩図」、DeepFake 短動画、SNS 情報カードのスクリーンショットへの OCR とマルチモーダル照合へ拡張。</a:t>
            </a:r>
          </a:p>
        </p:txBody>
      </p:sp>
      <p:sp>
        <p:nvSpPr>
          <p:cNvPr id="8" name="Rounded Rectangle 7"/>
          <p:cNvSpPr/>
          <p:nvPr/>
        </p:nvSpPr>
        <p:spPr>
          <a:xfrm>
            <a:off x="4517136" y="2834640"/>
            <a:ext cx="3154680" cy="18288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2971800"/>
            <a:ext cx="2825496" cy="1554480"/>
          </a:xfrm>
          <a:prstGeom prst="rect">
            <a:avLst/>
          </a:prstGeom>
          <a:noFill/>
        </p:spPr>
        <p:txBody>
          <a:bodyPr wrap="square">
            <a:spAutoFit/>
          </a:bodyPr>
          <a:lstStyle/>
          <a:p>
            <a:pPr>
              <a:defRPr sz="1500" b="1">
                <a:solidFill>
                  <a:srgbClr val="38BDF8"/>
                </a:solidFill>
              </a:defRPr>
            </a:pPr>
            <a:r>
              <a:rPr lang="ja-JP" dirty="0">
                <a:ea typeface="Meiryo"/>
              </a:rPr>
              <a:t>🔄 2. 機関横断の連携 API 調査</a:t>
            </a:r>
          </a:p>
          <a:p>
            <a:pPr>
              <a:spcBef>
                <a:spcPts val="600"/>
              </a:spcBef>
              <a:defRPr sz="1250">
                <a:solidFill>
                  <a:srgbClr val="94A3B8"/>
                </a:solidFill>
              </a:defRPr>
            </a:pPr>
            <a:r>
              <a:rPr lang="ja-JP" dirty="0">
                <a:ea typeface="Meiryo"/>
              </a:rPr>
              <a:t>TFC、MyGoPen、Cofacts と連携し自動の増分同期パイプラインを構築、大盤をリアルタイムに更新。</a:t>
            </a:r>
          </a:p>
        </p:txBody>
      </p:sp>
      <p:sp>
        <p:nvSpPr>
          <p:cNvPr id="10" name="Rounded Rectangle 9"/>
          <p:cNvSpPr/>
          <p:nvPr/>
        </p:nvSpPr>
        <p:spPr>
          <a:xfrm>
            <a:off x="8028431" y="2834640"/>
            <a:ext cx="3154680" cy="18288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3" y="2971800"/>
            <a:ext cx="2825496" cy="1554480"/>
          </a:xfrm>
          <a:prstGeom prst="rect">
            <a:avLst/>
          </a:prstGeom>
          <a:noFill/>
        </p:spPr>
        <p:txBody>
          <a:bodyPr wrap="square">
            <a:spAutoFit/>
          </a:bodyPr>
          <a:lstStyle/>
          <a:p>
            <a:pPr>
              <a:defRPr sz="1500" b="1">
                <a:solidFill>
                  <a:srgbClr val="38BDF8"/>
                </a:solidFill>
              </a:defRPr>
            </a:pPr>
            <a:r>
              <a:rPr lang="ja-JP" dirty="0">
                <a:ea typeface="Meiryo"/>
              </a:rPr>
              <a:t>🌐 3. オープンソース化と生態系への適合</a:t>
            </a:r>
          </a:p>
          <a:p>
            <a:pPr>
              <a:spcBef>
                <a:spcPts val="600"/>
              </a:spcBef>
              <a:defRPr sz="1250">
                <a:solidFill>
                  <a:srgbClr val="94A3B8"/>
                </a:solidFill>
              </a:defRPr>
            </a:pPr>
            <a:r>
              <a:rPr lang="ja-JP" dirty="0">
                <a:ea typeface="Meiryo"/>
              </a:rPr>
              <a:t>Firefox / Safari など複数ブラウザに対応し、コミュニティ API を地域のシビックテックへ開放。</a:t>
            </a:r>
          </a:p>
        </p:txBody>
      </p:sp>
      <p:sp>
        <p:nvSpPr>
          <p:cNvPr id="12" name="TextBox 11"/>
          <p:cNvSpPr txBox="1"/>
          <p:nvPr/>
        </p:nvSpPr>
        <p:spPr>
          <a:xfrm>
            <a:off x="1005840" y="4892040"/>
            <a:ext cx="10180015" cy="1097280"/>
          </a:xfrm>
          <a:prstGeom prst="rect">
            <a:avLst/>
          </a:prstGeom>
          <a:noFill/>
        </p:spPr>
        <p:txBody>
          <a:bodyPr wrap="none">
            <a:spAutoFit/>
          </a:bodyPr>
          <a:lstStyle/>
          <a:p>
            <a:pPr>
              <a:defRPr sz="1450" b="1">
                <a:solidFill>
                  <a:srgbClr val="34D399"/>
                </a:solidFill>
              </a:defRPr>
            </a:pPr>
            <a:r>
              <a:rPr lang="ja-JP" dirty="0">
                <a:ea typeface="Meiryo"/>
              </a:rPr>
              <a:t>🔗 オープンソースプロジェクトとテストデータセット：https://github.com/min20120907/NewsAnalyzer</a:t>
            </a:r>
          </a:p>
          <a:p>
            <a:pPr>
              <a:spcBef>
                <a:spcPts val="600"/>
              </a:spcBef>
              <a:defRPr sz="1600" b="1">
                <a:solidFill>
                  <a:srgbClr val="FFFFFF"/>
                </a:solidFill>
              </a:defRPr>
            </a:pPr>
            <a:r>
              <a:rPr lang="ja-JP" dirty="0">
                <a:ea typeface="Meiryo"/>
              </a:rPr>
              <a:t>ご清聴ありがとうございました · ご意見・ご質問をお待ちしております（Q&amp;A）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